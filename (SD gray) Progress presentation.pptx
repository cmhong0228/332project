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8" r:id="rId3"/>
    <p:sldId id="260" r:id="rId4"/>
    <p:sldId id="257" r:id="rId5"/>
    <p:sldId id="261" r:id="rId6"/>
    <p:sldId id="265" r:id="rId7"/>
    <p:sldId id="266" r:id="rId8"/>
    <p:sldId id="267" r:id="rId9"/>
    <p:sldId id="258" r:id="rId10"/>
    <p:sldId id="259" r:id="rId11"/>
    <p:sldId id="262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0" autoAdjust="0"/>
    <p:restoredTop sz="94648"/>
  </p:normalViewPr>
  <p:slideViewPr>
    <p:cSldViewPr snapToGrid="0">
      <p:cViewPr>
        <p:scale>
          <a:sx n="102" d="100"/>
          <a:sy n="102" d="100"/>
        </p:scale>
        <p:origin x="1232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4413BA-6EAF-8972-66A4-25D93DEC6F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E5930B9-DEF6-5ECE-2F0F-7C80BE3ED8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BCFF1C-1C08-B5E3-6A11-D1D184B08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2281-6FFB-4835-8A87-43D74C143836}" type="datetimeFigureOut">
              <a:rPr lang="ko-KR" altLang="en-US" smtClean="0"/>
              <a:t>2025. 11. 17.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E86675-AAB0-4211-7C78-C9F9A186D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006F91-D3CC-27AF-60D3-F9BDBD1CC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3271-5E45-46E2-A9D4-87752C5DA4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5856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BEB43E-46F0-CAAF-336E-AFDB744B4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B59B7B-7251-5FAC-1A15-9579BD487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297109-A320-83A6-28DF-2382597DF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2281-6FFB-4835-8A87-43D74C143836}" type="datetimeFigureOut">
              <a:rPr lang="ko-KR" altLang="en-US" smtClean="0"/>
              <a:t>2025. 11. 17.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3C715E-BEA9-A416-6CC1-08A8D1C46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6EFFC4-8A8C-DB23-F84E-0AAFE83B0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3271-5E45-46E2-A9D4-87752C5DA4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414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E967DF-11D1-D432-447F-4DF8887C0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AD4234-E1FB-09AF-F948-007DF1A40E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C96738-C348-38B7-FAC7-9FE6CF671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2281-6FFB-4835-8A87-43D74C143836}" type="datetimeFigureOut">
              <a:rPr lang="ko-KR" altLang="en-US" smtClean="0"/>
              <a:t>2025. 11. 17.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72DF42-FD6B-F416-0036-C6CFEDB02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8E0791-2590-A814-C3FC-27106025C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3271-5E45-46E2-A9D4-87752C5DA4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4673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F97111-6736-45DB-66BD-8D8C84041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FFD1D0-181B-EDB7-15EF-C0A0CA911A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F8BDE8D-DD82-367F-D5DE-070F624A21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BEBF19D-3D25-80AD-A101-A6A219B2B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2281-6FFB-4835-8A87-43D74C143836}" type="datetimeFigureOut">
              <a:rPr lang="ko-KR" altLang="en-US" smtClean="0"/>
              <a:t>2025. 11. 17.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80625EB-03F2-C352-2F0E-1D79D8F3B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2E0577-5C58-AAE6-D60F-4380AEE3C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3271-5E45-46E2-A9D4-87752C5DA4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8144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8D15EB-8034-7119-3C96-238D1BDF1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D0118A9-4DF3-8F85-ADC2-9980F3740F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889FF1A-AE39-9EDF-F0F5-AFEB40BA63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99DB277-5AF5-B8D3-EE95-BB07741AA5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57BF50B-318B-15FC-7D66-F61DAA500B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4A72E8F-1D5A-7BF7-2513-F70FCD951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2281-6FFB-4835-8A87-43D74C143836}" type="datetimeFigureOut">
              <a:rPr lang="ko-KR" altLang="en-US" smtClean="0"/>
              <a:t>2025. 11. 17.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DE0CE44-AB23-B38B-08C4-48482A9FE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1926BA5-2B51-8B93-2C23-A16AD1351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3271-5E45-46E2-A9D4-87752C5DA4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0693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F20FDA-68BF-7273-F105-27992AB3E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BCA526C-32D6-2287-543A-F69D11F9E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2281-6FFB-4835-8A87-43D74C143836}" type="datetimeFigureOut">
              <a:rPr lang="ko-KR" altLang="en-US" smtClean="0"/>
              <a:t>2025. 11. 17.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F682005-6C4C-896D-1DA7-D43F37E9B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563E2AB-19DF-496C-AD05-3DD64F312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3271-5E45-46E2-A9D4-87752C5DA4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7291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8920A0E-0E95-0F51-160E-B7591F3B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2281-6FFB-4835-8A87-43D74C143836}" type="datetimeFigureOut">
              <a:rPr lang="ko-KR" altLang="en-US" smtClean="0"/>
              <a:t>2025. 11. 17.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D75D321-2F92-8D85-B6E6-E08975FC7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06DFD1-555A-F27F-6A26-243C1115B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3271-5E45-46E2-A9D4-87752C5DA4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0610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6812E4-5F2A-BC91-7992-D24AD44FA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39F5A0-E419-0D90-7FE6-410B53415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467F131-3F4A-302F-BDFD-E856EBA468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17E1F0-CC3A-BF27-A9AE-52DF232BF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2281-6FFB-4835-8A87-43D74C143836}" type="datetimeFigureOut">
              <a:rPr lang="ko-KR" altLang="en-US" smtClean="0"/>
              <a:t>2025. 11. 17.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B214A89-AD0E-62A4-EDF1-0C719364C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39FD044-6DAA-8AE6-995D-28D8FE584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3271-5E45-46E2-A9D4-87752C5DA4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6594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E2D8D6-7062-FA09-14CE-E04AB11BB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C5DDD07-30DC-F9D8-A17F-10FCA413C4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E216280-A11F-1EB8-7C1D-BDCACFD263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CD0E3F-8BA7-5578-84DD-ADBD683CB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2281-6FFB-4835-8A87-43D74C143836}" type="datetimeFigureOut">
              <a:rPr lang="ko-KR" altLang="en-US" smtClean="0"/>
              <a:t>2025. 11. 17.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0F9CB13-5C99-7392-6731-AC58C1D9F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1854FAE-C977-6161-DD1D-5F1383794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3271-5E45-46E2-A9D4-87752C5DA4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2630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BEAB7B-AA07-ECA4-16E4-94EED39F7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F58742F-F302-CA24-7C75-44DC69A5B9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312628-F167-DC43-AECE-C9D5F143D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2281-6FFB-4835-8A87-43D74C143836}" type="datetimeFigureOut">
              <a:rPr lang="ko-KR" altLang="en-US" smtClean="0"/>
              <a:t>2025. 11. 17.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37D9E2-9EC4-F170-D14A-097FD4CA9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2F92BE-C424-527B-2BFD-11CA845B2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3271-5E45-46E2-A9D4-87752C5DA4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1793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5CAC1A2-B568-3488-4A99-09B43832A6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DB3CA73-3719-4057-7016-2B6DD06F78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7C2733-A82E-43BA-DFFB-E9CF074A4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2281-6FFB-4835-8A87-43D74C143836}" type="datetimeFigureOut">
              <a:rPr lang="ko-KR" altLang="en-US" smtClean="0"/>
              <a:t>2025. 11. 17.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E8FF91-DC85-3D61-0A85-8852166A4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062CBF-7217-68F4-8DD2-0DEA365EE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3271-5E45-46E2-A9D4-87752C5DA4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6759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55F4B7A-591F-219C-D76B-90AE88735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204A14-EA03-15B3-8B97-E171E3BE1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3E8E0F-F4BE-548D-D647-355D344273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312281-6FFB-4835-8A87-43D74C143836}" type="datetimeFigureOut">
              <a:rPr lang="ko-KR" altLang="en-US" smtClean="0"/>
              <a:t>2025. 11. 17.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78ED8E-EEC8-B3F7-D89C-6BE6C07FA5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64E0B8-9F7D-40BF-E718-1FAE22A024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A93271-5E45-46E2-A9D4-87752C5DA4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2316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A95445-BEA2-834B-8145-8783086BB9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ko-KR" dirty="0"/>
              <a:t>Progress presentation</a:t>
            </a:r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3333625-557B-0747-AEC2-0B76C05EC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altLang="ko-KR" dirty="0"/>
              <a:t>SD Team gray</a:t>
            </a:r>
          </a:p>
          <a:p>
            <a:r>
              <a:rPr kumimoji="1" lang="en-US" altLang="ko-KR" dirty="0"/>
              <a:t>Hong </a:t>
            </a:r>
            <a:r>
              <a:rPr kumimoji="1" lang="en-US" altLang="ko-KR" dirty="0" err="1"/>
              <a:t>chaemin</a:t>
            </a:r>
            <a:endParaRPr kumimoji="1" lang="en-US" altLang="ko-KR" dirty="0"/>
          </a:p>
          <a:p>
            <a:r>
              <a:rPr kumimoji="1" lang="en-US" altLang="ko-KR" dirty="0"/>
              <a:t>Park </a:t>
            </a:r>
            <a:r>
              <a:rPr kumimoji="1" lang="en-US" altLang="ko-KR" dirty="0" err="1"/>
              <a:t>seojin</a:t>
            </a:r>
            <a:endParaRPr kumimoji="1" lang="en-US" altLang="ko-KR" dirty="0"/>
          </a:p>
          <a:p>
            <a:r>
              <a:rPr kumimoji="1" lang="en-US" altLang="ko-KR" dirty="0"/>
              <a:t>Cho </a:t>
            </a:r>
            <a:r>
              <a:rPr kumimoji="1" lang="en-US" altLang="ko-KR" dirty="0" err="1"/>
              <a:t>moohyun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80636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7EF4E3-4C60-6145-B17B-3D9E5680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Outline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832CE9-94A0-CF43-BE88-FD0C0F356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dirty="0"/>
              <a:t>Project Directory Structure</a:t>
            </a:r>
          </a:p>
          <a:p>
            <a:r>
              <a:rPr kumimoji="1" lang="en-US" altLang="ko-KR" dirty="0"/>
              <a:t>Sampling</a:t>
            </a:r>
          </a:p>
          <a:p>
            <a:r>
              <a:rPr kumimoji="1" lang="en-US" altLang="ko-KR" dirty="0"/>
              <a:t>Sort/Partition</a:t>
            </a:r>
          </a:p>
          <a:p>
            <a:r>
              <a:rPr kumimoji="1" lang="en-US" altLang="ko-KR" dirty="0"/>
              <a:t>Shuffle</a:t>
            </a:r>
          </a:p>
          <a:p>
            <a:r>
              <a:rPr kumimoji="1" lang="en-US" altLang="ko-KR" dirty="0"/>
              <a:t>Merge</a:t>
            </a:r>
          </a:p>
          <a:p>
            <a:r>
              <a:rPr kumimoji="1" lang="en-US" altLang="ko-KR" dirty="0"/>
              <a:t>File I/O</a:t>
            </a:r>
          </a:p>
          <a:p>
            <a:r>
              <a:rPr kumimoji="1" lang="en-US" altLang="ko-KR" dirty="0"/>
              <a:t>Milestone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19695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E892A8-E23A-1F94-1AAA-E871871D6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Directory Structure</a:t>
            </a:r>
            <a:endParaRPr lang="ko-KR" altLang="en-US" dirty="0"/>
          </a:p>
        </p:txBody>
      </p: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E8C62698-804C-9B61-68F3-6595DB2FF44D}"/>
              </a:ext>
            </a:extLst>
          </p:cNvPr>
          <p:cNvGrpSpPr/>
          <p:nvPr/>
        </p:nvGrpSpPr>
        <p:grpSpPr>
          <a:xfrm>
            <a:off x="1768624" y="1555711"/>
            <a:ext cx="3826056" cy="4873008"/>
            <a:chOff x="1228206" y="1570655"/>
            <a:chExt cx="3826056" cy="487300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BCF247B-B2BA-9BD6-DC17-366F826B6A22}"/>
                </a:ext>
              </a:extLst>
            </p:cNvPr>
            <p:cNvSpPr txBox="1"/>
            <p:nvPr/>
          </p:nvSpPr>
          <p:spPr>
            <a:xfrm>
              <a:off x="1228206" y="1570655"/>
              <a:ext cx="111344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332Project/</a:t>
              </a:r>
              <a:endParaRPr lang="ko-KR" altLang="en-US" sz="1400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A81AA90-BAE0-1EB6-5DE2-D82F1C9F88BA}"/>
                </a:ext>
              </a:extLst>
            </p:cNvPr>
            <p:cNvSpPr txBox="1"/>
            <p:nvPr/>
          </p:nvSpPr>
          <p:spPr>
            <a:xfrm>
              <a:off x="1708543" y="1867738"/>
              <a:ext cx="88197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err="1"/>
                <a:t>build.sbt</a:t>
              </a:r>
              <a:endParaRPr lang="ko-KR" altLang="en-US" sz="140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7C9FFBE-5A10-8C10-1EA2-E3AF828E7276}"/>
                </a:ext>
              </a:extLst>
            </p:cNvPr>
            <p:cNvSpPr txBox="1"/>
            <p:nvPr/>
          </p:nvSpPr>
          <p:spPr>
            <a:xfrm>
              <a:off x="1708543" y="2164821"/>
              <a:ext cx="73622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master</a:t>
              </a:r>
              <a:endParaRPr lang="ko-KR" altLang="en-US" sz="14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4A9FB40-3723-906E-4E12-4C15362E7DCD}"/>
                </a:ext>
              </a:extLst>
            </p:cNvPr>
            <p:cNvSpPr txBox="1"/>
            <p:nvPr/>
          </p:nvSpPr>
          <p:spPr>
            <a:xfrm>
              <a:off x="1708543" y="2461904"/>
              <a:ext cx="7349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worker</a:t>
              </a:r>
              <a:endParaRPr lang="ko-KR" altLang="en-US" sz="140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3F26F9A-D513-4E29-0618-2B1E19BDE94F}"/>
                </a:ext>
              </a:extLst>
            </p:cNvPr>
            <p:cNvSpPr txBox="1"/>
            <p:nvPr/>
          </p:nvSpPr>
          <p:spPr>
            <a:xfrm>
              <a:off x="1708543" y="2758987"/>
              <a:ext cx="7761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scripts/</a:t>
              </a:r>
              <a:endParaRPr lang="ko-KR" altLang="en-US" sz="14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F08D453-0943-B2F4-909D-4C7302AC17FD}"/>
                </a:ext>
              </a:extLst>
            </p:cNvPr>
            <p:cNvSpPr txBox="1"/>
            <p:nvPr/>
          </p:nvSpPr>
          <p:spPr>
            <a:xfrm>
              <a:off x="2064442" y="3056070"/>
              <a:ext cx="15553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generate-data.sh</a:t>
              </a:r>
              <a:endParaRPr lang="ko-KR" altLang="en-US" sz="140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3DDC455-2558-F7A9-D364-DE9F9B3E9BB0}"/>
                </a:ext>
              </a:extLst>
            </p:cNvPr>
            <p:cNvSpPr txBox="1"/>
            <p:nvPr/>
          </p:nvSpPr>
          <p:spPr>
            <a:xfrm>
              <a:off x="2064442" y="3353153"/>
              <a:ext cx="175849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validata-solution.sh</a:t>
              </a:r>
              <a:endParaRPr lang="ko-KR" altLang="en-US" sz="14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C140A3B-60E0-5D64-A43E-1F8629EE0129}"/>
                </a:ext>
              </a:extLst>
            </p:cNvPr>
            <p:cNvSpPr txBox="1"/>
            <p:nvPr/>
          </p:nvSpPr>
          <p:spPr>
            <a:xfrm>
              <a:off x="1708543" y="3650236"/>
              <a:ext cx="82009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project/</a:t>
              </a:r>
              <a:endParaRPr lang="ko-KR" altLang="en-US" sz="14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69E7A5B-DEFA-CBCE-9E9A-F7B282DAB133}"/>
                </a:ext>
              </a:extLst>
            </p:cNvPr>
            <p:cNvSpPr txBox="1"/>
            <p:nvPr/>
          </p:nvSpPr>
          <p:spPr>
            <a:xfrm>
              <a:off x="2064442" y="4212410"/>
              <a:ext cx="55348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test/</a:t>
              </a:r>
              <a:endParaRPr lang="ko-KR" altLang="en-US" sz="14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0ABA716-3FA3-433F-C4C0-B09CD84604FD}"/>
                </a:ext>
              </a:extLst>
            </p:cNvPr>
            <p:cNvSpPr txBox="1"/>
            <p:nvPr/>
          </p:nvSpPr>
          <p:spPr>
            <a:xfrm>
              <a:off x="1708543" y="3915327"/>
              <a:ext cx="48026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err="1"/>
                <a:t>src</a:t>
              </a:r>
              <a:r>
                <a:rPr lang="en-US" altLang="ko-KR" sz="1400" dirty="0"/>
                <a:t>/</a:t>
              </a:r>
              <a:endParaRPr lang="ko-KR" altLang="en-US" sz="140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FBF5E00-E11A-9E8E-21AF-53B73B0BF573}"/>
                </a:ext>
              </a:extLst>
            </p:cNvPr>
            <p:cNvSpPr txBox="1"/>
            <p:nvPr/>
          </p:nvSpPr>
          <p:spPr>
            <a:xfrm>
              <a:off x="2031351" y="4509493"/>
              <a:ext cx="65594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main/</a:t>
              </a:r>
              <a:endParaRPr lang="ko-KR" altLang="en-US" sz="14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34C54C6-75E7-F4BE-B190-3856AD9A6942}"/>
                </a:ext>
              </a:extLst>
            </p:cNvPr>
            <p:cNvSpPr txBox="1"/>
            <p:nvPr/>
          </p:nvSpPr>
          <p:spPr>
            <a:xfrm>
              <a:off x="2399946" y="5400742"/>
              <a:ext cx="102431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resources/</a:t>
              </a:r>
              <a:endParaRPr lang="ko-KR" altLang="en-US" sz="14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D54BAA1-648D-D87C-F23E-F575ADA67B26}"/>
                </a:ext>
              </a:extLst>
            </p:cNvPr>
            <p:cNvSpPr txBox="1"/>
            <p:nvPr/>
          </p:nvSpPr>
          <p:spPr>
            <a:xfrm>
              <a:off x="2399946" y="4806576"/>
              <a:ext cx="70000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proto/</a:t>
              </a:r>
              <a:endParaRPr lang="ko-KR" altLang="en-US" sz="1400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04941E4-546B-3A7B-9D07-1556CCDC1D89}"/>
                </a:ext>
              </a:extLst>
            </p:cNvPr>
            <p:cNvSpPr txBox="1"/>
            <p:nvPr/>
          </p:nvSpPr>
          <p:spPr>
            <a:xfrm>
              <a:off x="2910598" y="5697830"/>
              <a:ext cx="14718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err="1"/>
                <a:t>application.conf</a:t>
              </a:r>
              <a:endParaRPr lang="ko-KR" altLang="en-US" sz="1400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E69A92F-FDA1-686A-5593-2A57C2D60E55}"/>
                </a:ext>
              </a:extLst>
            </p:cNvPr>
            <p:cNvSpPr txBox="1"/>
            <p:nvPr/>
          </p:nvSpPr>
          <p:spPr>
            <a:xfrm>
              <a:off x="2910598" y="5103659"/>
              <a:ext cx="21436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err="1"/>
                <a:t>Distributedsorting.proto</a:t>
              </a:r>
              <a:endParaRPr lang="ko-KR" altLang="en-US" sz="1400" dirty="0"/>
            </a:p>
          </p:txBody>
        </p:sp>
        <p:grpSp>
          <p:nvGrpSpPr>
            <p:cNvPr id="157" name="그룹 156">
              <a:extLst>
                <a:ext uri="{FF2B5EF4-FFF2-40B4-BE49-F238E27FC236}">
                  <a16:creationId xmlns:a16="http://schemas.microsoft.com/office/drawing/2014/main" id="{C7323C7B-17DF-E358-FAC4-D5A9E4C6074E}"/>
                </a:ext>
              </a:extLst>
            </p:cNvPr>
            <p:cNvGrpSpPr/>
            <p:nvPr/>
          </p:nvGrpSpPr>
          <p:grpSpPr>
            <a:xfrm>
              <a:off x="1489713" y="1836479"/>
              <a:ext cx="1420885" cy="4607184"/>
              <a:chOff x="1489713" y="1836479"/>
              <a:chExt cx="1420885" cy="4607184"/>
            </a:xfrm>
          </p:grpSpPr>
          <p:cxnSp>
            <p:nvCxnSpPr>
              <p:cNvPr id="35" name="직선 연결선 34">
                <a:extLst>
                  <a:ext uri="{FF2B5EF4-FFF2-40B4-BE49-F238E27FC236}">
                    <a16:creationId xmlns:a16="http://schemas.microsoft.com/office/drawing/2014/main" id="{7C8D13B3-CE2D-700E-4464-CB9F56775F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89713" y="1836479"/>
                <a:ext cx="0" cy="2229627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직선 연결선 39">
                <a:extLst>
                  <a:ext uri="{FF2B5EF4-FFF2-40B4-BE49-F238E27FC236}">
                    <a16:creationId xmlns:a16="http://schemas.microsoft.com/office/drawing/2014/main" id="{11A4A727-1E66-D59D-F762-08F60AAB96FE}"/>
                  </a:ext>
                </a:extLst>
              </p:cNvPr>
              <p:cNvCxnSpPr>
                <a:cxnSpLocks/>
                <a:stCxn id="13" idx="1"/>
              </p:cNvCxnSpPr>
              <p:nvPr/>
            </p:nvCxnSpPr>
            <p:spPr>
              <a:xfrm flipH="1">
                <a:off x="1489713" y="4069216"/>
                <a:ext cx="21883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직선 연결선 43">
                <a:extLst>
                  <a:ext uri="{FF2B5EF4-FFF2-40B4-BE49-F238E27FC236}">
                    <a16:creationId xmlns:a16="http://schemas.microsoft.com/office/drawing/2014/main" id="{A7A130E0-6D23-AC7A-29E1-5C5CB6BE27F4}"/>
                  </a:ext>
                </a:extLst>
              </p:cNvPr>
              <p:cNvCxnSpPr>
                <a:cxnSpLocks/>
                <a:stCxn id="5" idx="1"/>
              </p:cNvCxnSpPr>
              <p:nvPr/>
            </p:nvCxnSpPr>
            <p:spPr>
              <a:xfrm flipH="1">
                <a:off x="1489713" y="2021627"/>
                <a:ext cx="21883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직선 연결선 46">
                <a:extLst>
                  <a:ext uri="{FF2B5EF4-FFF2-40B4-BE49-F238E27FC236}">
                    <a16:creationId xmlns:a16="http://schemas.microsoft.com/office/drawing/2014/main" id="{2970482E-FED0-F1DE-E804-41F31279BBD6}"/>
                  </a:ext>
                </a:extLst>
              </p:cNvPr>
              <p:cNvCxnSpPr>
                <a:cxnSpLocks/>
                <a:stCxn id="6" idx="1"/>
              </p:cNvCxnSpPr>
              <p:nvPr/>
            </p:nvCxnSpPr>
            <p:spPr>
              <a:xfrm flipH="1">
                <a:off x="1489713" y="2318710"/>
                <a:ext cx="21883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0" name="직선 연결선 49">
                <a:extLst>
                  <a:ext uri="{FF2B5EF4-FFF2-40B4-BE49-F238E27FC236}">
                    <a16:creationId xmlns:a16="http://schemas.microsoft.com/office/drawing/2014/main" id="{0307D2F2-AA4E-C72F-B3AE-D3840946B2C7}"/>
                  </a:ext>
                </a:extLst>
              </p:cNvPr>
              <p:cNvCxnSpPr>
                <a:stCxn id="7" idx="1"/>
              </p:cNvCxnSpPr>
              <p:nvPr/>
            </p:nvCxnSpPr>
            <p:spPr>
              <a:xfrm flipH="1" flipV="1">
                <a:off x="1489713" y="2615648"/>
                <a:ext cx="218830" cy="145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2" name="직선 연결선 51">
                <a:extLst>
                  <a:ext uri="{FF2B5EF4-FFF2-40B4-BE49-F238E27FC236}">
                    <a16:creationId xmlns:a16="http://schemas.microsoft.com/office/drawing/2014/main" id="{21893FF0-4AC1-E479-4B18-EE23C68D0BC4}"/>
                  </a:ext>
                </a:extLst>
              </p:cNvPr>
              <p:cNvCxnSpPr>
                <a:cxnSpLocks/>
                <a:stCxn id="8" idx="1"/>
              </p:cNvCxnSpPr>
              <p:nvPr/>
            </p:nvCxnSpPr>
            <p:spPr>
              <a:xfrm flipH="1">
                <a:off x="1489713" y="2912876"/>
                <a:ext cx="21883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" name="직선 연결선 54">
                <a:extLst>
                  <a:ext uri="{FF2B5EF4-FFF2-40B4-BE49-F238E27FC236}">
                    <a16:creationId xmlns:a16="http://schemas.microsoft.com/office/drawing/2014/main" id="{DFFFC33C-7513-C94C-FCE0-4DB6A0CFD9EF}"/>
                  </a:ext>
                </a:extLst>
              </p:cNvPr>
              <p:cNvCxnSpPr>
                <a:cxnSpLocks/>
                <a:stCxn id="10" idx="1"/>
              </p:cNvCxnSpPr>
              <p:nvPr/>
            </p:nvCxnSpPr>
            <p:spPr>
              <a:xfrm flipH="1">
                <a:off x="1895475" y="3507042"/>
                <a:ext cx="168967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" name="직선 연결선 57">
                <a:extLst>
                  <a:ext uri="{FF2B5EF4-FFF2-40B4-BE49-F238E27FC236}">
                    <a16:creationId xmlns:a16="http://schemas.microsoft.com/office/drawing/2014/main" id="{CCEB3A3F-992A-46D3-53FA-C8E443B7832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95475" y="3002756"/>
                <a:ext cx="0" cy="504285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" name="직선 연결선 59">
                <a:extLst>
                  <a:ext uri="{FF2B5EF4-FFF2-40B4-BE49-F238E27FC236}">
                    <a16:creationId xmlns:a16="http://schemas.microsoft.com/office/drawing/2014/main" id="{36F13312-A7F6-B3E9-B39B-9F3B98679A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95475" y="3177965"/>
                <a:ext cx="135871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직선 연결선 64">
                <a:extLst>
                  <a:ext uri="{FF2B5EF4-FFF2-40B4-BE49-F238E27FC236}">
                    <a16:creationId xmlns:a16="http://schemas.microsoft.com/office/drawing/2014/main" id="{06A09C60-CDFF-6CB6-F73A-16486D9C50AB}"/>
                  </a:ext>
                </a:extLst>
              </p:cNvPr>
              <p:cNvCxnSpPr>
                <a:cxnSpLocks/>
                <a:stCxn id="11" idx="1"/>
              </p:cNvCxnSpPr>
              <p:nvPr/>
            </p:nvCxnSpPr>
            <p:spPr>
              <a:xfrm flipH="1">
                <a:off x="1489713" y="3804125"/>
                <a:ext cx="21883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직선 연결선 67">
                <a:extLst>
                  <a:ext uri="{FF2B5EF4-FFF2-40B4-BE49-F238E27FC236}">
                    <a16:creationId xmlns:a16="http://schemas.microsoft.com/office/drawing/2014/main" id="{59AAF9C2-AE14-1E21-21B5-7A15A8E3888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864519" y="4668145"/>
                <a:ext cx="197788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직선 연결선 70">
                <a:extLst>
                  <a:ext uri="{FF2B5EF4-FFF2-40B4-BE49-F238E27FC236}">
                    <a16:creationId xmlns:a16="http://schemas.microsoft.com/office/drawing/2014/main" id="{AFA3D90F-9819-5A50-EF15-97C09C7859CC}"/>
                  </a:ext>
                </a:extLst>
              </p:cNvPr>
              <p:cNvCxnSpPr/>
              <p:nvPr/>
            </p:nvCxnSpPr>
            <p:spPr>
              <a:xfrm flipV="1">
                <a:off x="1864519" y="4181475"/>
                <a:ext cx="0" cy="481013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3" name="직선 연결선 72">
                <a:extLst>
                  <a:ext uri="{FF2B5EF4-FFF2-40B4-BE49-F238E27FC236}">
                    <a16:creationId xmlns:a16="http://schemas.microsoft.com/office/drawing/2014/main" id="{D948719A-33F3-606A-552C-320C4CF8F5E7}"/>
                  </a:ext>
                </a:extLst>
              </p:cNvPr>
              <p:cNvCxnSpPr>
                <a:cxnSpLocks/>
                <a:stCxn id="12" idx="1"/>
              </p:cNvCxnSpPr>
              <p:nvPr/>
            </p:nvCxnSpPr>
            <p:spPr>
              <a:xfrm flipH="1">
                <a:off x="1864519" y="4366299"/>
                <a:ext cx="199923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직선 연결선 75">
                <a:extLst>
                  <a:ext uri="{FF2B5EF4-FFF2-40B4-BE49-F238E27FC236}">
                    <a16:creationId xmlns:a16="http://schemas.microsoft.com/office/drawing/2014/main" id="{3BB516F2-3B78-DB40-C21B-BB8B589823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52663" y="4774406"/>
                <a:ext cx="0" cy="1669257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직선 연결선 78">
                <a:extLst>
                  <a:ext uri="{FF2B5EF4-FFF2-40B4-BE49-F238E27FC236}">
                    <a16:creationId xmlns:a16="http://schemas.microsoft.com/office/drawing/2014/main" id="{E57EA635-AA86-398A-F04E-EAD45DCEB4C5}"/>
                  </a:ext>
                </a:extLst>
              </p:cNvPr>
              <p:cNvCxnSpPr>
                <a:cxnSpLocks/>
                <a:stCxn id="17" idx="1"/>
              </p:cNvCxnSpPr>
              <p:nvPr/>
            </p:nvCxnSpPr>
            <p:spPr>
              <a:xfrm flipH="1">
                <a:off x="2252663" y="4960465"/>
                <a:ext cx="147283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직선 연결선 84">
                <a:extLst>
                  <a:ext uri="{FF2B5EF4-FFF2-40B4-BE49-F238E27FC236}">
                    <a16:creationId xmlns:a16="http://schemas.microsoft.com/office/drawing/2014/main" id="{F7D901C2-585C-DB01-85B0-27EC3FEC4B9D}"/>
                  </a:ext>
                </a:extLst>
              </p:cNvPr>
              <p:cNvCxnSpPr>
                <a:cxnSpLocks/>
                <a:stCxn id="16" idx="1"/>
              </p:cNvCxnSpPr>
              <p:nvPr/>
            </p:nvCxnSpPr>
            <p:spPr>
              <a:xfrm flipH="1">
                <a:off x="2252663" y="5554631"/>
                <a:ext cx="147283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직선 연결선 87">
                <a:extLst>
                  <a:ext uri="{FF2B5EF4-FFF2-40B4-BE49-F238E27FC236}">
                    <a16:creationId xmlns:a16="http://schemas.microsoft.com/office/drawing/2014/main" id="{33091937-5729-880F-C8BC-CAA2FDFED1B2}"/>
                  </a:ext>
                </a:extLst>
              </p:cNvPr>
              <p:cNvCxnSpPr>
                <a:cxnSpLocks/>
                <a:stCxn id="34" idx="1"/>
              </p:cNvCxnSpPr>
              <p:nvPr/>
            </p:nvCxnSpPr>
            <p:spPr>
              <a:xfrm flipH="1">
                <a:off x="2667000" y="5257548"/>
                <a:ext cx="243598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직선 연결선 90">
                <a:extLst>
                  <a:ext uri="{FF2B5EF4-FFF2-40B4-BE49-F238E27FC236}">
                    <a16:creationId xmlns:a16="http://schemas.microsoft.com/office/drawing/2014/main" id="{01D07F67-F3BB-F876-6C39-DAA6F4DC8CB8}"/>
                  </a:ext>
                </a:extLst>
              </p:cNvPr>
              <p:cNvCxnSpPr/>
              <p:nvPr/>
            </p:nvCxnSpPr>
            <p:spPr>
              <a:xfrm flipV="1">
                <a:off x="2667000" y="5083969"/>
                <a:ext cx="0" cy="173831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3" name="직선 연결선 92">
                <a:extLst>
                  <a:ext uri="{FF2B5EF4-FFF2-40B4-BE49-F238E27FC236}">
                    <a16:creationId xmlns:a16="http://schemas.microsoft.com/office/drawing/2014/main" id="{8E0F5DB4-756B-BBC3-C175-38F373EC1FDB}"/>
                  </a:ext>
                </a:extLst>
              </p:cNvPr>
              <p:cNvCxnSpPr>
                <a:cxnSpLocks/>
                <a:stCxn id="33" idx="1"/>
              </p:cNvCxnSpPr>
              <p:nvPr/>
            </p:nvCxnSpPr>
            <p:spPr>
              <a:xfrm flipH="1">
                <a:off x="2667000" y="5851719"/>
                <a:ext cx="243598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직선 연결선 95">
                <a:extLst>
                  <a:ext uri="{FF2B5EF4-FFF2-40B4-BE49-F238E27FC236}">
                    <a16:creationId xmlns:a16="http://schemas.microsoft.com/office/drawing/2014/main" id="{790C96EC-47AD-90CC-AE90-1C9FF9E3EAAD}"/>
                  </a:ext>
                </a:extLst>
              </p:cNvPr>
              <p:cNvCxnSpPr/>
              <p:nvPr/>
            </p:nvCxnSpPr>
            <p:spPr>
              <a:xfrm flipV="1">
                <a:off x="2667000" y="5660231"/>
                <a:ext cx="0" cy="19050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60" name="그룹 159">
            <a:extLst>
              <a:ext uri="{FF2B5EF4-FFF2-40B4-BE49-F238E27FC236}">
                <a16:creationId xmlns:a16="http://schemas.microsoft.com/office/drawing/2014/main" id="{2115D005-1F6F-E7FE-7C19-CC6C2EE2F71F}"/>
              </a:ext>
            </a:extLst>
          </p:cNvPr>
          <p:cNvGrpSpPr/>
          <p:nvPr/>
        </p:nvGrpSpPr>
        <p:grpSpPr>
          <a:xfrm>
            <a:off x="7082228" y="1690688"/>
            <a:ext cx="3243706" cy="4848006"/>
            <a:chOff x="5848350" y="1511300"/>
            <a:chExt cx="3243706" cy="4848006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FBF4110-9FDB-8DA4-86CA-921C388E7E2E}"/>
                </a:ext>
              </a:extLst>
            </p:cNvPr>
            <p:cNvSpPr txBox="1"/>
            <p:nvPr/>
          </p:nvSpPr>
          <p:spPr>
            <a:xfrm>
              <a:off x="5996195" y="1565421"/>
              <a:ext cx="21733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scala/</a:t>
              </a:r>
              <a:r>
                <a:rPr lang="en-US" altLang="ko-KR" sz="1400" dirty="0" err="1"/>
                <a:t>distributedsorting</a:t>
              </a:r>
              <a:r>
                <a:rPr lang="en-US" altLang="ko-KR" sz="1400" dirty="0"/>
                <a:t>/</a:t>
              </a:r>
              <a:endParaRPr lang="ko-KR" altLang="en-US" sz="14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9F68762-4BD7-5525-1119-62566047944F}"/>
                </a:ext>
              </a:extLst>
            </p:cNvPr>
            <p:cNvSpPr txBox="1"/>
            <p:nvPr/>
          </p:nvSpPr>
          <p:spPr>
            <a:xfrm>
              <a:off x="6480295" y="2163569"/>
              <a:ext cx="8067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master/</a:t>
              </a:r>
              <a:endParaRPr lang="ko-KR" altLang="en-US" sz="14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0B031CF-F66D-D3B3-AFAA-2E3F831C633E}"/>
                </a:ext>
              </a:extLst>
            </p:cNvPr>
            <p:cNvSpPr txBox="1"/>
            <p:nvPr/>
          </p:nvSpPr>
          <p:spPr>
            <a:xfrm>
              <a:off x="6480295" y="3060791"/>
              <a:ext cx="80547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worker/</a:t>
              </a:r>
              <a:endParaRPr lang="ko-KR" altLang="en-US" sz="1400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FEE00DA-289B-6A2E-206B-F353A41FC1A5}"/>
                </a:ext>
              </a:extLst>
            </p:cNvPr>
            <p:cNvSpPr txBox="1"/>
            <p:nvPr/>
          </p:nvSpPr>
          <p:spPr>
            <a:xfrm>
              <a:off x="6480295" y="4556161"/>
              <a:ext cx="64472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logic/</a:t>
              </a:r>
              <a:endParaRPr lang="ko-KR" altLang="en-US" sz="140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52633AC-FA82-7752-4EEA-9F3EE6E26EBB}"/>
                </a:ext>
              </a:extLst>
            </p:cNvPr>
            <p:cNvSpPr txBox="1"/>
            <p:nvPr/>
          </p:nvSpPr>
          <p:spPr>
            <a:xfrm>
              <a:off x="6480295" y="1864495"/>
              <a:ext cx="128977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err="1"/>
                <a:t>package.scala</a:t>
              </a:r>
              <a:endParaRPr lang="ko-KR" altLang="en-US" sz="140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140EC9C-7F3F-7F78-A7EC-13CDAC31CE85}"/>
                </a:ext>
              </a:extLst>
            </p:cNvPr>
            <p:cNvSpPr txBox="1"/>
            <p:nvPr/>
          </p:nvSpPr>
          <p:spPr>
            <a:xfrm>
              <a:off x="6947558" y="2462643"/>
              <a:ext cx="116089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err="1"/>
                <a:t>Master.scala</a:t>
              </a:r>
              <a:endParaRPr lang="ko-KR" altLang="en-US" sz="140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7BE5F14-A1CF-112B-DA43-3FB015063846}"/>
                </a:ext>
              </a:extLst>
            </p:cNvPr>
            <p:cNvSpPr txBox="1"/>
            <p:nvPr/>
          </p:nvSpPr>
          <p:spPr>
            <a:xfrm>
              <a:off x="6947558" y="2761717"/>
              <a:ext cx="21162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err="1"/>
                <a:t>MasterServiceImpl.scala</a:t>
              </a:r>
              <a:endParaRPr lang="ko-KR" altLang="en-US" sz="14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548F1D3-A23B-2BD3-DAA2-C4EF1314918C}"/>
                </a:ext>
              </a:extLst>
            </p:cNvPr>
            <p:cNvSpPr txBox="1"/>
            <p:nvPr/>
          </p:nvSpPr>
          <p:spPr>
            <a:xfrm>
              <a:off x="6947558" y="3359865"/>
              <a:ext cx="11891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err="1"/>
                <a:t>Worker.scala</a:t>
              </a:r>
              <a:endParaRPr lang="ko-KR" altLang="en-US" sz="1400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D8F6BBC-F425-8E0D-25CB-81E0D07ADABB}"/>
                </a:ext>
              </a:extLst>
            </p:cNvPr>
            <p:cNvSpPr txBox="1"/>
            <p:nvPr/>
          </p:nvSpPr>
          <p:spPr>
            <a:xfrm>
              <a:off x="6947558" y="3658939"/>
              <a:ext cx="214449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err="1"/>
                <a:t>WorkerServiceImpl.scala</a:t>
              </a:r>
              <a:endParaRPr lang="ko-KR" altLang="en-US" sz="14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AD8C607-F329-A4F2-C672-8DB5D396B46C}"/>
                </a:ext>
              </a:extLst>
            </p:cNvPr>
            <p:cNvSpPr txBox="1"/>
            <p:nvPr/>
          </p:nvSpPr>
          <p:spPr>
            <a:xfrm>
              <a:off x="6947558" y="3958013"/>
              <a:ext cx="164352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err="1"/>
                <a:t>MasterClient.scala</a:t>
              </a:r>
              <a:endParaRPr lang="ko-KR" altLang="en-US" sz="1400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FF00DEF-FF07-B365-BB09-39A200B70964}"/>
                </a:ext>
              </a:extLst>
            </p:cNvPr>
            <p:cNvSpPr txBox="1"/>
            <p:nvPr/>
          </p:nvSpPr>
          <p:spPr>
            <a:xfrm>
              <a:off x="6947558" y="4257087"/>
              <a:ext cx="16450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err="1"/>
                <a:t>ShuffleClient.scala</a:t>
              </a:r>
              <a:endParaRPr lang="ko-KR" altLang="en-US" sz="1400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4E6750B-3695-BE41-FBDE-AF40E046F92E}"/>
                </a:ext>
              </a:extLst>
            </p:cNvPr>
            <p:cNvSpPr txBox="1"/>
            <p:nvPr/>
          </p:nvSpPr>
          <p:spPr>
            <a:xfrm>
              <a:off x="6947558" y="4855235"/>
              <a:ext cx="12649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err="1"/>
                <a:t>Sampler.scala</a:t>
              </a:r>
              <a:endParaRPr lang="ko-KR" altLang="en-US" sz="1400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3E5D69C-1B57-8B5F-2A68-91D4C1417E86}"/>
                </a:ext>
              </a:extLst>
            </p:cNvPr>
            <p:cNvSpPr txBox="1"/>
            <p:nvPr/>
          </p:nvSpPr>
          <p:spPr>
            <a:xfrm>
              <a:off x="6947558" y="5154309"/>
              <a:ext cx="17145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err="1"/>
                <a:t>InternalSorter.scala</a:t>
              </a:r>
              <a:endParaRPr lang="ko-KR" altLang="en-US" sz="14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12348D4-57A9-8737-F3BB-851051319E73}"/>
                </a:ext>
              </a:extLst>
            </p:cNvPr>
            <p:cNvSpPr txBox="1"/>
            <p:nvPr/>
          </p:nvSpPr>
          <p:spPr>
            <a:xfrm>
              <a:off x="6947558" y="5453383"/>
              <a:ext cx="17386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err="1"/>
                <a:t>ExternalSorter.scala</a:t>
              </a:r>
              <a:endParaRPr lang="ko-KR" altLang="en-US" sz="1400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E5AFE78-456F-6548-B571-DC8F94131663}"/>
                </a:ext>
              </a:extLst>
            </p:cNvPr>
            <p:cNvSpPr txBox="1"/>
            <p:nvPr/>
          </p:nvSpPr>
          <p:spPr>
            <a:xfrm>
              <a:off x="6947558" y="5752457"/>
              <a:ext cx="17589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err="1"/>
                <a:t>RecordIterator.scala</a:t>
              </a:r>
              <a:endParaRPr lang="ko-KR" altLang="en-US" sz="140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46A324A-75EF-DF52-34AC-62D867A83B63}"/>
                </a:ext>
              </a:extLst>
            </p:cNvPr>
            <p:cNvSpPr txBox="1"/>
            <p:nvPr/>
          </p:nvSpPr>
          <p:spPr>
            <a:xfrm>
              <a:off x="6947558" y="6051529"/>
              <a:ext cx="166584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err="1"/>
                <a:t>RecordWriter.scala</a:t>
              </a:r>
              <a:endParaRPr lang="ko-KR" altLang="en-US" sz="1400" dirty="0"/>
            </a:p>
          </p:txBody>
        </p:sp>
        <p:grpSp>
          <p:nvGrpSpPr>
            <p:cNvPr id="158" name="그룹 157">
              <a:extLst>
                <a:ext uri="{FF2B5EF4-FFF2-40B4-BE49-F238E27FC236}">
                  <a16:creationId xmlns:a16="http://schemas.microsoft.com/office/drawing/2014/main" id="{FE3A7FDE-4AFC-0353-0C8E-C376FB7F460E}"/>
                </a:ext>
              </a:extLst>
            </p:cNvPr>
            <p:cNvGrpSpPr/>
            <p:nvPr/>
          </p:nvGrpSpPr>
          <p:grpSpPr>
            <a:xfrm>
              <a:off x="5848350" y="1511300"/>
              <a:ext cx="1099208" cy="4694118"/>
              <a:chOff x="5848350" y="1511300"/>
              <a:chExt cx="1099208" cy="4694118"/>
            </a:xfrm>
          </p:grpSpPr>
          <p:cxnSp>
            <p:nvCxnSpPr>
              <p:cNvPr id="98" name="직선 연결선 97">
                <a:extLst>
                  <a:ext uri="{FF2B5EF4-FFF2-40B4-BE49-F238E27FC236}">
                    <a16:creationId xmlns:a16="http://schemas.microsoft.com/office/drawing/2014/main" id="{F19818ED-DFE5-CF8E-A84E-AD43F1E3ADB4}"/>
                  </a:ext>
                </a:extLst>
              </p:cNvPr>
              <p:cNvCxnSpPr>
                <a:cxnSpLocks/>
                <a:stCxn id="15" idx="1"/>
              </p:cNvCxnSpPr>
              <p:nvPr/>
            </p:nvCxnSpPr>
            <p:spPr>
              <a:xfrm flipH="1">
                <a:off x="5848350" y="1719310"/>
                <a:ext cx="147845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직선 연결선 100">
                <a:extLst>
                  <a:ext uri="{FF2B5EF4-FFF2-40B4-BE49-F238E27FC236}">
                    <a16:creationId xmlns:a16="http://schemas.microsoft.com/office/drawing/2014/main" id="{57A5D9C9-A6EE-754B-FFFD-1694F4274B34}"/>
                  </a:ext>
                </a:extLst>
              </p:cNvPr>
              <p:cNvCxnSpPr/>
              <p:nvPr/>
            </p:nvCxnSpPr>
            <p:spPr>
              <a:xfrm flipV="1">
                <a:off x="5848350" y="1511300"/>
                <a:ext cx="0" cy="20955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2981A11A-14B5-DCEA-4BD1-9F93383EAD93}"/>
                  </a:ext>
                </a:extLst>
              </p:cNvPr>
              <p:cNvCxnSpPr>
                <a:cxnSpLocks/>
                <a:stCxn id="20" idx="1"/>
              </p:cNvCxnSpPr>
              <p:nvPr/>
            </p:nvCxnSpPr>
            <p:spPr>
              <a:xfrm flipH="1">
                <a:off x="6317456" y="4710050"/>
                <a:ext cx="162839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6" name="직선 연결선 105">
                <a:extLst>
                  <a:ext uri="{FF2B5EF4-FFF2-40B4-BE49-F238E27FC236}">
                    <a16:creationId xmlns:a16="http://schemas.microsoft.com/office/drawing/2014/main" id="{63F10259-23BD-1A1A-E998-E5B0AFDE9CE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315075" y="1812131"/>
                <a:ext cx="0" cy="2897982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0" name="직선 연결선 109">
                <a:extLst>
                  <a:ext uri="{FF2B5EF4-FFF2-40B4-BE49-F238E27FC236}">
                    <a16:creationId xmlns:a16="http://schemas.microsoft.com/office/drawing/2014/main" id="{9E89EC1E-91FE-46AF-C116-5DF8B7C9CD14}"/>
                  </a:ext>
                </a:extLst>
              </p:cNvPr>
              <p:cNvCxnSpPr>
                <a:cxnSpLocks/>
                <a:stCxn id="21" idx="1"/>
              </p:cNvCxnSpPr>
              <p:nvPr/>
            </p:nvCxnSpPr>
            <p:spPr>
              <a:xfrm flipH="1">
                <a:off x="6315075" y="2018384"/>
                <a:ext cx="16522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3" name="직선 연결선 112">
                <a:extLst>
                  <a:ext uri="{FF2B5EF4-FFF2-40B4-BE49-F238E27FC236}">
                    <a16:creationId xmlns:a16="http://schemas.microsoft.com/office/drawing/2014/main" id="{019728DC-DAAF-1D69-8851-F845E040DC95}"/>
                  </a:ext>
                </a:extLst>
              </p:cNvPr>
              <p:cNvCxnSpPr>
                <a:stCxn id="18" idx="1"/>
              </p:cNvCxnSpPr>
              <p:nvPr/>
            </p:nvCxnSpPr>
            <p:spPr>
              <a:xfrm flipH="1" flipV="1">
                <a:off x="6315075" y="2316956"/>
                <a:ext cx="165220" cy="502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D28CAD64-3F0B-E49F-1480-984BD4DC66BD}"/>
                  </a:ext>
                </a:extLst>
              </p:cNvPr>
              <p:cNvCxnSpPr>
                <a:cxnSpLocks/>
                <a:stCxn id="19" idx="1"/>
              </p:cNvCxnSpPr>
              <p:nvPr/>
            </p:nvCxnSpPr>
            <p:spPr>
              <a:xfrm flipH="1">
                <a:off x="6315075" y="3214680"/>
                <a:ext cx="16522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8" name="직선 연결선 117">
                <a:extLst>
                  <a:ext uri="{FF2B5EF4-FFF2-40B4-BE49-F238E27FC236}">
                    <a16:creationId xmlns:a16="http://schemas.microsoft.com/office/drawing/2014/main" id="{D5E45C5A-FB74-08E5-7662-3987EAFDAD27}"/>
                  </a:ext>
                </a:extLst>
              </p:cNvPr>
              <p:cNvCxnSpPr>
                <a:cxnSpLocks/>
                <a:stCxn id="23" idx="1"/>
              </p:cNvCxnSpPr>
              <p:nvPr/>
            </p:nvCxnSpPr>
            <p:spPr>
              <a:xfrm flipH="1">
                <a:off x="6719888" y="2915606"/>
                <a:ext cx="22767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1" name="직선 연결선 120">
                <a:extLst>
                  <a:ext uri="{FF2B5EF4-FFF2-40B4-BE49-F238E27FC236}">
                    <a16:creationId xmlns:a16="http://schemas.microsoft.com/office/drawing/2014/main" id="{F7AB9F4F-DE21-F84F-02BA-9B4233F175DF}"/>
                  </a:ext>
                </a:extLst>
              </p:cNvPr>
              <p:cNvCxnSpPr/>
              <p:nvPr/>
            </p:nvCxnSpPr>
            <p:spPr>
              <a:xfrm flipV="1">
                <a:off x="6719888" y="2429912"/>
                <a:ext cx="0" cy="482357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3" name="직선 연결선 122">
                <a:extLst>
                  <a:ext uri="{FF2B5EF4-FFF2-40B4-BE49-F238E27FC236}">
                    <a16:creationId xmlns:a16="http://schemas.microsoft.com/office/drawing/2014/main" id="{81B8A050-781F-88F9-18F1-F7BAAA912BF6}"/>
                  </a:ext>
                </a:extLst>
              </p:cNvPr>
              <p:cNvCxnSpPr>
                <a:cxnSpLocks/>
                <a:stCxn id="22" idx="1"/>
              </p:cNvCxnSpPr>
              <p:nvPr/>
            </p:nvCxnSpPr>
            <p:spPr>
              <a:xfrm flipH="1">
                <a:off x="6719888" y="2616532"/>
                <a:ext cx="22767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6" name="직선 연결선 125">
                <a:extLst>
                  <a:ext uri="{FF2B5EF4-FFF2-40B4-BE49-F238E27FC236}">
                    <a16:creationId xmlns:a16="http://schemas.microsoft.com/office/drawing/2014/main" id="{C3F55408-3AE9-B4AA-118F-6D40F276FD6B}"/>
                  </a:ext>
                </a:extLst>
              </p:cNvPr>
              <p:cNvCxnSpPr>
                <a:cxnSpLocks/>
                <a:stCxn id="27" idx="1"/>
              </p:cNvCxnSpPr>
              <p:nvPr/>
            </p:nvCxnSpPr>
            <p:spPr>
              <a:xfrm flipH="1">
                <a:off x="6738938" y="4410976"/>
                <a:ext cx="20862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9" name="직선 연결선 128">
                <a:extLst>
                  <a:ext uri="{FF2B5EF4-FFF2-40B4-BE49-F238E27FC236}">
                    <a16:creationId xmlns:a16="http://schemas.microsoft.com/office/drawing/2014/main" id="{8EEC1E0D-E6AF-AC29-0176-4B2E63D1F352}"/>
                  </a:ext>
                </a:extLst>
              </p:cNvPr>
              <p:cNvCxnSpPr/>
              <p:nvPr/>
            </p:nvCxnSpPr>
            <p:spPr>
              <a:xfrm flipV="1">
                <a:off x="6738938" y="3321161"/>
                <a:ext cx="0" cy="1088914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1" name="직선 연결선 130">
                <a:extLst>
                  <a:ext uri="{FF2B5EF4-FFF2-40B4-BE49-F238E27FC236}">
                    <a16:creationId xmlns:a16="http://schemas.microsoft.com/office/drawing/2014/main" id="{1A52E488-59B5-492D-6E4E-013DDFD8A981}"/>
                  </a:ext>
                </a:extLst>
              </p:cNvPr>
              <p:cNvCxnSpPr>
                <a:cxnSpLocks/>
                <a:stCxn id="26" idx="1"/>
              </p:cNvCxnSpPr>
              <p:nvPr/>
            </p:nvCxnSpPr>
            <p:spPr>
              <a:xfrm flipH="1">
                <a:off x="6738938" y="4111902"/>
                <a:ext cx="20862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4" name="직선 연결선 133">
                <a:extLst>
                  <a:ext uri="{FF2B5EF4-FFF2-40B4-BE49-F238E27FC236}">
                    <a16:creationId xmlns:a16="http://schemas.microsoft.com/office/drawing/2014/main" id="{D79AB922-2F6D-D95B-4C69-6F8413D7784E}"/>
                  </a:ext>
                </a:extLst>
              </p:cNvPr>
              <p:cNvCxnSpPr>
                <a:cxnSpLocks/>
                <a:stCxn id="25" idx="1"/>
              </p:cNvCxnSpPr>
              <p:nvPr/>
            </p:nvCxnSpPr>
            <p:spPr>
              <a:xfrm flipH="1">
                <a:off x="6738938" y="3812828"/>
                <a:ext cx="20862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7" name="직선 연결선 136">
                <a:extLst>
                  <a:ext uri="{FF2B5EF4-FFF2-40B4-BE49-F238E27FC236}">
                    <a16:creationId xmlns:a16="http://schemas.microsoft.com/office/drawing/2014/main" id="{7B51A15C-6A8D-0F7A-9D14-BDBB2C0628CA}"/>
                  </a:ext>
                </a:extLst>
              </p:cNvPr>
              <p:cNvCxnSpPr>
                <a:cxnSpLocks/>
                <a:stCxn id="24" idx="1"/>
              </p:cNvCxnSpPr>
              <p:nvPr/>
            </p:nvCxnSpPr>
            <p:spPr>
              <a:xfrm flipH="1">
                <a:off x="6738938" y="3513754"/>
                <a:ext cx="20862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0" name="직선 연결선 139">
                <a:extLst>
                  <a:ext uri="{FF2B5EF4-FFF2-40B4-BE49-F238E27FC236}">
                    <a16:creationId xmlns:a16="http://schemas.microsoft.com/office/drawing/2014/main" id="{A9055C32-2959-7149-FE82-0C6F1DEB0A98}"/>
                  </a:ext>
                </a:extLst>
              </p:cNvPr>
              <p:cNvCxnSpPr>
                <a:cxnSpLocks/>
                <a:stCxn id="32" idx="1"/>
              </p:cNvCxnSpPr>
              <p:nvPr/>
            </p:nvCxnSpPr>
            <p:spPr>
              <a:xfrm flipH="1">
                <a:off x="6757988" y="6205418"/>
                <a:ext cx="18957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3" name="직선 연결선 142">
                <a:extLst>
                  <a:ext uri="{FF2B5EF4-FFF2-40B4-BE49-F238E27FC236}">
                    <a16:creationId xmlns:a16="http://schemas.microsoft.com/office/drawing/2014/main" id="{0DF6007F-20D3-7674-5E5B-205F1A8682F5}"/>
                  </a:ext>
                </a:extLst>
              </p:cNvPr>
              <p:cNvCxnSpPr/>
              <p:nvPr/>
            </p:nvCxnSpPr>
            <p:spPr>
              <a:xfrm flipV="1">
                <a:off x="6757988" y="4863938"/>
                <a:ext cx="0" cy="1339218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5" name="직선 연결선 144">
                <a:extLst>
                  <a:ext uri="{FF2B5EF4-FFF2-40B4-BE49-F238E27FC236}">
                    <a16:creationId xmlns:a16="http://schemas.microsoft.com/office/drawing/2014/main" id="{622C4B75-EBAB-43EA-D253-93418472E9E0}"/>
                  </a:ext>
                </a:extLst>
              </p:cNvPr>
              <p:cNvCxnSpPr>
                <a:cxnSpLocks/>
                <a:stCxn id="31" idx="1"/>
              </p:cNvCxnSpPr>
              <p:nvPr/>
            </p:nvCxnSpPr>
            <p:spPr>
              <a:xfrm flipH="1">
                <a:off x="6757988" y="5906346"/>
                <a:ext cx="18957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>
                <a:extLst>
                  <a:ext uri="{FF2B5EF4-FFF2-40B4-BE49-F238E27FC236}">
                    <a16:creationId xmlns:a16="http://schemas.microsoft.com/office/drawing/2014/main" id="{9888C24A-2A93-5029-A2FF-46EA36B374D9}"/>
                  </a:ext>
                </a:extLst>
              </p:cNvPr>
              <p:cNvCxnSpPr>
                <a:cxnSpLocks/>
                <a:stCxn id="30" idx="1"/>
              </p:cNvCxnSpPr>
              <p:nvPr/>
            </p:nvCxnSpPr>
            <p:spPr>
              <a:xfrm flipH="1">
                <a:off x="6757988" y="5607272"/>
                <a:ext cx="18957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1" name="직선 연결선 150">
                <a:extLst>
                  <a:ext uri="{FF2B5EF4-FFF2-40B4-BE49-F238E27FC236}">
                    <a16:creationId xmlns:a16="http://schemas.microsoft.com/office/drawing/2014/main" id="{AE3ED16F-51C3-1598-BCD6-0FC9C6938891}"/>
                  </a:ext>
                </a:extLst>
              </p:cNvPr>
              <p:cNvCxnSpPr>
                <a:cxnSpLocks/>
                <a:stCxn id="29" idx="1"/>
              </p:cNvCxnSpPr>
              <p:nvPr/>
            </p:nvCxnSpPr>
            <p:spPr>
              <a:xfrm flipH="1">
                <a:off x="6757988" y="5308198"/>
                <a:ext cx="18957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4" name="직선 연결선 153">
                <a:extLst>
                  <a:ext uri="{FF2B5EF4-FFF2-40B4-BE49-F238E27FC236}">
                    <a16:creationId xmlns:a16="http://schemas.microsoft.com/office/drawing/2014/main" id="{A8B60B79-0A68-1830-1D6E-ECC6336F38DB}"/>
                  </a:ext>
                </a:extLst>
              </p:cNvPr>
              <p:cNvCxnSpPr>
                <a:cxnSpLocks/>
                <a:stCxn id="28" idx="1"/>
              </p:cNvCxnSpPr>
              <p:nvPr/>
            </p:nvCxnSpPr>
            <p:spPr>
              <a:xfrm flipH="1">
                <a:off x="6757988" y="5009124"/>
                <a:ext cx="18957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4041573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ADB46D-01F0-AC10-4C6C-DB44AE4D0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Sampling</a:t>
            </a:r>
            <a:endParaRPr lang="ko-KR" altLang="en-US" dirty="0"/>
          </a:p>
        </p:txBody>
      </p:sp>
      <p:pic>
        <p:nvPicPr>
          <p:cNvPr id="4" name="Picture 2" descr="Dell PowerEdge 2850 Refurbished Servers">
            <a:extLst>
              <a:ext uri="{FF2B5EF4-FFF2-40B4-BE49-F238E27FC236}">
                <a16:creationId xmlns:a16="http://schemas.microsoft.com/office/drawing/2014/main" id="{FCA47B05-1966-0BEB-7A2B-3FC08468FF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63415" y="3600990"/>
            <a:ext cx="2286000" cy="598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 descr="Dell PowerEdge 2850 Refurbished Servers">
            <a:extLst>
              <a:ext uri="{FF2B5EF4-FFF2-40B4-BE49-F238E27FC236}">
                <a16:creationId xmlns:a16="http://schemas.microsoft.com/office/drawing/2014/main" id="{5186E56E-9C5C-C743-4FFD-93AA30D239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386797" y="1909287"/>
            <a:ext cx="2286000" cy="598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 descr="Dell PowerEdge 2850 Refurbished Servers">
            <a:extLst>
              <a:ext uri="{FF2B5EF4-FFF2-40B4-BE49-F238E27FC236}">
                <a16:creationId xmlns:a16="http://schemas.microsoft.com/office/drawing/2014/main" id="{C904D830-3EE8-1FFB-397F-525659A266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386797" y="3600990"/>
            <a:ext cx="2286000" cy="598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 descr="Dell PowerEdge 2850 Refurbished Servers">
            <a:extLst>
              <a:ext uri="{FF2B5EF4-FFF2-40B4-BE49-F238E27FC236}">
                <a16:creationId xmlns:a16="http://schemas.microsoft.com/office/drawing/2014/main" id="{A75FF0F3-5D1A-969E-9719-FC09AE1394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386797" y="5398786"/>
            <a:ext cx="2286000" cy="598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7CD7E22-93F7-8E39-5F44-24EBA24CB4D4}"/>
              </a:ext>
            </a:extLst>
          </p:cNvPr>
          <p:cNvSpPr txBox="1"/>
          <p:nvPr/>
        </p:nvSpPr>
        <p:spPr>
          <a:xfrm>
            <a:off x="1656772" y="3287406"/>
            <a:ext cx="899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Master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736DA4-FE21-2174-E408-8EDD99A74D60}"/>
              </a:ext>
            </a:extLst>
          </p:cNvPr>
          <p:cNvSpPr txBox="1"/>
          <p:nvPr/>
        </p:nvSpPr>
        <p:spPr>
          <a:xfrm>
            <a:off x="8062201" y="1321356"/>
            <a:ext cx="935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Worker</a:t>
            </a:r>
            <a:endParaRPr lang="ko-KR" altLang="en-US" dirty="0"/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ADCE2840-8886-46F1-CE70-35787001DCE5}"/>
              </a:ext>
            </a:extLst>
          </p:cNvPr>
          <p:cNvGrpSpPr/>
          <p:nvPr/>
        </p:nvGrpSpPr>
        <p:grpSpPr>
          <a:xfrm>
            <a:off x="7386797" y="2507775"/>
            <a:ext cx="2286000" cy="598488"/>
            <a:chOff x="7386797" y="2507775"/>
            <a:chExt cx="2286000" cy="598488"/>
          </a:xfrm>
        </p:grpSpPr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BE3C1897-6E60-33FD-D7D2-04D55EB2B361}"/>
                </a:ext>
              </a:extLst>
            </p:cNvPr>
            <p:cNvSpPr/>
            <p:nvPr/>
          </p:nvSpPr>
          <p:spPr>
            <a:xfrm>
              <a:off x="7386797" y="2507775"/>
              <a:ext cx="2286000" cy="598488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619B5407-FA01-5FFE-76BE-42884DB3E4F3}"/>
                </a:ext>
              </a:extLst>
            </p:cNvPr>
            <p:cNvSpPr/>
            <p:nvPr/>
          </p:nvSpPr>
          <p:spPr>
            <a:xfrm>
              <a:off x="7427199" y="2600774"/>
              <a:ext cx="351385" cy="41249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3</a:t>
              </a:r>
              <a:endParaRPr lang="ko-KR" altLang="en-US" sz="3200" dirty="0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34436B18-4A14-093D-E7D5-4EA3E2CB3C5F}"/>
                </a:ext>
              </a:extLst>
            </p:cNvPr>
            <p:cNvSpPr/>
            <p:nvPr/>
          </p:nvSpPr>
          <p:spPr>
            <a:xfrm>
              <a:off x="7778584" y="2600774"/>
              <a:ext cx="351385" cy="41249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15</a:t>
              </a:r>
              <a:endParaRPr lang="ko-KR" altLang="en-US" sz="3200" dirty="0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37EB8047-5EB5-AF40-60F4-00739EDBFEB1}"/>
                </a:ext>
              </a:extLst>
            </p:cNvPr>
            <p:cNvSpPr/>
            <p:nvPr/>
          </p:nvSpPr>
          <p:spPr>
            <a:xfrm>
              <a:off x="8132613" y="2600774"/>
              <a:ext cx="351385" cy="41249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10</a:t>
              </a:r>
              <a:endParaRPr lang="ko-KR" altLang="en-US" sz="3200" dirty="0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5DFF9EBC-93BD-95D0-DAD2-29A578AA89F4}"/>
                </a:ext>
              </a:extLst>
            </p:cNvPr>
            <p:cNvSpPr/>
            <p:nvPr/>
          </p:nvSpPr>
          <p:spPr>
            <a:xfrm>
              <a:off x="8569276" y="2600774"/>
              <a:ext cx="351385" cy="41249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18</a:t>
              </a:r>
              <a:endParaRPr lang="ko-KR" altLang="en-US" sz="3200" dirty="0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AA9FF59C-0EA0-E234-663E-E44EDA0CEEBF}"/>
                </a:ext>
              </a:extLst>
            </p:cNvPr>
            <p:cNvSpPr/>
            <p:nvPr/>
          </p:nvSpPr>
          <p:spPr>
            <a:xfrm>
              <a:off x="8913834" y="2600774"/>
              <a:ext cx="351385" cy="41249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8</a:t>
              </a:r>
              <a:endParaRPr lang="ko-KR" altLang="en-US" sz="3200" dirty="0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ABFFACB2-E591-95E8-B86A-58662EB46C83}"/>
                </a:ext>
              </a:extLst>
            </p:cNvPr>
            <p:cNvSpPr/>
            <p:nvPr/>
          </p:nvSpPr>
          <p:spPr>
            <a:xfrm>
              <a:off x="9265219" y="2600774"/>
              <a:ext cx="351385" cy="41249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13</a:t>
              </a:r>
              <a:endParaRPr lang="ko-KR" altLang="en-US" sz="3200" dirty="0"/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C6AD3357-B63B-7779-831D-63109193D288}"/>
              </a:ext>
            </a:extLst>
          </p:cNvPr>
          <p:cNvGrpSpPr/>
          <p:nvPr/>
        </p:nvGrpSpPr>
        <p:grpSpPr>
          <a:xfrm>
            <a:off x="7386797" y="4194325"/>
            <a:ext cx="2286000" cy="598488"/>
            <a:chOff x="7386797" y="4212572"/>
            <a:chExt cx="2286000" cy="598488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41583814-661A-6650-053F-C26495FADACC}"/>
                </a:ext>
              </a:extLst>
            </p:cNvPr>
            <p:cNvSpPr/>
            <p:nvPr/>
          </p:nvSpPr>
          <p:spPr>
            <a:xfrm>
              <a:off x="7386797" y="4212572"/>
              <a:ext cx="2286000" cy="598488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E6F6B410-83D7-F76B-4FB4-AAA3034C3742}"/>
                </a:ext>
              </a:extLst>
            </p:cNvPr>
            <p:cNvSpPr/>
            <p:nvPr/>
          </p:nvSpPr>
          <p:spPr>
            <a:xfrm>
              <a:off x="7427199" y="4305571"/>
              <a:ext cx="351385" cy="41249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11</a:t>
              </a:r>
              <a:endParaRPr lang="ko-KR" altLang="en-US" sz="3200" dirty="0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129C52D7-7B1E-0588-9BAE-280007631D35}"/>
                </a:ext>
              </a:extLst>
            </p:cNvPr>
            <p:cNvSpPr/>
            <p:nvPr/>
          </p:nvSpPr>
          <p:spPr>
            <a:xfrm>
              <a:off x="7778584" y="4305571"/>
              <a:ext cx="351385" cy="41249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1</a:t>
              </a:r>
              <a:endParaRPr lang="ko-KR" altLang="en-US" sz="3200" dirty="0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B505ED65-9BFC-BEED-C3A9-F59F7F4DFD0D}"/>
                </a:ext>
              </a:extLst>
            </p:cNvPr>
            <p:cNvSpPr/>
            <p:nvPr/>
          </p:nvSpPr>
          <p:spPr>
            <a:xfrm>
              <a:off x="8132613" y="4305571"/>
              <a:ext cx="351385" cy="41249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16</a:t>
              </a:r>
              <a:endParaRPr lang="ko-KR" altLang="en-US" sz="3200" dirty="0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8B290B6D-86C4-05A9-2266-532D8FDDA070}"/>
                </a:ext>
              </a:extLst>
            </p:cNvPr>
            <p:cNvSpPr/>
            <p:nvPr/>
          </p:nvSpPr>
          <p:spPr>
            <a:xfrm>
              <a:off x="8569276" y="4305571"/>
              <a:ext cx="351385" cy="41249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4</a:t>
              </a:r>
              <a:endParaRPr lang="ko-KR" altLang="en-US" sz="3200" dirty="0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C8537776-F506-4AE0-738F-53298961C733}"/>
                </a:ext>
              </a:extLst>
            </p:cNvPr>
            <p:cNvSpPr/>
            <p:nvPr/>
          </p:nvSpPr>
          <p:spPr>
            <a:xfrm>
              <a:off x="8913834" y="4305571"/>
              <a:ext cx="351385" cy="41249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14</a:t>
              </a:r>
              <a:endParaRPr lang="ko-KR" altLang="en-US" sz="3200" dirty="0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0F41F3B0-9C19-CD11-AA7A-57052E3B8E72}"/>
                </a:ext>
              </a:extLst>
            </p:cNvPr>
            <p:cNvSpPr/>
            <p:nvPr/>
          </p:nvSpPr>
          <p:spPr>
            <a:xfrm>
              <a:off x="9265219" y="4305571"/>
              <a:ext cx="351385" cy="41249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9</a:t>
              </a:r>
              <a:endParaRPr lang="ko-KR" altLang="en-US" sz="3200" dirty="0"/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94056513-0A53-49E9-4788-B5B83839A52D}"/>
              </a:ext>
            </a:extLst>
          </p:cNvPr>
          <p:cNvGrpSpPr/>
          <p:nvPr/>
        </p:nvGrpSpPr>
        <p:grpSpPr>
          <a:xfrm>
            <a:off x="7386797" y="5992121"/>
            <a:ext cx="2286000" cy="598488"/>
            <a:chOff x="7386797" y="5992121"/>
            <a:chExt cx="2286000" cy="598488"/>
          </a:xfrm>
        </p:grpSpPr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A4F3A4F0-0B46-6042-F365-65A767E8A0C2}"/>
                </a:ext>
              </a:extLst>
            </p:cNvPr>
            <p:cNvSpPr/>
            <p:nvPr/>
          </p:nvSpPr>
          <p:spPr>
            <a:xfrm>
              <a:off x="7386797" y="5992121"/>
              <a:ext cx="2286000" cy="598488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096AB6BE-C993-4689-BD9A-924715730DED}"/>
                </a:ext>
              </a:extLst>
            </p:cNvPr>
            <p:cNvSpPr/>
            <p:nvPr/>
          </p:nvSpPr>
          <p:spPr>
            <a:xfrm>
              <a:off x="7427199" y="6085120"/>
              <a:ext cx="351385" cy="41249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5</a:t>
              </a:r>
              <a:endParaRPr lang="ko-KR" altLang="en-US" sz="3200" dirty="0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CEAF7D79-2086-2C1D-EC2B-B8EAB6F5DEB5}"/>
                </a:ext>
              </a:extLst>
            </p:cNvPr>
            <p:cNvSpPr/>
            <p:nvPr/>
          </p:nvSpPr>
          <p:spPr>
            <a:xfrm>
              <a:off x="7778584" y="6085120"/>
              <a:ext cx="351385" cy="41249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17</a:t>
              </a:r>
              <a:endParaRPr lang="ko-KR" altLang="en-US" sz="3200" dirty="0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683E159D-A46C-3E9D-B554-947E1A3A57AA}"/>
                </a:ext>
              </a:extLst>
            </p:cNvPr>
            <p:cNvSpPr/>
            <p:nvPr/>
          </p:nvSpPr>
          <p:spPr>
            <a:xfrm>
              <a:off x="8132613" y="6085120"/>
              <a:ext cx="351385" cy="41249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7</a:t>
              </a:r>
              <a:endParaRPr lang="ko-KR" altLang="en-US" sz="3200" dirty="0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EF1155E0-E1C7-4D42-3F8C-10B1D471CD3B}"/>
                </a:ext>
              </a:extLst>
            </p:cNvPr>
            <p:cNvSpPr/>
            <p:nvPr/>
          </p:nvSpPr>
          <p:spPr>
            <a:xfrm>
              <a:off x="8569276" y="6085120"/>
              <a:ext cx="351385" cy="41249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2</a:t>
              </a:r>
              <a:endParaRPr lang="ko-KR" altLang="en-US" sz="3200" dirty="0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BF44CAB8-ACF3-E388-09EC-19DCC613921F}"/>
                </a:ext>
              </a:extLst>
            </p:cNvPr>
            <p:cNvSpPr/>
            <p:nvPr/>
          </p:nvSpPr>
          <p:spPr>
            <a:xfrm>
              <a:off x="8913834" y="6085120"/>
              <a:ext cx="351385" cy="41249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12</a:t>
              </a:r>
              <a:endParaRPr lang="ko-KR" altLang="en-US" sz="3200" dirty="0"/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C69C73D1-B2DF-1177-62AA-0DAAF7DBE4D1}"/>
                </a:ext>
              </a:extLst>
            </p:cNvPr>
            <p:cNvSpPr/>
            <p:nvPr/>
          </p:nvSpPr>
          <p:spPr>
            <a:xfrm>
              <a:off x="9265219" y="6085120"/>
              <a:ext cx="351385" cy="41249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6</a:t>
              </a:r>
              <a:endParaRPr lang="ko-KR" altLang="en-US" sz="3200" dirty="0"/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66027E5A-754D-1D5F-E5CA-9C3F70BBF4F2}"/>
              </a:ext>
            </a:extLst>
          </p:cNvPr>
          <p:cNvSpPr txBox="1"/>
          <p:nvPr/>
        </p:nvSpPr>
        <p:spPr>
          <a:xfrm>
            <a:off x="9716446" y="1764943"/>
            <a:ext cx="1922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 Count records</a:t>
            </a:r>
          </a:p>
        </p:txBody>
      </p: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3EF35360-689D-20FC-9B3D-8A28C15AAEDB}"/>
              </a:ext>
            </a:extLst>
          </p:cNvPr>
          <p:cNvCxnSpPr>
            <a:stCxn id="5" idx="1"/>
          </p:cNvCxnSpPr>
          <p:nvPr/>
        </p:nvCxnSpPr>
        <p:spPr>
          <a:xfrm flipH="1">
            <a:off x="3187083" y="2208531"/>
            <a:ext cx="4199714" cy="144820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007FD2ED-581D-28EA-8DBE-15B68023D20B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3250800" y="3900234"/>
            <a:ext cx="4135997" cy="630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0D65618A-3268-E3BA-E932-C9F01A688249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3234312" y="4226164"/>
            <a:ext cx="4152485" cy="14718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DA6703CB-DDC6-53BF-7CE8-0AF9E2D85DA4}"/>
              </a:ext>
            </a:extLst>
          </p:cNvPr>
          <p:cNvCxnSpPr/>
          <p:nvPr/>
        </p:nvCxnSpPr>
        <p:spPr>
          <a:xfrm flipV="1">
            <a:off x="3234312" y="2325950"/>
            <a:ext cx="4192887" cy="14204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B2968EA9-9802-5AA6-8EB1-138D4736CBE8}"/>
              </a:ext>
            </a:extLst>
          </p:cNvPr>
          <p:cNvCxnSpPr>
            <a:cxnSpLocks/>
          </p:cNvCxnSpPr>
          <p:nvPr/>
        </p:nvCxnSpPr>
        <p:spPr>
          <a:xfrm flipV="1">
            <a:off x="3254513" y="4040468"/>
            <a:ext cx="4147387" cy="634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6D980B00-E56D-370B-D49E-C691F0D89563}"/>
              </a:ext>
            </a:extLst>
          </p:cNvPr>
          <p:cNvCxnSpPr>
            <a:cxnSpLocks/>
          </p:cNvCxnSpPr>
          <p:nvPr/>
        </p:nvCxnSpPr>
        <p:spPr>
          <a:xfrm>
            <a:off x="3219831" y="4319464"/>
            <a:ext cx="4182069" cy="15476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1F8F8D3E-9C9D-343E-1692-F4728A865CEF}"/>
              </a:ext>
            </a:extLst>
          </p:cNvPr>
          <p:cNvSpPr txBox="1"/>
          <p:nvPr/>
        </p:nvSpPr>
        <p:spPr>
          <a:xfrm>
            <a:off x="3653655" y="2619674"/>
            <a:ext cx="3587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2.</a:t>
            </a:r>
            <a:r>
              <a:rPr lang="ko-KR" altLang="en-US" dirty="0"/>
              <a:t> </a:t>
            </a:r>
            <a:r>
              <a:rPr lang="en-US" altLang="ko-KR" dirty="0"/>
              <a:t>Report records count(request)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0B38039-3385-5FC7-2B7C-34942E9FD13D}"/>
              </a:ext>
            </a:extLst>
          </p:cNvPr>
          <p:cNvSpPr txBox="1"/>
          <p:nvPr/>
        </p:nvSpPr>
        <p:spPr>
          <a:xfrm>
            <a:off x="620430" y="4399020"/>
            <a:ext cx="29719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3.</a:t>
            </a:r>
            <a:r>
              <a:rPr lang="ko-KR" altLang="en-US" dirty="0"/>
              <a:t> </a:t>
            </a:r>
            <a:r>
              <a:rPr lang="en-US" altLang="ko-KR" dirty="0"/>
              <a:t>Calculate sampling ratio</a:t>
            </a:r>
          </a:p>
          <a:p>
            <a:r>
              <a:rPr lang="en-US" altLang="ko-KR" dirty="0"/>
              <a:t>    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279189F-0117-5492-AC0C-1FDAE53F0520}"/>
              </a:ext>
            </a:extLst>
          </p:cNvPr>
          <p:cNvSpPr txBox="1"/>
          <p:nvPr/>
        </p:nvSpPr>
        <p:spPr>
          <a:xfrm>
            <a:off x="3740954" y="3072659"/>
            <a:ext cx="3382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4. Report sampling ratio(reply)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90CE359-A691-ED9F-6982-D5E292DD5AAA}"/>
              </a:ext>
            </a:extLst>
          </p:cNvPr>
          <p:cNvSpPr txBox="1"/>
          <p:nvPr/>
        </p:nvSpPr>
        <p:spPr>
          <a:xfrm>
            <a:off x="9716446" y="2141446"/>
            <a:ext cx="2494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5. Sampling with ratio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1BDDD64-212A-A5BE-4191-786A377939FE}"/>
              </a:ext>
            </a:extLst>
          </p:cNvPr>
          <p:cNvSpPr txBox="1"/>
          <p:nvPr/>
        </p:nvSpPr>
        <p:spPr>
          <a:xfrm>
            <a:off x="3653655" y="4537519"/>
            <a:ext cx="3557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6. Report sampled keys(request)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C5D15C9-ED82-B513-EEA2-7A1F623B4D52}"/>
              </a:ext>
            </a:extLst>
          </p:cNvPr>
          <p:cNvSpPr txBox="1"/>
          <p:nvPr/>
        </p:nvSpPr>
        <p:spPr>
          <a:xfrm>
            <a:off x="620430" y="4940241"/>
            <a:ext cx="1817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7. Create pivots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EDA3DBD-6A7D-A78B-D8E7-7390373FD071}"/>
              </a:ext>
            </a:extLst>
          </p:cNvPr>
          <p:cNvSpPr txBox="1"/>
          <p:nvPr/>
        </p:nvSpPr>
        <p:spPr>
          <a:xfrm>
            <a:off x="4077543" y="4933108"/>
            <a:ext cx="2501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8. Report pivots(reply)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0FC51A5-0518-4832-B16B-5B6826959C7E}"/>
              </a:ext>
            </a:extLst>
          </p:cNvPr>
          <p:cNvSpPr txBox="1"/>
          <p:nvPr/>
        </p:nvSpPr>
        <p:spPr>
          <a:xfrm>
            <a:off x="9716445" y="1280084"/>
            <a:ext cx="1922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 Count records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7ACD32F-EB37-6EF8-70A7-1361F2EC52CD}"/>
              </a:ext>
            </a:extLst>
          </p:cNvPr>
          <p:cNvSpPr txBox="1"/>
          <p:nvPr/>
        </p:nvSpPr>
        <p:spPr>
          <a:xfrm>
            <a:off x="9961162" y="264393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1"/>
                </a:solidFill>
              </a:rPr>
              <a:t>6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64FDEB7-B9C5-568F-D092-A1BCF85A601C}"/>
              </a:ext>
            </a:extLst>
          </p:cNvPr>
          <p:cNvSpPr txBox="1"/>
          <p:nvPr/>
        </p:nvSpPr>
        <p:spPr>
          <a:xfrm>
            <a:off x="9961162" y="428732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1"/>
                </a:solidFill>
              </a:rPr>
              <a:t>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29E8B10-04ED-1951-7900-54A4AE7E4B72}"/>
              </a:ext>
            </a:extLst>
          </p:cNvPr>
          <p:cNvSpPr txBox="1"/>
          <p:nvPr/>
        </p:nvSpPr>
        <p:spPr>
          <a:xfrm>
            <a:off x="9961162" y="608512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1"/>
                </a:solidFill>
              </a:rPr>
              <a:t>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F2CF853-99F2-E808-150C-1CCE276F2D0C}"/>
              </a:ext>
            </a:extLst>
          </p:cNvPr>
          <p:cNvSpPr txBox="1"/>
          <p:nvPr/>
        </p:nvSpPr>
        <p:spPr>
          <a:xfrm>
            <a:off x="3514054" y="1620600"/>
            <a:ext cx="3587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2.</a:t>
            </a:r>
            <a:r>
              <a:rPr lang="ko-KR" altLang="en-US" dirty="0"/>
              <a:t> </a:t>
            </a:r>
            <a:r>
              <a:rPr lang="en-US" altLang="ko-KR" dirty="0"/>
              <a:t>Report records count(request)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EE5E94A-0CD5-D560-8DB7-B2EDD5420C81}"/>
              </a:ext>
            </a:extLst>
          </p:cNvPr>
          <p:cNvSpPr txBox="1"/>
          <p:nvPr/>
        </p:nvSpPr>
        <p:spPr>
          <a:xfrm>
            <a:off x="5172554" y="248858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1"/>
                </a:solidFill>
              </a:rPr>
              <a:t>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130A310-44D9-8E3C-4594-9F9FB7D1663D}"/>
              </a:ext>
            </a:extLst>
          </p:cNvPr>
          <p:cNvSpPr txBox="1"/>
          <p:nvPr/>
        </p:nvSpPr>
        <p:spPr>
          <a:xfrm>
            <a:off x="5163146" y="356425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1"/>
                </a:solidFill>
              </a:rPr>
              <a:t>6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BA7132C8-7D41-D4BF-92B8-298D50F8C670}"/>
              </a:ext>
            </a:extLst>
          </p:cNvPr>
          <p:cNvSpPr txBox="1"/>
          <p:nvPr/>
        </p:nvSpPr>
        <p:spPr>
          <a:xfrm>
            <a:off x="5172554" y="446044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1"/>
                </a:solidFill>
              </a:rPr>
              <a:t>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BA4C1CAD-909C-35A4-84B5-B5FA94E44163}"/>
                  </a:ext>
                </a:extLst>
              </p:cNvPr>
              <p:cNvSpPr txBox="1"/>
              <p:nvPr/>
            </p:nvSpPr>
            <p:spPr>
              <a:xfrm>
                <a:off x="620430" y="4397990"/>
                <a:ext cx="3171061" cy="10529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3.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Calculate sampling ratio</a:t>
                </a:r>
              </a:p>
              <a:p>
                <a:r>
                  <a:rPr lang="en-US" altLang="ko-KR" dirty="0"/>
                  <a:t>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target</m:t>
                        </m:r>
                        <m:r>
                          <a:rPr lang="en-US" altLang="ko-KR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records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𝑟𝑒𝑐𝑜𝑟𝑑𝑠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6+6+6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b="0" dirty="0"/>
                  <a:t> </a:t>
                </a:r>
              </a:p>
              <a:p>
                <a:endParaRPr lang="en-US" altLang="ko-KR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BA4C1CAD-909C-35A4-84B5-B5FA94E441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30" y="4397990"/>
                <a:ext cx="3171061" cy="1052917"/>
              </a:xfrm>
              <a:prstGeom prst="rect">
                <a:avLst/>
              </a:prstGeom>
              <a:blipFill>
                <a:blip r:embed="rId3"/>
                <a:stretch>
                  <a:fillRect l="-1731" t="-28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TextBox 93">
            <a:extLst>
              <a:ext uri="{FF2B5EF4-FFF2-40B4-BE49-F238E27FC236}">
                <a16:creationId xmlns:a16="http://schemas.microsoft.com/office/drawing/2014/main" id="{9B212596-3548-8075-DD5E-DB540E3909D8}"/>
              </a:ext>
            </a:extLst>
          </p:cNvPr>
          <p:cNvSpPr txBox="1"/>
          <p:nvPr/>
        </p:nvSpPr>
        <p:spPr>
          <a:xfrm>
            <a:off x="5063550" y="3153033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2"/>
                </a:solidFill>
              </a:rPr>
              <a:t>1/3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4D796F6-FCF4-A85E-FE00-BFE4BCFEA362}"/>
              </a:ext>
            </a:extLst>
          </p:cNvPr>
          <p:cNvSpPr txBox="1"/>
          <p:nvPr/>
        </p:nvSpPr>
        <p:spPr>
          <a:xfrm>
            <a:off x="5027969" y="4050640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2"/>
                </a:solidFill>
              </a:rPr>
              <a:t>1/3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FB8366A-6F5D-31B2-7C47-0D53392688BB}"/>
              </a:ext>
            </a:extLst>
          </p:cNvPr>
          <p:cNvSpPr txBox="1"/>
          <p:nvPr/>
        </p:nvSpPr>
        <p:spPr>
          <a:xfrm>
            <a:off x="5037701" y="5248359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2"/>
                </a:solidFill>
              </a:rPr>
              <a:t>1/3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CC5C10A-9223-7640-DC20-3DA6C7C8EDF8}"/>
              </a:ext>
            </a:extLst>
          </p:cNvPr>
          <p:cNvSpPr txBox="1"/>
          <p:nvPr/>
        </p:nvSpPr>
        <p:spPr>
          <a:xfrm>
            <a:off x="3585898" y="1627023"/>
            <a:ext cx="3382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4. Report sampling ratio(reply)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5D19B0A-7D5C-C7D5-FDE1-506AC5F3E8BD}"/>
              </a:ext>
            </a:extLst>
          </p:cNvPr>
          <p:cNvSpPr txBox="1"/>
          <p:nvPr/>
        </p:nvSpPr>
        <p:spPr>
          <a:xfrm>
            <a:off x="9697406" y="1280084"/>
            <a:ext cx="2494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5. Sampling with ratio</a:t>
            </a: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78D10311-2D95-3C00-741E-6EC981B6F811}"/>
              </a:ext>
            </a:extLst>
          </p:cNvPr>
          <p:cNvSpPr/>
          <p:nvPr/>
        </p:nvSpPr>
        <p:spPr>
          <a:xfrm>
            <a:off x="7429843" y="2602234"/>
            <a:ext cx="351385" cy="41249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3</a:t>
            </a:r>
            <a:endParaRPr lang="ko-KR" altLang="en-US" sz="3200" dirty="0"/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9F77AC67-278B-F5A0-C933-1418B2D24417}"/>
              </a:ext>
            </a:extLst>
          </p:cNvPr>
          <p:cNvSpPr/>
          <p:nvPr/>
        </p:nvSpPr>
        <p:spPr>
          <a:xfrm>
            <a:off x="8913834" y="2600774"/>
            <a:ext cx="351385" cy="41249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8</a:t>
            </a:r>
            <a:endParaRPr lang="ko-KR" altLang="en-US" sz="3200" dirty="0"/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31796188-C4A9-2317-8F36-4A2D0552A30E}"/>
              </a:ext>
            </a:extLst>
          </p:cNvPr>
          <p:cNvSpPr/>
          <p:nvPr/>
        </p:nvSpPr>
        <p:spPr>
          <a:xfrm>
            <a:off x="8562449" y="4287324"/>
            <a:ext cx="351385" cy="41249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4</a:t>
            </a:r>
            <a:endParaRPr lang="ko-KR" altLang="en-US" sz="3200" dirty="0"/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A528B6B2-DB4B-2D6C-2AAC-F258BA5DF4EC}"/>
              </a:ext>
            </a:extLst>
          </p:cNvPr>
          <p:cNvSpPr/>
          <p:nvPr/>
        </p:nvSpPr>
        <p:spPr>
          <a:xfrm>
            <a:off x="9267876" y="4287324"/>
            <a:ext cx="351385" cy="41249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9</a:t>
            </a:r>
            <a:endParaRPr lang="ko-KR" altLang="en-US" sz="3200" dirty="0"/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F04BB0D8-3D5F-ED1D-DB4A-92D59F4E501D}"/>
              </a:ext>
            </a:extLst>
          </p:cNvPr>
          <p:cNvSpPr/>
          <p:nvPr/>
        </p:nvSpPr>
        <p:spPr>
          <a:xfrm>
            <a:off x="7778584" y="6085120"/>
            <a:ext cx="351385" cy="41249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17</a:t>
            </a:r>
            <a:endParaRPr lang="ko-KR" altLang="en-US" sz="3200" dirty="0"/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9117451F-FB4A-5E61-6078-5B0406EBD79D}"/>
              </a:ext>
            </a:extLst>
          </p:cNvPr>
          <p:cNvSpPr/>
          <p:nvPr/>
        </p:nvSpPr>
        <p:spPr>
          <a:xfrm>
            <a:off x="8913833" y="6084429"/>
            <a:ext cx="351385" cy="41249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12</a:t>
            </a:r>
            <a:endParaRPr lang="ko-KR" altLang="en-US" sz="3200" dirty="0"/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FA15F6B9-CA3F-B1DD-C8D4-A307DF6F2C7E}"/>
              </a:ext>
            </a:extLst>
          </p:cNvPr>
          <p:cNvSpPr/>
          <p:nvPr/>
        </p:nvSpPr>
        <p:spPr>
          <a:xfrm>
            <a:off x="4882288" y="2502871"/>
            <a:ext cx="351385" cy="412490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3</a:t>
            </a:r>
            <a:endParaRPr lang="ko-KR" altLang="en-US" sz="3200" dirty="0"/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01E73CCD-2AF5-CAE5-47A9-DA1A1C1BC215}"/>
              </a:ext>
            </a:extLst>
          </p:cNvPr>
          <p:cNvSpPr/>
          <p:nvPr/>
        </p:nvSpPr>
        <p:spPr>
          <a:xfrm>
            <a:off x="5277322" y="2383739"/>
            <a:ext cx="351385" cy="412490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8</a:t>
            </a:r>
            <a:endParaRPr lang="ko-KR" altLang="en-US" sz="3200" dirty="0"/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46CD156E-6E58-27E0-68E7-4E1D2FAC92C8}"/>
              </a:ext>
            </a:extLst>
          </p:cNvPr>
          <p:cNvSpPr/>
          <p:nvPr/>
        </p:nvSpPr>
        <p:spPr>
          <a:xfrm>
            <a:off x="4900152" y="3441503"/>
            <a:ext cx="351385" cy="412490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4</a:t>
            </a:r>
            <a:endParaRPr lang="ko-KR" altLang="en-US" sz="3200" dirty="0"/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AE4E4348-203D-1008-E7AC-F164C81159A8}"/>
              </a:ext>
            </a:extLst>
          </p:cNvPr>
          <p:cNvSpPr/>
          <p:nvPr/>
        </p:nvSpPr>
        <p:spPr>
          <a:xfrm>
            <a:off x="5298766" y="3436765"/>
            <a:ext cx="351385" cy="412490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9</a:t>
            </a:r>
            <a:endParaRPr lang="ko-KR" altLang="en-US" sz="3200" dirty="0"/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FFA1B887-558A-393E-C8FB-7B1C8E9B6122}"/>
              </a:ext>
            </a:extLst>
          </p:cNvPr>
          <p:cNvSpPr/>
          <p:nvPr/>
        </p:nvSpPr>
        <p:spPr>
          <a:xfrm>
            <a:off x="4935555" y="4403071"/>
            <a:ext cx="351385" cy="412490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17</a:t>
            </a:r>
            <a:endParaRPr lang="ko-KR" altLang="en-US" sz="3200" dirty="0"/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9E7452F2-78EF-05C2-AE01-B8202016AD23}"/>
              </a:ext>
            </a:extLst>
          </p:cNvPr>
          <p:cNvSpPr/>
          <p:nvPr/>
        </p:nvSpPr>
        <p:spPr>
          <a:xfrm>
            <a:off x="5322137" y="4503049"/>
            <a:ext cx="351385" cy="412490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12</a:t>
            </a:r>
            <a:endParaRPr lang="ko-KR" altLang="en-US" sz="3200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0CDCC57B-D875-DF4C-356C-DABB61C4D852}"/>
              </a:ext>
            </a:extLst>
          </p:cNvPr>
          <p:cNvSpPr txBox="1"/>
          <p:nvPr/>
        </p:nvSpPr>
        <p:spPr>
          <a:xfrm>
            <a:off x="3520041" y="1616428"/>
            <a:ext cx="3557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6. Report sampled keys(request)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DD3A12F9-8CBE-9D41-FF1C-D6F191E48A19}"/>
              </a:ext>
            </a:extLst>
          </p:cNvPr>
          <p:cNvSpPr txBox="1"/>
          <p:nvPr/>
        </p:nvSpPr>
        <p:spPr>
          <a:xfrm>
            <a:off x="979148" y="4397990"/>
            <a:ext cx="1817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7. Create pivots</a:t>
            </a: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9B3BBF61-396E-35C9-0F0E-EF23B36BD0A5}"/>
              </a:ext>
            </a:extLst>
          </p:cNvPr>
          <p:cNvSpPr/>
          <p:nvPr/>
        </p:nvSpPr>
        <p:spPr>
          <a:xfrm>
            <a:off x="892722" y="4917632"/>
            <a:ext cx="351385" cy="412490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3</a:t>
            </a:r>
            <a:endParaRPr lang="ko-KR" altLang="en-US" sz="3200" dirty="0"/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68E84C7E-8419-0EF8-8FE6-2E77CCF911DC}"/>
              </a:ext>
            </a:extLst>
          </p:cNvPr>
          <p:cNvSpPr/>
          <p:nvPr/>
        </p:nvSpPr>
        <p:spPr>
          <a:xfrm>
            <a:off x="1304369" y="4917632"/>
            <a:ext cx="351385" cy="412490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4</a:t>
            </a:r>
            <a:endParaRPr lang="ko-KR" altLang="en-US" sz="3200" dirty="0"/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A7B24A09-81E6-F863-E386-073492927A33}"/>
              </a:ext>
            </a:extLst>
          </p:cNvPr>
          <p:cNvSpPr/>
          <p:nvPr/>
        </p:nvSpPr>
        <p:spPr>
          <a:xfrm>
            <a:off x="1716016" y="4917632"/>
            <a:ext cx="351385" cy="41249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8</a:t>
            </a:r>
            <a:endParaRPr lang="ko-KR" altLang="en-US" sz="3200" dirty="0"/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5154C668-DEA0-BB8A-C847-6CB801751B2D}"/>
              </a:ext>
            </a:extLst>
          </p:cNvPr>
          <p:cNvSpPr/>
          <p:nvPr/>
        </p:nvSpPr>
        <p:spPr>
          <a:xfrm>
            <a:off x="2127663" y="4917632"/>
            <a:ext cx="351385" cy="412490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9</a:t>
            </a:r>
            <a:endParaRPr lang="ko-KR" altLang="en-US" sz="3200" dirty="0"/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63DBD771-26A8-5D66-3B25-709FCF8AA251}"/>
              </a:ext>
            </a:extLst>
          </p:cNvPr>
          <p:cNvSpPr/>
          <p:nvPr/>
        </p:nvSpPr>
        <p:spPr>
          <a:xfrm>
            <a:off x="2539310" y="4917632"/>
            <a:ext cx="351385" cy="41249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12</a:t>
            </a:r>
            <a:endParaRPr lang="ko-KR" altLang="en-US" sz="3200" dirty="0"/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B9691B3E-61E5-ECA1-4BF7-436D31FF8166}"/>
              </a:ext>
            </a:extLst>
          </p:cNvPr>
          <p:cNvSpPr/>
          <p:nvPr/>
        </p:nvSpPr>
        <p:spPr>
          <a:xfrm>
            <a:off x="2950959" y="4917632"/>
            <a:ext cx="351385" cy="412490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17</a:t>
            </a:r>
            <a:endParaRPr lang="ko-KR" altLang="en-US" sz="3200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9491D771-BC51-0C85-397D-2E8D9AD65B0D}"/>
              </a:ext>
            </a:extLst>
          </p:cNvPr>
          <p:cNvSpPr txBox="1"/>
          <p:nvPr/>
        </p:nvSpPr>
        <p:spPr>
          <a:xfrm>
            <a:off x="3921891" y="1618514"/>
            <a:ext cx="2501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8. Report pivots(reply)</a:t>
            </a: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9587C768-FBE6-EFB5-0A53-643EAFDECC1A}"/>
              </a:ext>
            </a:extLst>
          </p:cNvPr>
          <p:cNvSpPr/>
          <p:nvPr/>
        </p:nvSpPr>
        <p:spPr>
          <a:xfrm>
            <a:off x="4904928" y="4135694"/>
            <a:ext cx="351385" cy="41249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8</a:t>
            </a:r>
            <a:endParaRPr lang="ko-KR" altLang="en-US" sz="3200" dirty="0"/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34ED61CB-52DB-2EAE-5703-3B8500257A51}"/>
              </a:ext>
            </a:extLst>
          </p:cNvPr>
          <p:cNvSpPr/>
          <p:nvPr/>
        </p:nvSpPr>
        <p:spPr>
          <a:xfrm>
            <a:off x="5309510" y="4135694"/>
            <a:ext cx="351385" cy="41249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12</a:t>
            </a:r>
            <a:endParaRPr lang="ko-KR" altLang="en-US" sz="3200" dirty="0"/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AC1391D7-69A2-75DD-AA3F-0A10D89F3770}"/>
              </a:ext>
            </a:extLst>
          </p:cNvPr>
          <p:cNvSpPr/>
          <p:nvPr/>
        </p:nvSpPr>
        <p:spPr>
          <a:xfrm>
            <a:off x="4904928" y="3240464"/>
            <a:ext cx="351385" cy="41249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8</a:t>
            </a:r>
            <a:endParaRPr lang="ko-KR" altLang="en-US" sz="3200" dirty="0"/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5F6770C2-1B81-C0D3-DAC9-4DD267A487C9}"/>
              </a:ext>
            </a:extLst>
          </p:cNvPr>
          <p:cNvSpPr/>
          <p:nvPr/>
        </p:nvSpPr>
        <p:spPr>
          <a:xfrm>
            <a:off x="5314071" y="3094796"/>
            <a:ext cx="351385" cy="41249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12</a:t>
            </a:r>
            <a:endParaRPr lang="ko-KR" altLang="en-US" sz="3200" dirty="0"/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AF3A93D2-4C34-EB3C-96AF-F4D69F3284D3}"/>
              </a:ext>
            </a:extLst>
          </p:cNvPr>
          <p:cNvSpPr/>
          <p:nvPr/>
        </p:nvSpPr>
        <p:spPr>
          <a:xfrm>
            <a:off x="4909638" y="5159634"/>
            <a:ext cx="351385" cy="41249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8</a:t>
            </a:r>
            <a:endParaRPr lang="ko-KR" altLang="en-US" sz="3200" dirty="0"/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E062DBCA-272F-8BE7-DF7C-7A792066DFF4}"/>
              </a:ext>
            </a:extLst>
          </p:cNvPr>
          <p:cNvSpPr/>
          <p:nvPr/>
        </p:nvSpPr>
        <p:spPr>
          <a:xfrm>
            <a:off x="5322136" y="5248359"/>
            <a:ext cx="351385" cy="41249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12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086641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76" grpId="0"/>
      <p:bldP spid="78" grpId="0"/>
      <p:bldP spid="79" grpId="0"/>
      <p:bldP spid="80" grpId="0"/>
      <p:bldP spid="81" grpId="0"/>
      <p:bldP spid="82" grpId="0"/>
      <p:bldP spid="83" grpId="0"/>
      <p:bldP spid="85" grpId="0"/>
      <p:bldP spid="85" grpId="1"/>
      <p:bldP spid="86" grpId="0"/>
      <p:bldP spid="86" grpId="1"/>
      <p:bldP spid="87" grpId="0"/>
      <p:bldP spid="87" grpId="1"/>
      <p:bldP spid="88" grpId="0"/>
      <p:bldP spid="88" grpId="1"/>
      <p:bldP spid="89" grpId="0"/>
      <p:bldP spid="89" grpId="1"/>
      <p:bldP spid="90" grpId="0"/>
      <p:bldP spid="90" grpId="1"/>
      <p:bldP spid="91" grpId="0"/>
      <p:bldP spid="91" grpId="1"/>
      <p:bldP spid="92" grpId="0"/>
      <p:bldP spid="92" grpId="1"/>
      <p:bldP spid="93" grpId="0"/>
      <p:bldP spid="93" grpId="1"/>
      <p:bldP spid="94" grpId="0"/>
      <p:bldP spid="94" grpId="1"/>
      <p:bldP spid="95" grpId="0"/>
      <p:bldP spid="95" grpId="1"/>
      <p:bldP spid="96" grpId="0"/>
      <p:bldP spid="96" grpId="1"/>
      <p:bldP spid="97" grpId="0"/>
      <p:bldP spid="97" grpId="1"/>
      <p:bldP spid="98" grpId="0"/>
      <p:bldP spid="98" grpId="1"/>
      <p:bldP spid="100" grpId="0" animBg="1"/>
      <p:bldP spid="100" grpId="1" animBg="1"/>
      <p:bldP spid="101" grpId="0" animBg="1"/>
      <p:bldP spid="101" grpId="1" animBg="1"/>
      <p:bldP spid="102" grpId="0" animBg="1"/>
      <p:bldP spid="102" grpId="1" animBg="1"/>
      <p:bldP spid="103" grpId="0" animBg="1"/>
      <p:bldP spid="103" grpId="1" animBg="1"/>
      <p:bldP spid="104" grpId="0" animBg="1"/>
      <p:bldP spid="104" grpId="1" animBg="1"/>
      <p:bldP spid="105" grpId="0" animBg="1"/>
      <p:bldP spid="105" grpId="1" animBg="1"/>
      <p:bldP spid="106" grpId="0" animBg="1"/>
      <p:bldP spid="106" grpId="1" animBg="1"/>
      <p:bldP spid="107" grpId="0" animBg="1"/>
      <p:bldP spid="107" grpId="1" animBg="1"/>
      <p:bldP spid="108" grpId="0" animBg="1"/>
      <p:bldP spid="108" grpId="1" animBg="1"/>
      <p:bldP spid="109" grpId="0" animBg="1"/>
      <p:bldP spid="109" grpId="1" animBg="1"/>
      <p:bldP spid="110" grpId="0" animBg="1"/>
      <p:bldP spid="110" grpId="1" animBg="1"/>
      <p:bldP spid="111" grpId="0" animBg="1"/>
      <p:bldP spid="111" grpId="1" animBg="1"/>
      <p:bldP spid="112" grpId="0"/>
      <p:bldP spid="112" grpId="1"/>
      <p:bldP spid="113" grpId="0"/>
      <p:bldP spid="113" grpId="1"/>
      <p:bldP spid="114" grpId="0" animBg="1"/>
      <p:bldP spid="114" grpId="1" animBg="1"/>
      <p:bldP spid="115" grpId="0" animBg="1"/>
      <p:bldP spid="115" grpId="1" animBg="1"/>
      <p:bldP spid="116" grpId="0" animBg="1"/>
      <p:bldP spid="116" grpId="1" animBg="1"/>
      <p:bldP spid="117" grpId="0" animBg="1"/>
      <p:bldP spid="117" grpId="1" animBg="1"/>
      <p:bldP spid="118" grpId="0" animBg="1"/>
      <p:bldP spid="118" grpId="1" animBg="1"/>
      <p:bldP spid="119" grpId="0" animBg="1"/>
      <p:bldP spid="119" grpId="1" animBg="1"/>
      <p:bldP spid="120" grpId="0"/>
      <p:bldP spid="121" grpId="0" animBg="1"/>
      <p:bldP spid="122" grpId="0" animBg="1"/>
      <p:bldP spid="124" grpId="0" animBg="1"/>
      <p:bldP spid="125" grpId="0" animBg="1"/>
      <p:bldP spid="126" grpId="0" animBg="1"/>
      <p:bldP spid="1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1414F2-954B-47CC-AF79-7F9FD153F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1003"/>
          </a:xfrm>
        </p:spPr>
        <p:txBody>
          <a:bodyPr/>
          <a:lstStyle/>
          <a:p>
            <a:r>
              <a:rPr lang="en-US" altLang="ko-KR" dirty="0"/>
              <a:t>Sort/Partition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74030C-A5C7-4D38-81BB-15763C0516B4}"/>
              </a:ext>
            </a:extLst>
          </p:cNvPr>
          <p:cNvSpPr txBox="1"/>
          <p:nvPr/>
        </p:nvSpPr>
        <p:spPr>
          <a:xfrm>
            <a:off x="0" y="1365291"/>
            <a:ext cx="3675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Ordering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C197B78-5140-43C7-A213-3F5906B6904C}"/>
              </a:ext>
            </a:extLst>
          </p:cNvPr>
          <p:cNvSpPr/>
          <p:nvPr/>
        </p:nvSpPr>
        <p:spPr>
          <a:xfrm>
            <a:off x="112815" y="1749891"/>
            <a:ext cx="2743201" cy="3660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6F1C5C-5669-4ED8-AFA2-DA017EA664F7}"/>
              </a:ext>
            </a:extLst>
          </p:cNvPr>
          <p:cNvSpPr txBox="1"/>
          <p:nvPr/>
        </p:nvSpPr>
        <p:spPr>
          <a:xfrm>
            <a:off x="11876" y="1749891"/>
            <a:ext cx="28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defghrekfjgnsoaufngieo</a:t>
            </a:r>
            <a:r>
              <a:rPr lang="en-US" altLang="ko-KR" dirty="0"/>
              <a:t>...</a:t>
            </a:r>
            <a:endParaRPr lang="ko-KR" altLang="en-US" dirty="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80FCF48D-52AB-4C9F-AF7B-8947C16A7917}"/>
              </a:ext>
            </a:extLst>
          </p:cNvPr>
          <p:cNvCxnSpPr/>
          <p:nvPr/>
        </p:nvCxnSpPr>
        <p:spPr>
          <a:xfrm>
            <a:off x="2935184" y="2239695"/>
            <a:ext cx="0" cy="2956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D370890-0DBF-49F4-A321-88A28C6EF30A}"/>
              </a:ext>
            </a:extLst>
          </p:cNvPr>
          <p:cNvSpPr/>
          <p:nvPr/>
        </p:nvSpPr>
        <p:spPr>
          <a:xfrm>
            <a:off x="112815" y="2659771"/>
            <a:ext cx="2743202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49A2720-1522-4E85-A192-4DD5469C48EF}"/>
              </a:ext>
            </a:extLst>
          </p:cNvPr>
          <p:cNvSpPr/>
          <p:nvPr/>
        </p:nvSpPr>
        <p:spPr>
          <a:xfrm>
            <a:off x="3090554" y="2650010"/>
            <a:ext cx="2707573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17CE50-BCFF-411B-A48C-89A81577A2DD}"/>
              </a:ext>
            </a:extLst>
          </p:cNvPr>
          <p:cNvSpPr txBox="1"/>
          <p:nvPr/>
        </p:nvSpPr>
        <p:spPr>
          <a:xfrm>
            <a:off x="3007426" y="2670217"/>
            <a:ext cx="2873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highlight>
                  <a:srgbClr val="FFFF00"/>
                </a:highlight>
              </a:rPr>
              <a:t>asdggdkgnj</a:t>
            </a:r>
            <a:r>
              <a:rPr lang="en-US" altLang="ko-KR" dirty="0" err="1"/>
              <a:t>hkdngimfkf</a:t>
            </a:r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E693EB-36DC-4F82-B6B0-CA8A4FA52E4F}"/>
              </a:ext>
            </a:extLst>
          </p:cNvPr>
          <p:cNvSpPr txBox="1"/>
          <p:nvPr/>
        </p:nvSpPr>
        <p:spPr>
          <a:xfrm>
            <a:off x="43542" y="2670217"/>
            <a:ext cx="2844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highlight>
                  <a:srgbClr val="FFFF00"/>
                </a:highlight>
              </a:rPr>
              <a:t>defghrekfj</a:t>
            </a:r>
            <a:r>
              <a:rPr lang="en-US" altLang="ko-KR" dirty="0" err="1"/>
              <a:t>gnsoaufngieo</a:t>
            </a:r>
            <a:r>
              <a:rPr lang="en-US" altLang="ko-KR" dirty="0"/>
              <a:t>...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95FEE27-0300-494C-8386-769CE58651B7}"/>
              </a:ext>
            </a:extLst>
          </p:cNvPr>
          <p:cNvSpPr/>
          <p:nvPr/>
        </p:nvSpPr>
        <p:spPr>
          <a:xfrm>
            <a:off x="3054926" y="1762364"/>
            <a:ext cx="2743201" cy="3660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E3E33A-E843-43B8-B4A0-11D171FEB1D0}"/>
              </a:ext>
            </a:extLst>
          </p:cNvPr>
          <p:cNvSpPr txBox="1"/>
          <p:nvPr/>
        </p:nvSpPr>
        <p:spPr>
          <a:xfrm>
            <a:off x="2956954" y="1762364"/>
            <a:ext cx="2909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asdggdkgnjhkdngimfkf</a:t>
            </a:r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6B861B1-FDB3-43F6-AC84-83EDA9E90BD2}"/>
              </a:ext>
            </a:extLst>
          </p:cNvPr>
          <p:cNvSpPr/>
          <p:nvPr/>
        </p:nvSpPr>
        <p:spPr>
          <a:xfrm>
            <a:off x="112815" y="3849651"/>
            <a:ext cx="2743201" cy="3660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D21082E-DEF1-4C72-BC2D-1CF42876D90E}"/>
              </a:ext>
            </a:extLst>
          </p:cNvPr>
          <p:cNvSpPr/>
          <p:nvPr/>
        </p:nvSpPr>
        <p:spPr>
          <a:xfrm>
            <a:off x="3090554" y="3849651"/>
            <a:ext cx="2743201" cy="3660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DC87FB7-6108-4777-8BFF-842C161DE4DB}"/>
              </a:ext>
            </a:extLst>
          </p:cNvPr>
          <p:cNvSpPr txBox="1"/>
          <p:nvPr/>
        </p:nvSpPr>
        <p:spPr>
          <a:xfrm>
            <a:off x="43542" y="3870757"/>
            <a:ext cx="29460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asdggdkgnjhkdngimfkf</a:t>
            </a:r>
            <a:r>
              <a:rPr lang="en-US" altLang="ko-KR" dirty="0"/>
              <a:t>…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8AE7146-9D3A-47F9-ACB3-8B84F9C9763A}"/>
              </a:ext>
            </a:extLst>
          </p:cNvPr>
          <p:cNvSpPr txBox="1"/>
          <p:nvPr/>
        </p:nvSpPr>
        <p:spPr>
          <a:xfrm>
            <a:off x="3020289" y="3849761"/>
            <a:ext cx="28124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defghrekfjgnsoaufngieo</a:t>
            </a:r>
            <a:r>
              <a:rPr lang="en-US" altLang="ko-KR" dirty="0"/>
              <a:t>...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FBA7A4E-ABAB-40E6-814A-56F901BFB8CF}"/>
              </a:ext>
            </a:extLst>
          </p:cNvPr>
          <p:cNvSpPr txBox="1"/>
          <p:nvPr/>
        </p:nvSpPr>
        <p:spPr>
          <a:xfrm>
            <a:off x="6203646" y="1331691"/>
            <a:ext cx="2743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2. Partition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8D3F1A96-B3D6-4FA5-A52B-1A7DE03339E1}"/>
              </a:ext>
            </a:extLst>
          </p:cNvPr>
          <p:cNvSpPr/>
          <p:nvPr/>
        </p:nvSpPr>
        <p:spPr>
          <a:xfrm>
            <a:off x="6368979" y="1705282"/>
            <a:ext cx="397823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2C51D0CC-4F1F-4668-A29E-5FACE0871254}"/>
              </a:ext>
            </a:extLst>
          </p:cNvPr>
          <p:cNvSpPr/>
          <p:nvPr/>
        </p:nvSpPr>
        <p:spPr>
          <a:xfrm>
            <a:off x="7024721" y="1697941"/>
            <a:ext cx="397823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EB900051-DA7C-45BA-B4B1-908EF7FCD157}"/>
              </a:ext>
            </a:extLst>
          </p:cNvPr>
          <p:cNvSpPr/>
          <p:nvPr/>
        </p:nvSpPr>
        <p:spPr>
          <a:xfrm>
            <a:off x="7752601" y="1710796"/>
            <a:ext cx="397823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B7ED30DF-43DD-4EDD-9BAF-3EC70C7F17B3}"/>
              </a:ext>
            </a:extLst>
          </p:cNvPr>
          <p:cNvSpPr/>
          <p:nvPr/>
        </p:nvSpPr>
        <p:spPr>
          <a:xfrm>
            <a:off x="9260783" y="1699114"/>
            <a:ext cx="397823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467866AF-A40E-44DA-871D-5BF5F7238781}"/>
              </a:ext>
            </a:extLst>
          </p:cNvPr>
          <p:cNvSpPr/>
          <p:nvPr/>
        </p:nvSpPr>
        <p:spPr>
          <a:xfrm>
            <a:off x="10057206" y="1705282"/>
            <a:ext cx="397823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3217A523-F570-47CA-94F0-E1446B751915}"/>
              </a:ext>
            </a:extLst>
          </p:cNvPr>
          <p:cNvCxnSpPr/>
          <p:nvPr/>
        </p:nvCxnSpPr>
        <p:spPr>
          <a:xfrm>
            <a:off x="2935184" y="3158836"/>
            <a:ext cx="0" cy="433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B1651951-84F0-4E7C-82B4-26D2966C8FE2}"/>
              </a:ext>
            </a:extLst>
          </p:cNvPr>
          <p:cNvSpPr txBox="1"/>
          <p:nvPr/>
        </p:nvSpPr>
        <p:spPr>
          <a:xfrm>
            <a:off x="6260024" y="2350715"/>
            <a:ext cx="2006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Pivot(0&lt; n &lt;= 1 )</a:t>
            </a:r>
            <a:endParaRPr lang="ko-KR" altLang="en-US" dirty="0"/>
          </a:p>
        </p:txBody>
      </p: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235517AD-CCD9-496B-B34D-D8ABC5C6F6A4}"/>
              </a:ext>
            </a:extLst>
          </p:cNvPr>
          <p:cNvCxnSpPr/>
          <p:nvPr/>
        </p:nvCxnSpPr>
        <p:spPr>
          <a:xfrm>
            <a:off x="8345452" y="2497382"/>
            <a:ext cx="0" cy="3247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7022DB5F-7993-4157-9FD8-B2DCAB88B27D}"/>
              </a:ext>
            </a:extLst>
          </p:cNvPr>
          <p:cNvSpPr/>
          <p:nvPr/>
        </p:nvSpPr>
        <p:spPr>
          <a:xfrm>
            <a:off x="6365168" y="3055161"/>
            <a:ext cx="397823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AAB6EF8D-79F1-415C-9A06-44A0651C20E5}"/>
              </a:ext>
            </a:extLst>
          </p:cNvPr>
          <p:cNvSpPr/>
          <p:nvPr/>
        </p:nvSpPr>
        <p:spPr>
          <a:xfrm>
            <a:off x="9095999" y="3051262"/>
            <a:ext cx="397823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F1D255BA-6DD2-4197-BCAC-E5BEB2BADBCB}"/>
              </a:ext>
            </a:extLst>
          </p:cNvPr>
          <p:cNvSpPr/>
          <p:nvPr/>
        </p:nvSpPr>
        <p:spPr>
          <a:xfrm>
            <a:off x="8414147" y="3066811"/>
            <a:ext cx="397823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68CC2827-3CDC-4ACC-A284-E1B5D53D1EAF}"/>
              </a:ext>
            </a:extLst>
          </p:cNvPr>
          <p:cNvSpPr/>
          <p:nvPr/>
        </p:nvSpPr>
        <p:spPr>
          <a:xfrm>
            <a:off x="7732295" y="3066811"/>
            <a:ext cx="397823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D29F15DE-E03A-4983-A3BA-23363609D5B8}"/>
              </a:ext>
            </a:extLst>
          </p:cNvPr>
          <p:cNvSpPr/>
          <p:nvPr/>
        </p:nvSpPr>
        <p:spPr>
          <a:xfrm>
            <a:off x="7052425" y="3072386"/>
            <a:ext cx="397823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92EA017C-B7BA-4322-BC0A-514DF7C417BB}"/>
              </a:ext>
            </a:extLst>
          </p:cNvPr>
          <p:cNvSpPr txBox="1"/>
          <p:nvPr/>
        </p:nvSpPr>
        <p:spPr>
          <a:xfrm>
            <a:off x="6685848" y="2044393"/>
            <a:ext cx="813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check</a:t>
            </a:r>
            <a:endParaRPr lang="ko-KR" altLang="en-US" dirty="0"/>
          </a:p>
        </p:txBody>
      </p: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01E99C13-2A0F-4C9E-BC1D-AB0A4C2E5A13}"/>
              </a:ext>
            </a:extLst>
          </p:cNvPr>
          <p:cNvCxnSpPr>
            <a:cxnSpLocks/>
          </p:cNvCxnSpPr>
          <p:nvPr/>
        </p:nvCxnSpPr>
        <p:spPr>
          <a:xfrm flipV="1">
            <a:off x="6564913" y="2097373"/>
            <a:ext cx="1" cy="2761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CA5A716E-BBD7-4221-B4E0-B9BBE4F14016}"/>
              </a:ext>
            </a:extLst>
          </p:cNvPr>
          <p:cNvSpPr txBox="1"/>
          <p:nvPr/>
        </p:nvSpPr>
        <p:spPr>
          <a:xfrm>
            <a:off x="6248118" y="3746112"/>
            <a:ext cx="2006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Pivot(0&lt; n &lt;= 1 )</a:t>
            </a:r>
            <a:endParaRPr lang="ko-KR" altLang="en-US" dirty="0"/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9AF5EC40-28E2-4013-A79D-9FE78395CA29}"/>
              </a:ext>
            </a:extLst>
          </p:cNvPr>
          <p:cNvSpPr/>
          <p:nvPr/>
        </p:nvSpPr>
        <p:spPr>
          <a:xfrm>
            <a:off x="6335473" y="4437242"/>
            <a:ext cx="397823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274A4755-5A37-4402-95DD-93A9A37E0890}"/>
              </a:ext>
            </a:extLst>
          </p:cNvPr>
          <p:cNvSpPr/>
          <p:nvPr/>
        </p:nvSpPr>
        <p:spPr>
          <a:xfrm>
            <a:off x="7064330" y="4419838"/>
            <a:ext cx="397823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3FBBE861-18F4-40F4-9F0E-52847CB05172}"/>
              </a:ext>
            </a:extLst>
          </p:cNvPr>
          <p:cNvSpPr/>
          <p:nvPr/>
        </p:nvSpPr>
        <p:spPr>
          <a:xfrm>
            <a:off x="7732294" y="4412505"/>
            <a:ext cx="397823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4C9FF501-38DC-4FCF-9769-3F4B358B72E2}"/>
              </a:ext>
            </a:extLst>
          </p:cNvPr>
          <p:cNvSpPr/>
          <p:nvPr/>
        </p:nvSpPr>
        <p:spPr>
          <a:xfrm>
            <a:off x="8414146" y="4412505"/>
            <a:ext cx="397823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FBF7685D-AF5C-4DF7-B44B-BB968337C927}"/>
              </a:ext>
            </a:extLst>
          </p:cNvPr>
          <p:cNvSpPr/>
          <p:nvPr/>
        </p:nvSpPr>
        <p:spPr>
          <a:xfrm>
            <a:off x="9095999" y="4419838"/>
            <a:ext cx="397823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666FE505-044A-4EF9-8D7F-28C0290D7229}"/>
              </a:ext>
            </a:extLst>
          </p:cNvPr>
          <p:cNvSpPr txBox="1"/>
          <p:nvPr/>
        </p:nvSpPr>
        <p:spPr>
          <a:xfrm>
            <a:off x="6335473" y="5141509"/>
            <a:ext cx="2006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Pivot(1&lt; n &lt;= 2 )</a:t>
            </a:r>
            <a:endParaRPr lang="ko-KR" altLang="en-US" dirty="0"/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CEF05C8D-0154-4720-9947-DEFC1D1DB1F6}"/>
              </a:ext>
            </a:extLst>
          </p:cNvPr>
          <p:cNvSpPr/>
          <p:nvPr/>
        </p:nvSpPr>
        <p:spPr>
          <a:xfrm>
            <a:off x="8637955" y="3660944"/>
            <a:ext cx="1305450" cy="5006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22FD2224-1FAB-4202-8B01-95A8AE732BAA}"/>
              </a:ext>
            </a:extLst>
          </p:cNvPr>
          <p:cNvSpPr/>
          <p:nvPr/>
        </p:nvSpPr>
        <p:spPr>
          <a:xfrm>
            <a:off x="8637068" y="2321528"/>
            <a:ext cx="1305447" cy="5006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CDA901CB-7B50-4F50-8089-5739A7B1E597}"/>
              </a:ext>
            </a:extLst>
          </p:cNvPr>
          <p:cNvSpPr txBox="1"/>
          <p:nvPr/>
        </p:nvSpPr>
        <p:spPr>
          <a:xfrm>
            <a:off x="8637068" y="3612632"/>
            <a:ext cx="13054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  File #1</a:t>
            </a:r>
          </a:p>
          <a:p>
            <a:r>
              <a:rPr lang="en-US" altLang="ko-KR" dirty="0"/>
              <a:t>      1</a:t>
            </a:r>
            <a:endParaRPr lang="ko-KR" altLang="en-US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835683D1-AE51-4792-B4F5-CFE7FEA8FCFA}"/>
              </a:ext>
            </a:extLst>
          </p:cNvPr>
          <p:cNvSpPr txBox="1"/>
          <p:nvPr/>
        </p:nvSpPr>
        <p:spPr>
          <a:xfrm>
            <a:off x="8600138" y="2299197"/>
            <a:ext cx="1309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  File #1</a:t>
            </a:r>
            <a:endParaRPr lang="ko-KR" altLang="en-US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123A3A75-8DB0-48B4-B049-4692633EFD76}"/>
              </a:ext>
            </a:extLst>
          </p:cNvPr>
          <p:cNvSpPr txBox="1"/>
          <p:nvPr/>
        </p:nvSpPr>
        <p:spPr>
          <a:xfrm>
            <a:off x="6678392" y="3440714"/>
            <a:ext cx="813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check</a:t>
            </a:r>
            <a:endParaRPr lang="ko-KR" altLang="en-US" dirty="0"/>
          </a:p>
        </p:txBody>
      </p:sp>
      <p:cxnSp>
        <p:nvCxnSpPr>
          <p:cNvPr id="131" name="직선 화살표 연결선 130">
            <a:extLst>
              <a:ext uri="{FF2B5EF4-FFF2-40B4-BE49-F238E27FC236}">
                <a16:creationId xmlns:a16="http://schemas.microsoft.com/office/drawing/2014/main" id="{01CD13AD-6934-4955-82BE-6D167D165C1C}"/>
              </a:ext>
            </a:extLst>
          </p:cNvPr>
          <p:cNvCxnSpPr/>
          <p:nvPr/>
        </p:nvCxnSpPr>
        <p:spPr>
          <a:xfrm flipV="1">
            <a:off x="6564079" y="3480673"/>
            <a:ext cx="1" cy="2761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E3A851E8-D4E8-4083-876A-6D9C5BF4BF56}"/>
              </a:ext>
            </a:extLst>
          </p:cNvPr>
          <p:cNvSpPr/>
          <p:nvPr/>
        </p:nvSpPr>
        <p:spPr>
          <a:xfrm>
            <a:off x="8464360" y="1715753"/>
            <a:ext cx="397823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cxnSp>
        <p:nvCxnSpPr>
          <p:cNvPr id="133" name="직선 화살표 연결선 132">
            <a:extLst>
              <a:ext uri="{FF2B5EF4-FFF2-40B4-BE49-F238E27FC236}">
                <a16:creationId xmlns:a16="http://schemas.microsoft.com/office/drawing/2014/main" id="{6B6798E7-1C43-4E82-88C1-8495E7B6CF3E}"/>
              </a:ext>
            </a:extLst>
          </p:cNvPr>
          <p:cNvCxnSpPr/>
          <p:nvPr/>
        </p:nvCxnSpPr>
        <p:spPr>
          <a:xfrm>
            <a:off x="8345452" y="3870307"/>
            <a:ext cx="0" cy="3247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화살표 연결선 133">
            <a:extLst>
              <a:ext uri="{FF2B5EF4-FFF2-40B4-BE49-F238E27FC236}">
                <a16:creationId xmlns:a16="http://schemas.microsoft.com/office/drawing/2014/main" id="{445B6D84-B073-48EF-B01B-80A2C620795E}"/>
              </a:ext>
            </a:extLst>
          </p:cNvPr>
          <p:cNvCxnSpPr/>
          <p:nvPr/>
        </p:nvCxnSpPr>
        <p:spPr>
          <a:xfrm flipV="1">
            <a:off x="6543275" y="4844120"/>
            <a:ext cx="1" cy="2761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E70D6528-F5F8-4298-9EC0-046230D5D550}"/>
              </a:ext>
            </a:extLst>
          </p:cNvPr>
          <p:cNvSpPr txBox="1"/>
          <p:nvPr/>
        </p:nvSpPr>
        <p:spPr>
          <a:xfrm>
            <a:off x="6678391" y="4825621"/>
            <a:ext cx="813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check</a:t>
            </a:r>
            <a:endParaRPr lang="ko-KR" altLang="en-US" dirty="0"/>
          </a:p>
        </p:txBody>
      </p:sp>
      <p:cxnSp>
        <p:nvCxnSpPr>
          <p:cNvPr id="136" name="직선 화살표 연결선 135">
            <a:extLst>
              <a:ext uri="{FF2B5EF4-FFF2-40B4-BE49-F238E27FC236}">
                <a16:creationId xmlns:a16="http://schemas.microsoft.com/office/drawing/2014/main" id="{15DFDBA4-0BE6-4C33-B377-F287F6C64BD5}"/>
              </a:ext>
            </a:extLst>
          </p:cNvPr>
          <p:cNvCxnSpPr/>
          <p:nvPr/>
        </p:nvCxnSpPr>
        <p:spPr>
          <a:xfrm>
            <a:off x="8348904" y="5186064"/>
            <a:ext cx="0" cy="3247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D1A7307A-D413-44A6-BF74-53B52FAC0F7F}"/>
              </a:ext>
            </a:extLst>
          </p:cNvPr>
          <p:cNvSpPr/>
          <p:nvPr/>
        </p:nvSpPr>
        <p:spPr>
          <a:xfrm>
            <a:off x="6349248" y="5606535"/>
            <a:ext cx="397823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31BCA057-FB73-4D06-8ECD-86883AE4A24D}"/>
              </a:ext>
            </a:extLst>
          </p:cNvPr>
          <p:cNvSpPr/>
          <p:nvPr/>
        </p:nvSpPr>
        <p:spPr>
          <a:xfrm>
            <a:off x="8584404" y="5581710"/>
            <a:ext cx="397823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06A7F88C-D286-4D65-9935-500C6821DA62}"/>
              </a:ext>
            </a:extLst>
          </p:cNvPr>
          <p:cNvSpPr/>
          <p:nvPr/>
        </p:nvSpPr>
        <p:spPr>
          <a:xfrm>
            <a:off x="7839352" y="5581710"/>
            <a:ext cx="397823" cy="388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BA001368-B206-4C07-B4EA-745BEEC472D4}"/>
              </a:ext>
            </a:extLst>
          </p:cNvPr>
          <p:cNvSpPr/>
          <p:nvPr/>
        </p:nvSpPr>
        <p:spPr>
          <a:xfrm>
            <a:off x="7094300" y="5606535"/>
            <a:ext cx="397823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cxnSp>
        <p:nvCxnSpPr>
          <p:cNvPr id="141" name="직선 화살표 연결선 140">
            <a:extLst>
              <a:ext uri="{FF2B5EF4-FFF2-40B4-BE49-F238E27FC236}">
                <a16:creationId xmlns:a16="http://schemas.microsoft.com/office/drawing/2014/main" id="{EE907658-3F97-4497-BD5F-A6DC696D284A}"/>
              </a:ext>
            </a:extLst>
          </p:cNvPr>
          <p:cNvCxnSpPr/>
          <p:nvPr/>
        </p:nvCxnSpPr>
        <p:spPr>
          <a:xfrm flipV="1">
            <a:off x="6534383" y="6022482"/>
            <a:ext cx="1" cy="2761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TextBox 141">
            <a:extLst>
              <a:ext uri="{FF2B5EF4-FFF2-40B4-BE49-F238E27FC236}">
                <a16:creationId xmlns:a16="http://schemas.microsoft.com/office/drawing/2014/main" id="{4395219D-9C2A-459E-812B-D8AD4D969A1F}"/>
              </a:ext>
            </a:extLst>
          </p:cNvPr>
          <p:cNvSpPr txBox="1"/>
          <p:nvPr/>
        </p:nvSpPr>
        <p:spPr>
          <a:xfrm>
            <a:off x="6342468" y="6264407"/>
            <a:ext cx="2006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Pivot(1&lt; n &lt;= 2 )</a:t>
            </a:r>
            <a:endParaRPr lang="ko-KR" altLang="en-US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781E0C53-2392-453F-85E4-A3232DA4885F}"/>
              </a:ext>
            </a:extLst>
          </p:cNvPr>
          <p:cNvSpPr txBox="1"/>
          <p:nvPr/>
        </p:nvSpPr>
        <p:spPr>
          <a:xfrm>
            <a:off x="6690297" y="5956712"/>
            <a:ext cx="813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check</a:t>
            </a:r>
            <a:endParaRPr lang="ko-KR" altLang="en-US" dirty="0"/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597BC2D2-A8D7-4DB6-80BE-8C1203E03EEB}"/>
              </a:ext>
            </a:extLst>
          </p:cNvPr>
          <p:cNvSpPr/>
          <p:nvPr/>
        </p:nvSpPr>
        <p:spPr>
          <a:xfrm>
            <a:off x="10409296" y="6141551"/>
            <a:ext cx="1305447" cy="5006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1586A82A-2A9C-4A8C-BE51-BEFC1CE8D817}"/>
              </a:ext>
            </a:extLst>
          </p:cNvPr>
          <p:cNvSpPr/>
          <p:nvPr/>
        </p:nvSpPr>
        <p:spPr>
          <a:xfrm>
            <a:off x="8637068" y="6122516"/>
            <a:ext cx="1305447" cy="5006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BE19EFBF-19D7-4E3F-89EB-09D6C49A0390}"/>
              </a:ext>
            </a:extLst>
          </p:cNvPr>
          <p:cNvSpPr txBox="1"/>
          <p:nvPr/>
        </p:nvSpPr>
        <p:spPr>
          <a:xfrm>
            <a:off x="8663271" y="6068699"/>
            <a:ext cx="13054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  File #1</a:t>
            </a:r>
          </a:p>
          <a:p>
            <a:r>
              <a:rPr lang="en-US" altLang="ko-KR" dirty="0"/>
              <a:t>      1</a:t>
            </a:r>
            <a:endParaRPr lang="ko-KR" altLang="en-US" dirty="0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EBD4BA92-CDF6-4317-8236-820D42CA91A3}"/>
              </a:ext>
            </a:extLst>
          </p:cNvPr>
          <p:cNvSpPr txBox="1"/>
          <p:nvPr/>
        </p:nvSpPr>
        <p:spPr>
          <a:xfrm>
            <a:off x="10405140" y="6068700"/>
            <a:ext cx="13054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  File #2</a:t>
            </a:r>
          </a:p>
          <a:p>
            <a:r>
              <a:rPr lang="en-US" altLang="ko-KR" dirty="0"/>
              <a:t>      2</a:t>
            </a:r>
            <a:endParaRPr lang="ko-KR" altLang="en-US" dirty="0"/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9957645B-B2B6-471F-B015-E21EC0A1254F}"/>
              </a:ext>
            </a:extLst>
          </p:cNvPr>
          <p:cNvSpPr/>
          <p:nvPr/>
        </p:nvSpPr>
        <p:spPr>
          <a:xfrm>
            <a:off x="10405143" y="2321527"/>
            <a:ext cx="1305447" cy="5006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C7E18EC9-852F-44C2-9C57-9CDADB745B89}"/>
              </a:ext>
            </a:extLst>
          </p:cNvPr>
          <p:cNvSpPr/>
          <p:nvPr/>
        </p:nvSpPr>
        <p:spPr>
          <a:xfrm>
            <a:off x="10405140" y="3640599"/>
            <a:ext cx="1305447" cy="5006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F308E118-C1DB-40AD-B669-4AE6C07DF368}"/>
              </a:ext>
            </a:extLst>
          </p:cNvPr>
          <p:cNvSpPr txBox="1"/>
          <p:nvPr/>
        </p:nvSpPr>
        <p:spPr>
          <a:xfrm>
            <a:off x="11829802" y="2541318"/>
            <a:ext cx="332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F22C3D7C-E337-4D2D-A803-04E162247CF5}"/>
              </a:ext>
            </a:extLst>
          </p:cNvPr>
          <p:cNvSpPr txBox="1"/>
          <p:nvPr/>
        </p:nvSpPr>
        <p:spPr>
          <a:xfrm>
            <a:off x="11820101" y="3736755"/>
            <a:ext cx="332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F773853E-DE2D-483A-9CE6-81471E20EA03}"/>
              </a:ext>
            </a:extLst>
          </p:cNvPr>
          <p:cNvSpPr txBox="1"/>
          <p:nvPr/>
        </p:nvSpPr>
        <p:spPr>
          <a:xfrm>
            <a:off x="11829802" y="6272850"/>
            <a:ext cx="332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E9A0F7AB-3256-4020-91FC-8669A14C2644}"/>
              </a:ext>
            </a:extLst>
          </p:cNvPr>
          <p:cNvSpPr txBox="1"/>
          <p:nvPr/>
        </p:nvSpPr>
        <p:spPr>
          <a:xfrm>
            <a:off x="10372495" y="2281565"/>
            <a:ext cx="1309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  File #2</a:t>
            </a:r>
            <a:endParaRPr lang="ko-KR" altLang="en-US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BC13CA11-9581-4E87-B829-68A6E9A70665}"/>
              </a:ext>
            </a:extLst>
          </p:cNvPr>
          <p:cNvSpPr txBox="1"/>
          <p:nvPr/>
        </p:nvSpPr>
        <p:spPr>
          <a:xfrm>
            <a:off x="10360528" y="3592286"/>
            <a:ext cx="1309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  File #2</a:t>
            </a:r>
            <a:endParaRPr lang="ko-KR" altLang="en-US" dirty="0"/>
          </a:p>
        </p:txBody>
      </p:sp>
      <p:sp>
        <p:nvSpPr>
          <p:cNvPr id="157" name="화살표: 아래로 구부러짐 156">
            <a:extLst>
              <a:ext uri="{FF2B5EF4-FFF2-40B4-BE49-F238E27FC236}">
                <a16:creationId xmlns:a16="http://schemas.microsoft.com/office/drawing/2014/main" id="{3BD64C94-6978-4E02-BD87-077F758D62A0}"/>
              </a:ext>
            </a:extLst>
          </p:cNvPr>
          <p:cNvSpPr/>
          <p:nvPr/>
        </p:nvSpPr>
        <p:spPr>
          <a:xfrm>
            <a:off x="3271652" y="3235928"/>
            <a:ext cx="540325" cy="200215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8" name="화살표: 위로 구부러짐 157">
            <a:extLst>
              <a:ext uri="{FF2B5EF4-FFF2-40B4-BE49-F238E27FC236}">
                <a16:creationId xmlns:a16="http://schemas.microsoft.com/office/drawing/2014/main" id="{8B610D1E-1E3A-4DDF-B9A6-03A0DA9216DD}"/>
              </a:ext>
            </a:extLst>
          </p:cNvPr>
          <p:cNvSpPr/>
          <p:nvPr/>
        </p:nvSpPr>
        <p:spPr>
          <a:xfrm>
            <a:off x="3271652" y="3480673"/>
            <a:ext cx="538331" cy="180271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7807631C-5EAA-4746-BD82-0459A4A3892F}"/>
              </a:ext>
            </a:extLst>
          </p:cNvPr>
          <p:cNvSpPr txBox="1"/>
          <p:nvPr/>
        </p:nvSpPr>
        <p:spPr>
          <a:xfrm>
            <a:off x="3996046" y="3251477"/>
            <a:ext cx="1968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Dictionary order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3124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5E63A9-087C-504A-9412-868B83249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Shuffle</a:t>
            </a:r>
            <a:endParaRPr kumimoji="1"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A464BC-0250-494D-BCB3-8E54CF9E884C}"/>
              </a:ext>
            </a:extLst>
          </p:cNvPr>
          <p:cNvSpPr txBox="1"/>
          <p:nvPr/>
        </p:nvSpPr>
        <p:spPr>
          <a:xfrm>
            <a:off x="838199" y="1549178"/>
            <a:ext cx="83493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dirty="0"/>
              <a:t>In the shuffle phase, each node should gather all of it’s own partition files.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A84836-7992-084D-8767-9C7683608E14}"/>
              </a:ext>
            </a:extLst>
          </p:cNvPr>
          <p:cNvSpPr txBox="1"/>
          <p:nvPr/>
        </p:nvSpPr>
        <p:spPr>
          <a:xfrm>
            <a:off x="838199" y="2152578"/>
            <a:ext cx="92637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Pull based shuffle – each node request one’s needed files </a:t>
            </a:r>
          </a:p>
          <a:p>
            <a:endParaRPr kumimoji="1" lang="en-US" altLang="ko-KR" dirty="0"/>
          </a:p>
          <a:p>
            <a:endParaRPr kumimoji="1"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E13C4C-D484-EE48-B180-C79881C538CF}"/>
              </a:ext>
            </a:extLst>
          </p:cNvPr>
          <p:cNvSpPr txBox="1"/>
          <p:nvPr/>
        </p:nvSpPr>
        <p:spPr>
          <a:xfrm>
            <a:off x="838199" y="5308822"/>
            <a:ext cx="92597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All to all communication </a:t>
            </a:r>
          </a:p>
          <a:p>
            <a:r>
              <a:rPr kumimoji="1" lang="en-US" altLang="ko-KR" dirty="0"/>
              <a:t>-&gt; Parallelism should be concerned. (out</a:t>
            </a:r>
            <a:r>
              <a:rPr kumimoji="1" lang="ko-KR" altLang="en-US" dirty="0"/>
              <a:t> </a:t>
            </a:r>
            <a:r>
              <a:rPr kumimoji="1" lang="en-US" altLang="ko-KR" dirty="0"/>
              <a:t>of</a:t>
            </a:r>
            <a:r>
              <a:rPr kumimoji="1" lang="ko-KR" altLang="en-US" dirty="0"/>
              <a:t> </a:t>
            </a:r>
            <a:r>
              <a:rPr kumimoji="1" lang="en-US" altLang="ko-KR" dirty="0"/>
              <a:t>memory, backpressure</a:t>
            </a:r>
            <a:r>
              <a:rPr kumimoji="1" lang="ko-KR" altLang="en-US" dirty="0"/>
              <a:t> </a:t>
            </a:r>
            <a:r>
              <a:rPr kumimoji="1" lang="en-US" altLang="ko-KR" dirty="0"/>
              <a:t>can be problem) </a:t>
            </a:r>
            <a:endParaRPr kumimoji="1" lang="ko-KR" altLang="en-US" dirty="0"/>
          </a:p>
        </p:txBody>
      </p:sp>
      <p:pic>
        <p:nvPicPr>
          <p:cNvPr id="7" name="Picture 2" descr="Dell PowerEdge 2850 Refurbished Servers">
            <a:extLst>
              <a:ext uri="{FF2B5EF4-FFF2-40B4-BE49-F238E27FC236}">
                <a16:creationId xmlns:a16="http://schemas.microsoft.com/office/drawing/2014/main" id="{5AF66FC9-39F8-B94F-86B7-50CF13922B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21555" y="2857611"/>
            <a:ext cx="2286000" cy="598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2" descr="Dell PowerEdge 2850 Refurbished Servers">
            <a:extLst>
              <a:ext uri="{FF2B5EF4-FFF2-40B4-BE49-F238E27FC236}">
                <a16:creationId xmlns:a16="http://schemas.microsoft.com/office/drawing/2014/main" id="{4B7F2376-B442-C04F-9229-51F40E6405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21555" y="3554524"/>
            <a:ext cx="2286000" cy="59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 descr="Dell PowerEdge 2850 Refurbished Servers">
            <a:extLst>
              <a:ext uri="{FF2B5EF4-FFF2-40B4-BE49-F238E27FC236}">
                <a16:creationId xmlns:a16="http://schemas.microsoft.com/office/drawing/2014/main" id="{32D456F0-630D-5648-9DA8-9A89C01497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21555" y="4384786"/>
            <a:ext cx="2286000" cy="598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2" descr="Dell PowerEdge 2850 Refurbished Servers">
            <a:extLst>
              <a:ext uri="{FF2B5EF4-FFF2-40B4-BE49-F238E27FC236}">
                <a16:creationId xmlns:a16="http://schemas.microsoft.com/office/drawing/2014/main" id="{4121963E-E55F-1D46-851B-43A6EA1A12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02009" y="2830234"/>
            <a:ext cx="2286000" cy="598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2" descr="Dell PowerEdge 2850 Refurbished Servers">
            <a:extLst>
              <a:ext uri="{FF2B5EF4-FFF2-40B4-BE49-F238E27FC236}">
                <a16:creationId xmlns:a16="http://schemas.microsoft.com/office/drawing/2014/main" id="{F446910F-DFB1-6E42-B977-AAC7232498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02009" y="3527147"/>
            <a:ext cx="2286000" cy="59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2" descr="Dell PowerEdge 2850 Refurbished Servers">
            <a:extLst>
              <a:ext uri="{FF2B5EF4-FFF2-40B4-BE49-F238E27FC236}">
                <a16:creationId xmlns:a16="http://schemas.microsoft.com/office/drawing/2014/main" id="{B68EB86A-347C-0A4D-BB71-A020A0D4DA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02009" y="4357409"/>
            <a:ext cx="2286000" cy="598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9" name="Straight Arrow Connector 17">
            <a:extLst>
              <a:ext uri="{FF2B5EF4-FFF2-40B4-BE49-F238E27FC236}">
                <a16:creationId xmlns:a16="http://schemas.microsoft.com/office/drawing/2014/main" id="{EF65F0F2-2E9D-F34A-9491-4EDFDD43B5A0}"/>
              </a:ext>
            </a:extLst>
          </p:cNvPr>
          <p:cNvCxnSpPr>
            <a:cxnSpLocks/>
          </p:cNvCxnSpPr>
          <p:nvPr/>
        </p:nvCxnSpPr>
        <p:spPr>
          <a:xfrm flipV="1">
            <a:off x="4417332" y="3129478"/>
            <a:ext cx="2374900" cy="696397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595613D-0725-974D-8B78-C7D62D58C426}"/>
              </a:ext>
            </a:extLst>
          </p:cNvPr>
          <p:cNvCxnSpPr>
            <a:cxnSpLocks/>
          </p:cNvCxnSpPr>
          <p:nvPr/>
        </p:nvCxnSpPr>
        <p:spPr>
          <a:xfrm>
            <a:off x="4417332" y="3825875"/>
            <a:ext cx="2374900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1">
            <a:extLst>
              <a:ext uri="{FF2B5EF4-FFF2-40B4-BE49-F238E27FC236}">
                <a16:creationId xmlns:a16="http://schemas.microsoft.com/office/drawing/2014/main" id="{D78D6AEB-4965-D644-A79E-A63F31A745D2}"/>
              </a:ext>
            </a:extLst>
          </p:cNvPr>
          <p:cNvCxnSpPr>
            <a:cxnSpLocks/>
          </p:cNvCxnSpPr>
          <p:nvPr/>
        </p:nvCxnSpPr>
        <p:spPr>
          <a:xfrm>
            <a:off x="4417332" y="3825875"/>
            <a:ext cx="2374900" cy="849312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3">
            <a:extLst>
              <a:ext uri="{FF2B5EF4-FFF2-40B4-BE49-F238E27FC236}">
                <a16:creationId xmlns:a16="http://schemas.microsoft.com/office/drawing/2014/main" id="{F68E7C6B-7E02-F841-AC5F-51FAAC8BEE4E}"/>
              </a:ext>
            </a:extLst>
          </p:cNvPr>
          <p:cNvCxnSpPr>
            <a:cxnSpLocks/>
          </p:cNvCxnSpPr>
          <p:nvPr/>
        </p:nvCxnSpPr>
        <p:spPr>
          <a:xfrm flipV="1">
            <a:off x="4417332" y="3129478"/>
            <a:ext cx="2374900" cy="1072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5">
            <a:extLst>
              <a:ext uri="{FF2B5EF4-FFF2-40B4-BE49-F238E27FC236}">
                <a16:creationId xmlns:a16="http://schemas.microsoft.com/office/drawing/2014/main" id="{7A46F3D0-9706-6B42-AD70-54885BBD3B47}"/>
              </a:ext>
            </a:extLst>
          </p:cNvPr>
          <p:cNvCxnSpPr>
            <a:cxnSpLocks/>
          </p:cNvCxnSpPr>
          <p:nvPr/>
        </p:nvCxnSpPr>
        <p:spPr>
          <a:xfrm>
            <a:off x="4417332" y="3130550"/>
            <a:ext cx="2374900" cy="695325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7">
            <a:extLst>
              <a:ext uri="{FF2B5EF4-FFF2-40B4-BE49-F238E27FC236}">
                <a16:creationId xmlns:a16="http://schemas.microsoft.com/office/drawing/2014/main" id="{824104D8-C2DA-774D-947D-700D5E78FD10}"/>
              </a:ext>
            </a:extLst>
          </p:cNvPr>
          <p:cNvCxnSpPr>
            <a:cxnSpLocks/>
          </p:cNvCxnSpPr>
          <p:nvPr/>
        </p:nvCxnSpPr>
        <p:spPr>
          <a:xfrm>
            <a:off x="4417332" y="3130550"/>
            <a:ext cx="2374900" cy="1544637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9">
            <a:extLst>
              <a:ext uri="{FF2B5EF4-FFF2-40B4-BE49-F238E27FC236}">
                <a16:creationId xmlns:a16="http://schemas.microsoft.com/office/drawing/2014/main" id="{486B7691-6C06-234D-820E-D8AB2C440505}"/>
              </a:ext>
            </a:extLst>
          </p:cNvPr>
          <p:cNvCxnSpPr>
            <a:cxnSpLocks/>
          </p:cNvCxnSpPr>
          <p:nvPr/>
        </p:nvCxnSpPr>
        <p:spPr>
          <a:xfrm flipV="1">
            <a:off x="4417332" y="3129478"/>
            <a:ext cx="2374900" cy="1545709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31">
            <a:extLst>
              <a:ext uri="{FF2B5EF4-FFF2-40B4-BE49-F238E27FC236}">
                <a16:creationId xmlns:a16="http://schemas.microsoft.com/office/drawing/2014/main" id="{7A9CDCFE-6863-A841-AD16-E695E3A2A802}"/>
              </a:ext>
            </a:extLst>
          </p:cNvPr>
          <p:cNvCxnSpPr>
            <a:cxnSpLocks/>
          </p:cNvCxnSpPr>
          <p:nvPr/>
        </p:nvCxnSpPr>
        <p:spPr>
          <a:xfrm flipV="1">
            <a:off x="4417332" y="3825875"/>
            <a:ext cx="2374900" cy="849312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33">
            <a:extLst>
              <a:ext uri="{FF2B5EF4-FFF2-40B4-BE49-F238E27FC236}">
                <a16:creationId xmlns:a16="http://schemas.microsoft.com/office/drawing/2014/main" id="{2E180E7D-5EEE-F24F-B712-17B18975AC2A}"/>
              </a:ext>
            </a:extLst>
          </p:cNvPr>
          <p:cNvCxnSpPr>
            <a:cxnSpLocks/>
          </p:cNvCxnSpPr>
          <p:nvPr/>
        </p:nvCxnSpPr>
        <p:spPr>
          <a:xfrm>
            <a:off x="4417332" y="4675187"/>
            <a:ext cx="2374900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44AAD5B-26CA-EE4F-83A0-1578175D50FC}"/>
              </a:ext>
            </a:extLst>
          </p:cNvPr>
          <p:cNvSpPr txBox="1"/>
          <p:nvPr/>
        </p:nvSpPr>
        <p:spPr>
          <a:xfrm>
            <a:off x="5012870" y="2757812"/>
            <a:ext cx="12043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600" dirty="0" err="1"/>
              <a:t>fileRequest</a:t>
            </a:r>
            <a:endParaRPr kumimoji="1"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188370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4DA67B-EA2B-024B-A31A-10FF1744B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Shuffle strategy</a:t>
            </a:r>
            <a:r>
              <a:rPr kumimoji="1" lang="ko-KR" altLang="en-US" dirty="0"/>
              <a:t> </a:t>
            </a:r>
            <a:r>
              <a:rPr kumimoji="1" lang="en-US" altLang="ko-KR" dirty="0"/>
              <a:t>abstraction</a:t>
            </a:r>
            <a:endParaRPr kumimoji="1"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B6FA2B-0CEF-6345-B71A-C56B415295FE}"/>
              </a:ext>
            </a:extLst>
          </p:cNvPr>
          <p:cNvSpPr txBox="1"/>
          <p:nvPr/>
        </p:nvSpPr>
        <p:spPr>
          <a:xfrm>
            <a:off x="4967486" y="2310255"/>
            <a:ext cx="2257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trait </a:t>
            </a:r>
            <a:r>
              <a:rPr kumimoji="1" lang="en-US" altLang="ko-KR" dirty="0" err="1"/>
              <a:t>ShuffleStrategy</a:t>
            </a:r>
            <a:endParaRPr kumimoji="1"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C4AE24-E726-0647-93B7-46081D84EC59}"/>
              </a:ext>
            </a:extLst>
          </p:cNvPr>
          <p:cNvSpPr txBox="1"/>
          <p:nvPr/>
        </p:nvSpPr>
        <p:spPr>
          <a:xfrm>
            <a:off x="1034142" y="3309257"/>
            <a:ext cx="3412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class </a:t>
            </a:r>
            <a:r>
              <a:rPr kumimoji="1" lang="en-US" altLang="ko-KR" dirty="0" err="1"/>
              <a:t>SequentialShuffleStrategy</a:t>
            </a:r>
            <a:endParaRPr kumimoji="1"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A9E036-736D-7C44-900B-BBD209EFE012}"/>
              </a:ext>
            </a:extLst>
          </p:cNvPr>
          <p:cNvSpPr txBox="1"/>
          <p:nvPr/>
        </p:nvSpPr>
        <p:spPr>
          <a:xfrm>
            <a:off x="4735287" y="3309257"/>
            <a:ext cx="4388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class </a:t>
            </a:r>
            <a:r>
              <a:rPr kumimoji="1" lang="en-US" altLang="ko-KR" dirty="0" err="1"/>
              <a:t>LimitedConcurrencyShuffleStrategy</a:t>
            </a:r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92CB38-7F11-6C46-BE0D-5A84A378191A}"/>
              </a:ext>
            </a:extLst>
          </p:cNvPr>
          <p:cNvSpPr txBox="1"/>
          <p:nvPr/>
        </p:nvSpPr>
        <p:spPr>
          <a:xfrm>
            <a:off x="9873342" y="3309682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???</a:t>
            </a:r>
            <a:endParaRPr kumimoji="1" lang="ko-KR" altLang="en-US" dirty="0"/>
          </a:p>
        </p:txBody>
      </p:sp>
      <p:cxnSp>
        <p:nvCxnSpPr>
          <p:cNvPr id="8" name="직선 연결선[R] 7">
            <a:extLst>
              <a:ext uri="{FF2B5EF4-FFF2-40B4-BE49-F238E27FC236}">
                <a16:creationId xmlns:a16="http://schemas.microsoft.com/office/drawing/2014/main" id="{4D22A2EB-C7C5-2D4E-B6B8-5D750C929380}"/>
              </a:ext>
            </a:extLst>
          </p:cNvPr>
          <p:cNvCxnSpPr>
            <a:cxnSpLocks/>
          </p:cNvCxnSpPr>
          <p:nvPr/>
        </p:nvCxnSpPr>
        <p:spPr>
          <a:xfrm flipV="1">
            <a:off x="3156857" y="2702209"/>
            <a:ext cx="2340429" cy="607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38EA7F33-EF48-9C42-87B2-F7078E7EBB5D}"/>
              </a:ext>
            </a:extLst>
          </p:cNvPr>
          <p:cNvCxnSpPr>
            <a:cxnSpLocks/>
          </p:cNvCxnSpPr>
          <p:nvPr/>
        </p:nvCxnSpPr>
        <p:spPr>
          <a:xfrm flipH="1" flipV="1">
            <a:off x="7224514" y="2702209"/>
            <a:ext cx="2366704" cy="6296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[R] 11">
            <a:extLst>
              <a:ext uri="{FF2B5EF4-FFF2-40B4-BE49-F238E27FC236}">
                <a16:creationId xmlns:a16="http://schemas.microsoft.com/office/drawing/2014/main" id="{BA489D26-0218-5048-93D6-3EF432203D7F}"/>
              </a:ext>
            </a:extLst>
          </p:cNvPr>
          <p:cNvCxnSpPr>
            <a:cxnSpLocks/>
          </p:cNvCxnSpPr>
          <p:nvPr/>
        </p:nvCxnSpPr>
        <p:spPr>
          <a:xfrm flipV="1">
            <a:off x="6096000" y="2702209"/>
            <a:ext cx="0" cy="607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FD205F4-D3B2-7349-B280-34105D4052AC}"/>
              </a:ext>
            </a:extLst>
          </p:cNvPr>
          <p:cNvSpPr txBox="1"/>
          <p:nvPr/>
        </p:nvSpPr>
        <p:spPr>
          <a:xfrm>
            <a:off x="838200" y="144021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dirty="0"/>
              <a:t>Shuffle Strategy: How many file</a:t>
            </a:r>
            <a:r>
              <a:rPr lang="en-US" altLang="ko-KR" dirty="0"/>
              <a:t>requests</a:t>
            </a:r>
            <a:r>
              <a:rPr lang="en" altLang="ko-KR" dirty="0"/>
              <a:t> concurrently?</a:t>
            </a:r>
            <a:endParaRPr kumimoji="1"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52C6DD-4660-F94A-8F87-90C59F805808}"/>
              </a:ext>
            </a:extLst>
          </p:cNvPr>
          <p:cNvSpPr txBox="1"/>
          <p:nvPr/>
        </p:nvSpPr>
        <p:spPr>
          <a:xfrm>
            <a:off x="1034142" y="3795555"/>
            <a:ext cx="43886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kumimoji="1" lang="en-US" altLang="ko-KR" dirty="0"/>
              <a:t>One file at a time</a:t>
            </a:r>
          </a:p>
          <a:p>
            <a:pPr marL="285750" indent="-285750">
              <a:buFontTx/>
              <a:buChar char="-"/>
            </a:pPr>
            <a:r>
              <a:rPr kumimoji="1" lang="en-US" altLang="ko-KR" dirty="0"/>
              <a:t>For correctness testing</a:t>
            </a:r>
            <a:endParaRPr kumimoji="1"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0E78E32-C676-294C-866F-92550BE589D5}"/>
              </a:ext>
            </a:extLst>
          </p:cNvPr>
          <p:cNvSpPr txBox="1"/>
          <p:nvPr/>
        </p:nvSpPr>
        <p:spPr>
          <a:xfrm>
            <a:off x="4735287" y="3856132"/>
            <a:ext cx="368992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kumimoji="1" lang="en-US" altLang="ko-KR" dirty="0"/>
              <a:t>Wave based / batch based</a:t>
            </a:r>
          </a:p>
          <a:p>
            <a:pPr marL="285750" indent="-285750">
              <a:buFontTx/>
              <a:buChar char="-"/>
            </a:pPr>
            <a:r>
              <a:rPr kumimoji="1" lang="en-US" altLang="ko-KR" dirty="0"/>
              <a:t>For performance optimization </a:t>
            </a:r>
          </a:p>
          <a:p>
            <a:r>
              <a:rPr kumimoji="1" lang="en-US" altLang="ko-KR" dirty="0"/>
              <a:t>    or </a:t>
            </a:r>
            <a:r>
              <a:rPr lang="en" altLang="ko-KR" dirty="0"/>
              <a:t>Thundering Herd Problem</a:t>
            </a:r>
            <a:endParaRPr kumimoji="1" lang="en-US" altLang="ko-KR" dirty="0"/>
          </a:p>
          <a:p>
            <a:pPr marL="285750" indent="-285750">
              <a:buFontTx/>
              <a:buChar char="-"/>
            </a:pP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2430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그림 48" descr="텍스트, 도표, 평면도, 직사각형이(가) 표시된 사진&#10;&#10;자동 생성된 설명">
            <a:extLst>
              <a:ext uri="{FF2B5EF4-FFF2-40B4-BE49-F238E27FC236}">
                <a16:creationId xmlns:a16="http://schemas.microsoft.com/office/drawing/2014/main" id="{724A0276-13E5-874C-B7CA-B6EB4826F1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141" y="307723"/>
            <a:ext cx="6122504" cy="6242553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CBEE2CD0-CA73-0A4E-B81A-153E53513255}"/>
              </a:ext>
            </a:extLst>
          </p:cNvPr>
          <p:cNvSpPr txBox="1"/>
          <p:nvPr/>
        </p:nvSpPr>
        <p:spPr>
          <a:xfrm>
            <a:off x="7133572" y="2375324"/>
            <a:ext cx="610017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FileTransport</a:t>
            </a:r>
            <a:r>
              <a:rPr lang="ko-KR" altLang="en-US" dirty="0"/>
              <a:t> </a:t>
            </a:r>
            <a:r>
              <a:rPr lang="ko-KR" altLang="en-US" dirty="0" err="1"/>
              <a:t>Abstraction</a:t>
            </a:r>
            <a:endParaRPr lang="ko-KR" altLang="en-US" dirty="0"/>
          </a:p>
          <a:p>
            <a:r>
              <a:rPr lang="ko-KR" altLang="en-US" dirty="0"/>
              <a:t>- </a:t>
            </a:r>
            <a:r>
              <a:rPr lang="ko-KR" altLang="en-US" dirty="0" err="1"/>
              <a:t>Encapsulate</a:t>
            </a:r>
            <a:r>
              <a:rPr lang="ko-KR" altLang="en-US" dirty="0"/>
              <a:t> </a:t>
            </a:r>
            <a:r>
              <a:rPr lang="ko-KR" altLang="en-US" dirty="0" err="1"/>
              <a:t>file</a:t>
            </a:r>
            <a:r>
              <a:rPr lang="ko-KR" altLang="en-US" dirty="0"/>
              <a:t> </a:t>
            </a:r>
            <a:r>
              <a:rPr lang="ko-KR" altLang="en-US" dirty="0" err="1"/>
              <a:t>transfer</a:t>
            </a:r>
            <a:r>
              <a:rPr lang="ko-KR" altLang="en-US" dirty="0"/>
              <a:t> </a:t>
            </a:r>
            <a:r>
              <a:rPr lang="ko-KR" altLang="en-US" dirty="0" err="1"/>
              <a:t>mechanism</a:t>
            </a:r>
            <a:endParaRPr lang="ko-KR" altLang="en-US" dirty="0"/>
          </a:p>
          <a:p>
            <a:endParaRPr lang="ko-KR" altLang="en-US" dirty="0"/>
          </a:p>
          <a:p>
            <a:r>
              <a:rPr lang="ko-KR" altLang="en-US" dirty="0"/>
              <a:t>                </a:t>
            </a:r>
            <a:r>
              <a:rPr lang="ko-KR" altLang="en-US" dirty="0" err="1"/>
              <a:t>trait</a:t>
            </a:r>
            <a:r>
              <a:rPr lang="ko-KR" altLang="en-US" dirty="0"/>
              <a:t> </a:t>
            </a:r>
            <a:r>
              <a:rPr lang="ko-KR" altLang="en-US" dirty="0" err="1"/>
              <a:t>FileTransport</a:t>
            </a:r>
            <a:endParaRPr lang="ko-KR" altLang="en-US" dirty="0"/>
          </a:p>
          <a:p>
            <a:r>
              <a:rPr lang="ko-KR" altLang="en-US" dirty="0"/>
              <a:t>                                  </a:t>
            </a:r>
            <a:r>
              <a:rPr lang="en-US" altLang="ko-KR" dirty="0"/>
              <a:t>  </a:t>
            </a:r>
            <a:endParaRPr lang="ko-KR" altLang="en-US" dirty="0"/>
          </a:p>
          <a:p>
            <a:r>
              <a:rPr lang="ko-KR" altLang="en-US" dirty="0"/>
              <a:t>    </a:t>
            </a:r>
            <a:r>
              <a:rPr lang="ko-KR" altLang="en-US" dirty="0" err="1"/>
              <a:t>LocalFileTransport</a:t>
            </a:r>
            <a:r>
              <a:rPr lang="ko-KR" altLang="en-US" dirty="0"/>
              <a:t>      </a:t>
            </a:r>
            <a:r>
              <a:rPr lang="ko-KR" altLang="en-US" dirty="0" err="1"/>
              <a:t>RemoteFileTransport</a:t>
            </a:r>
            <a:endParaRPr lang="ko-KR" altLang="en-US" dirty="0"/>
          </a:p>
          <a:p>
            <a:r>
              <a:rPr lang="ko-KR" altLang="en-US" dirty="0"/>
              <a:t>    (</a:t>
            </a:r>
            <a:r>
              <a:rPr lang="ko-KR" altLang="en-US" dirty="0" err="1"/>
              <a:t>Thread-based</a:t>
            </a:r>
            <a:r>
              <a:rPr lang="ko-KR" altLang="en-US" dirty="0"/>
              <a:t>)          (</a:t>
            </a:r>
            <a:r>
              <a:rPr lang="ko-KR" altLang="en-US" dirty="0" err="1"/>
              <a:t>gRPC-based</a:t>
            </a:r>
            <a:r>
              <a:rPr lang="ko-KR" altLang="en-US" dirty="0"/>
              <a:t>)</a:t>
            </a:r>
          </a:p>
          <a:p>
            <a:endParaRPr lang="ko-KR" altLang="en-US" dirty="0"/>
          </a:p>
          <a:p>
            <a:r>
              <a:rPr lang="ko-KR" altLang="en-US" dirty="0" err="1"/>
              <a:t>Purpose</a:t>
            </a:r>
            <a:r>
              <a:rPr lang="ko-KR" altLang="en-US" dirty="0"/>
              <a:t>:</a:t>
            </a:r>
          </a:p>
          <a:p>
            <a:r>
              <a:rPr lang="ko-KR" altLang="en-US" dirty="0"/>
              <a:t>- </a:t>
            </a:r>
            <a:r>
              <a:rPr lang="ko-KR" altLang="en-US" dirty="0" err="1"/>
              <a:t>Local</a:t>
            </a:r>
            <a:r>
              <a:rPr lang="ko-KR" altLang="en-US" dirty="0"/>
              <a:t>: </a:t>
            </a:r>
            <a:r>
              <a:rPr lang="ko-KR" altLang="en-US" dirty="0" err="1"/>
              <a:t>Test</a:t>
            </a:r>
            <a:r>
              <a:rPr lang="ko-KR" altLang="en-US" dirty="0"/>
              <a:t> </a:t>
            </a:r>
            <a:r>
              <a:rPr lang="ko-KR" altLang="en-US" dirty="0" err="1"/>
              <a:t>correctness</a:t>
            </a:r>
            <a:r>
              <a:rPr lang="ko-KR" altLang="en-US" dirty="0"/>
              <a:t> </a:t>
            </a:r>
            <a:r>
              <a:rPr lang="ko-KR" altLang="en-US" dirty="0" err="1"/>
              <a:t>without</a:t>
            </a:r>
            <a:r>
              <a:rPr lang="ko-KR" altLang="en-US" dirty="0"/>
              <a:t> </a:t>
            </a:r>
            <a:r>
              <a:rPr lang="ko-KR" altLang="en-US" dirty="0" err="1"/>
              <a:t>network</a:t>
            </a:r>
            <a:endParaRPr lang="ko-KR" altLang="en-US" dirty="0"/>
          </a:p>
          <a:p>
            <a:r>
              <a:rPr lang="ko-KR" altLang="en-US" dirty="0"/>
              <a:t>- </a:t>
            </a:r>
            <a:r>
              <a:rPr lang="ko-KR" altLang="en-US" dirty="0" err="1"/>
              <a:t>Remote</a:t>
            </a:r>
            <a:r>
              <a:rPr lang="ko-KR" altLang="en-US" dirty="0"/>
              <a:t>: </a:t>
            </a:r>
            <a:r>
              <a:rPr lang="en" altLang="ko-KR" dirty="0"/>
              <a:t>Test network communication</a:t>
            </a:r>
            <a:endParaRPr lang="ko-KR" altLang="en-US" dirty="0"/>
          </a:p>
          <a:p>
            <a:r>
              <a:rPr lang="ko-KR" altLang="en-US" dirty="0"/>
              <a:t>- </a:t>
            </a:r>
            <a:r>
              <a:rPr lang="ko-KR" altLang="en-US" dirty="0" err="1"/>
              <a:t>Easy</a:t>
            </a:r>
            <a:r>
              <a:rPr lang="ko-KR" altLang="en-US" dirty="0"/>
              <a:t> </a:t>
            </a:r>
            <a:r>
              <a:rPr lang="ko-KR" altLang="en-US" dirty="0" err="1"/>
              <a:t>transition</a:t>
            </a:r>
            <a:r>
              <a:rPr lang="ko-KR" altLang="en-US" dirty="0"/>
              <a:t> </a:t>
            </a:r>
            <a:r>
              <a:rPr lang="ko-KR" altLang="en-US" dirty="0" err="1"/>
              <a:t>between</a:t>
            </a:r>
            <a:r>
              <a:rPr lang="ko-KR" altLang="en-US" dirty="0"/>
              <a:t> </a:t>
            </a:r>
            <a:r>
              <a:rPr lang="ko-KR" altLang="en-US" dirty="0" err="1"/>
              <a:t>environments</a:t>
            </a:r>
            <a:endParaRPr lang="ko-KR" altLang="en-US" dirty="0"/>
          </a:p>
        </p:txBody>
      </p:sp>
      <p:cxnSp>
        <p:nvCxnSpPr>
          <p:cNvPr id="56" name="직선 연결선[R] 55">
            <a:extLst>
              <a:ext uri="{FF2B5EF4-FFF2-40B4-BE49-F238E27FC236}">
                <a16:creationId xmlns:a16="http://schemas.microsoft.com/office/drawing/2014/main" id="{7D15737F-63F5-3E4A-9E80-5D376DB867AD}"/>
              </a:ext>
            </a:extLst>
          </p:cNvPr>
          <p:cNvCxnSpPr/>
          <p:nvPr/>
        </p:nvCxnSpPr>
        <p:spPr>
          <a:xfrm flipV="1">
            <a:off x="8617907" y="3532340"/>
            <a:ext cx="613775" cy="2630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[R] 56">
            <a:extLst>
              <a:ext uri="{FF2B5EF4-FFF2-40B4-BE49-F238E27FC236}">
                <a16:creationId xmlns:a16="http://schemas.microsoft.com/office/drawing/2014/main" id="{4F7AAF14-3F2D-F146-B183-C1C9119D8F10}"/>
              </a:ext>
            </a:extLst>
          </p:cNvPr>
          <p:cNvCxnSpPr>
            <a:cxnSpLocks/>
          </p:cNvCxnSpPr>
          <p:nvPr/>
        </p:nvCxnSpPr>
        <p:spPr>
          <a:xfrm flipH="1" flipV="1">
            <a:off x="9871552" y="3552172"/>
            <a:ext cx="624214" cy="2233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5581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364A9F-3260-1686-4BCF-AE51896CE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Merge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A0C61D-9BBD-C54E-A017-83C17BCD9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694" y="1690689"/>
            <a:ext cx="6070105" cy="4486274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ko-KR" dirty="0"/>
              <a:t>K-way merge</a:t>
            </a:r>
          </a:p>
          <a:p>
            <a:r>
              <a:rPr lang="en-US" altLang="ko-KR" sz="2400" dirty="0"/>
              <a:t>Objective: To efficiently merge k sorted files simultaneously</a:t>
            </a:r>
          </a:p>
          <a:p>
            <a:r>
              <a:rPr lang="en-US" altLang="ko-KR" sz="2400" dirty="0"/>
              <a:t>Data structure: Priority Queue(Min-Heap)</a:t>
            </a:r>
          </a:p>
          <a:p>
            <a:r>
              <a:rPr lang="en-US" altLang="ko-KR" sz="2400" dirty="0"/>
              <a:t>Constraint: The maximum value of k is limited by the available memory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Multi-pass merge</a:t>
            </a:r>
            <a:endParaRPr lang="en-US" altLang="ko-KR" sz="2400" dirty="0"/>
          </a:p>
          <a:p>
            <a:r>
              <a:rPr lang="en-US" altLang="ko-KR" sz="2400" dirty="0"/>
              <a:t>Trigger: the total number of files to be merged exceeds the maximum k</a:t>
            </a:r>
          </a:p>
          <a:p>
            <a:r>
              <a:rPr lang="en-US" altLang="ko-KR" sz="2400" dirty="0"/>
              <a:t>Process: Each pass reads files and merges them, and save the result</a:t>
            </a:r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en-US" altLang="ko-KR" sz="2900" dirty="0"/>
              <a:t>I/O optimization: Buffers &amp; Iterators</a:t>
            </a:r>
            <a:endParaRPr lang="en-US" altLang="ko-KR" dirty="0"/>
          </a:p>
          <a:p>
            <a:r>
              <a:rPr lang="en-US" altLang="ko-KR" sz="2400" dirty="0"/>
              <a:t>Streaming with Iterators: avoid loading the entire dataset into memory</a:t>
            </a:r>
          </a:p>
          <a:p>
            <a:r>
              <a:rPr lang="en-US" altLang="ko-KR" sz="2400" dirty="0"/>
              <a:t>Buffering I/O: minimizing the number of expensive disk I/O calls</a:t>
            </a:r>
          </a:p>
          <a:p>
            <a:pPr marL="0" indent="0">
              <a:buNone/>
            </a:pPr>
            <a:endParaRPr lang="en-US" altLang="ko-KR" sz="26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55B1BE6-58E4-9476-52B9-F914B4BA4C86}"/>
              </a:ext>
            </a:extLst>
          </p:cNvPr>
          <p:cNvSpPr/>
          <p:nvPr/>
        </p:nvSpPr>
        <p:spPr>
          <a:xfrm>
            <a:off x="1380055" y="5354714"/>
            <a:ext cx="435006" cy="5060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I2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8B3A9F6-8823-6169-2519-944EA1BE4951}"/>
              </a:ext>
            </a:extLst>
          </p:cNvPr>
          <p:cNvSpPr/>
          <p:nvPr/>
        </p:nvSpPr>
        <p:spPr>
          <a:xfrm>
            <a:off x="1921910" y="5354714"/>
            <a:ext cx="435006" cy="5060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I3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01A163B-22F8-C6A7-9990-30793A06D045}"/>
              </a:ext>
            </a:extLst>
          </p:cNvPr>
          <p:cNvSpPr/>
          <p:nvPr/>
        </p:nvSpPr>
        <p:spPr>
          <a:xfrm>
            <a:off x="2463765" y="5354714"/>
            <a:ext cx="435006" cy="5060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I4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0F5A9D1-66A6-028B-5D8B-7235E65C9414}"/>
              </a:ext>
            </a:extLst>
          </p:cNvPr>
          <p:cNvSpPr/>
          <p:nvPr/>
        </p:nvSpPr>
        <p:spPr>
          <a:xfrm>
            <a:off x="3005620" y="5354714"/>
            <a:ext cx="435006" cy="5060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I5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855AA93-69B8-7983-30C5-7197736D4FBD}"/>
              </a:ext>
            </a:extLst>
          </p:cNvPr>
          <p:cNvSpPr/>
          <p:nvPr/>
        </p:nvSpPr>
        <p:spPr>
          <a:xfrm>
            <a:off x="3547475" y="5354714"/>
            <a:ext cx="435006" cy="5060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I6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5882BB1-CF7E-1ED2-D12A-0BCF08653D83}"/>
              </a:ext>
            </a:extLst>
          </p:cNvPr>
          <p:cNvSpPr/>
          <p:nvPr/>
        </p:nvSpPr>
        <p:spPr>
          <a:xfrm>
            <a:off x="4089330" y="5354714"/>
            <a:ext cx="435006" cy="5060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I7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63C7FD6-248F-BF5A-8BA1-222B0D410598}"/>
              </a:ext>
            </a:extLst>
          </p:cNvPr>
          <p:cNvSpPr/>
          <p:nvPr/>
        </p:nvSpPr>
        <p:spPr>
          <a:xfrm>
            <a:off x="838200" y="5354714"/>
            <a:ext cx="435006" cy="5060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I1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B26E130-704E-0AED-A94D-832EE9EADF96}"/>
              </a:ext>
            </a:extLst>
          </p:cNvPr>
          <p:cNvSpPr/>
          <p:nvPr/>
        </p:nvSpPr>
        <p:spPr>
          <a:xfrm>
            <a:off x="4631184" y="5354714"/>
            <a:ext cx="435006" cy="5060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I8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A60EB15-B1A8-2359-E5C4-91C4F008C4F5}"/>
              </a:ext>
            </a:extLst>
          </p:cNvPr>
          <p:cNvSpPr/>
          <p:nvPr/>
        </p:nvSpPr>
        <p:spPr>
          <a:xfrm>
            <a:off x="3764978" y="3305451"/>
            <a:ext cx="435006" cy="5060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T2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92A31CB-6CBA-67DB-D794-218BE78EDB8E}"/>
              </a:ext>
            </a:extLst>
          </p:cNvPr>
          <p:cNvSpPr/>
          <p:nvPr/>
        </p:nvSpPr>
        <p:spPr>
          <a:xfrm>
            <a:off x="1774689" y="3305452"/>
            <a:ext cx="435006" cy="5060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T1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9752543-83C9-CB8D-B88E-22991D228B65}"/>
              </a:ext>
            </a:extLst>
          </p:cNvPr>
          <p:cNvSpPr/>
          <p:nvPr/>
        </p:nvSpPr>
        <p:spPr>
          <a:xfrm>
            <a:off x="2788117" y="1690688"/>
            <a:ext cx="435006" cy="5060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O</a:t>
            </a:r>
            <a:endParaRPr lang="ko-KR" altLang="en-US" dirty="0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84EA5026-DB56-4D8F-FA50-D5B30DF36E4B}"/>
              </a:ext>
            </a:extLst>
          </p:cNvPr>
          <p:cNvCxnSpPr>
            <a:stCxn id="10" idx="0"/>
            <a:endCxn id="13" idx="2"/>
          </p:cNvCxnSpPr>
          <p:nvPr/>
        </p:nvCxnSpPr>
        <p:spPr>
          <a:xfrm flipV="1">
            <a:off x="1055703" y="3811479"/>
            <a:ext cx="936489" cy="15432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55E9401A-626E-155C-CA6B-00CCB9978BDD}"/>
              </a:ext>
            </a:extLst>
          </p:cNvPr>
          <p:cNvCxnSpPr>
            <a:stCxn id="4" idx="0"/>
            <a:endCxn id="13" idx="2"/>
          </p:cNvCxnSpPr>
          <p:nvPr/>
        </p:nvCxnSpPr>
        <p:spPr>
          <a:xfrm flipV="1">
            <a:off x="1597558" y="3811479"/>
            <a:ext cx="394634" cy="15432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07C04977-76F6-1C60-EFA7-0AC7451CDC5A}"/>
              </a:ext>
            </a:extLst>
          </p:cNvPr>
          <p:cNvCxnSpPr>
            <a:stCxn id="5" idx="0"/>
            <a:endCxn id="13" idx="2"/>
          </p:cNvCxnSpPr>
          <p:nvPr/>
        </p:nvCxnSpPr>
        <p:spPr>
          <a:xfrm flipH="1" flipV="1">
            <a:off x="1992192" y="3811479"/>
            <a:ext cx="147221" cy="15432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FC59AF7E-D9F8-1764-D629-58F1BFC31270}"/>
              </a:ext>
            </a:extLst>
          </p:cNvPr>
          <p:cNvCxnSpPr>
            <a:stCxn id="6" idx="0"/>
            <a:endCxn id="13" idx="2"/>
          </p:cNvCxnSpPr>
          <p:nvPr/>
        </p:nvCxnSpPr>
        <p:spPr>
          <a:xfrm flipH="1" flipV="1">
            <a:off x="1992192" y="3811479"/>
            <a:ext cx="689076" cy="15432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3D285FEB-05F5-C2BB-1730-1FDBB1E8FA66}"/>
              </a:ext>
            </a:extLst>
          </p:cNvPr>
          <p:cNvCxnSpPr>
            <a:stCxn id="7" idx="0"/>
            <a:endCxn id="12" idx="2"/>
          </p:cNvCxnSpPr>
          <p:nvPr/>
        </p:nvCxnSpPr>
        <p:spPr>
          <a:xfrm flipV="1">
            <a:off x="3223123" y="3811478"/>
            <a:ext cx="759358" cy="15432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4C902DEE-C030-28A1-F500-9322D47E6220}"/>
              </a:ext>
            </a:extLst>
          </p:cNvPr>
          <p:cNvCxnSpPr>
            <a:stCxn id="8" idx="0"/>
            <a:endCxn id="12" idx="2"/>
          </p:cNvCxnSpPr>
          <p:nvPr/>
        </p:nvCxnSpPr>
        <p:spPr>
          <a:xfrm flipV="1">
            <a:off x="3764978" y="3811478"/>
            <a:ext cx="217503" cy="15432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FB9C3167-D14C-C8B7-E7CD-3852F46D5B5A}"/>
              </a:ext>
            </a:extLst>
          </p:cNvPr>
          <p:cNvCxnSpPr>
            <a:stCxn id="9" idx="0"/>
            <a:endCxn id="12" idx="2"/>
          </p:cNvCxnSpPr>
          <p:nvPr/>
        </p:nvCxnSpPr>
        <p:spPr>
          <a:xfrm flipH="1" flipV="1">
            <a:off x="3982481" y="3811478"/>
            <a:ext cx="324352" cy="15432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38743183-AE01-A966-DE15-0A632912CD53}"/>
              </a:ext>
            </a:extLst>
          </p:cNvPr>
          <p:cNvCxnSpPr>
            <a:stCxn id="11" idx="0"/>
            <a:endCxn id="12" idx="2"/>
          </p:cNvCxnSpPr>
          <p:nvPr/>
        </p:nvCxnSpPr>
        <p:spPr>
          <a:xfrm flipH="1" flipV="1">
            <a:off x="3982481" y="3811478"/>
            <a:ext cx="866206" cy="15432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39759E14-E564-831E-6AC0-4EBB0BF48C41}"/>
              </a:ext>
            </a:extLst>
          </p:cNvPr>
          <p:cNvCxnSpPr>
            <a:stCxn id="13" idx="0"/>
            <a:endCxn id="15" idx="2"/>
          </p:cNvCxnSpPr>
          <p:nvPr/>
        </p:nvCxnSpPr>
        <p:spPr>
          <a:xfrm flipV="1">
            <a:off x="1992192" y="2196715"/>
            <a:ext cx="1013428" cy="11087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032BC4D2-F4F9-A05D-DE0A-F41E6495BCC7}"/>
              </a:ext>
            </a:extLst>
          </p:cNvPr>
          <p:cNvCxnSpPr>
            <a:stCxn id="12" idx="0"/>
            <a:endCxn id="15" idx="2"/>
          </p:cNvCxnSpPr>
          <p:nvPr/>
        </p:nvCxnSpPr>
        <p:spPr>
          <a:xfrm flipH="1" flipV="1">
            <a:off x="3005620" y="2196715"/>
            <a:ext cx="976861" cy="11087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1654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777799-D97A-8F96-0F85-D40506E8E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File I/O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C8C207-B99C-1089-609B-9C78CD6EC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 err="1"/>
              <a:t>RecordIterator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sz="2000" dirty="0"/>
              <a:t>- Creates an iterator over file content</a:t>
            </a:r>
          </a:p>
          <a:p>
            <a:pPr marL="0" indent="0">
              <a:buNone/>
            </a:pPr>
            <a:r>
              <a:rPr lang="en-US" altLang="ko-KR" dirty="0" err="1"/>
              <a:t>RecordWriter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sz="2000" dirty="0"/>
              <a:t>- Writes an iterator of records to a file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Iterator</a:t>
            </a:r>
          </a:p>
          <a:p>
            <a:pPr>
              <a:buFontTx/>
              <a:buChar char="-"/>
            </a:pPr>
            <a:r>
              <a:rPr lang="en-US" altLang="ko-KR" sz="2000" dirty="0"/>
              <a:t>Processes data as a stream to avoid loading all records into memory </a:t>
            </a:r>
          </a:p>
          <a:p>
            <a:pPr marL="0" indent="0">
              <a:buNone/>
            </a:pPr>
            <a:r>
              <a:rPr lang="en-US" altLang="ko-KR" dirty="0"/>
              <a:t>Buffering I/O</a:t>
            </a:r>
          </a:p>
          <a:p>
            <a:pPr marL="0" indent="0">
              <a:buNone/>
            </a:pPr>
            <a:r>
              <a:rPr lang="en-US" altLang="ko-KR" sz="2000" dirty="0"/>
              <a:t>- Optimizes disk I/O by reducing the number of direct read/write operations</a:t>
            </a:r>
            <a:endParaRPr lang="ko-KR" altLang="en-US" sz="2000" dirty="0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2E86A29B-5C03-41BA-3873-6BAE34C37F55}"/>
              </a:ext>
            </a:extLst>
          </p:cNvPr>
          <p:cNvGrpSpPr/>
          <p:nvPr/>
        </p:nvGrpSpPr>
        <p:grpSpPr>
          <a:xfrm>
            <a:off x="5910100" y="1898289"/>
            <a:ext cx="5443700" cy="1812290"/>
            <a:chOff x="5507117" y="3185551"/>
            <a:chExt cx="5443700" cy="1812290"/>
          </a:xfrm>
        </p:grpSpPr>
        <p:sp>
          <p:nvSpPr>
            <p:cNvPr id="7" name="사각형: 잘린 한쪽 모서리 6">
              <a:extLst>
                <a:ext uri="{FF2B5EF4-FFF2-40B4-BE49-F238E27FC236}">
                  <a16:creationId xmlns:a16="http://schemas.microsoft.com/office/drawing/2014/main" id="{C3D317AC-2C4B-8DAA-8CC6-2020A8EE4F33}"/>
                </a:ext>
              </a:extLst>
            </p:cNvPr>
            <p:cNvSpPr/>
            <p:nvPr/>
          </p:nvSpPr>
          <p:spPr>
            <a:xfrm>
              <a:off x="5507117" y="3763499"/>
              <a:ext cx="470517" cy="612559"/>
            </a:xfrm>
            <a:prstGeom prst="snip1Rect">
              <a:avLst>
                <a:gd name="adj" fmla="val 29875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File</a:t>
              </a:r>
              <a:endParaRPr lang="ko-KR" altLang="en-US" sz="1000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45085ABD-2933-BD66-03A3-9BAB0BFA7F9C}"/>
                </a:ext>
              </a:extLst>
            </p:cNvPr>
            <p:cNvSpPr/>
            <p:nvPr/>
          </p:nvSpPr>
          <p:spPr>
            <a:xfrm>
              <a:off x="6691369" y="3799009"/>
              <a:ext cx="1154097" cy="54153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/>
                <a:t>BufferedStream</a:t>
              </a:r>
              <a:endParaRPr lang="ko-KR" altLang="en-US" sz="1100" dirty="0"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203C6CA7-5E2A-8DD5-66A9-AD518F3905CE}"/>
                </a:ext>
              </a:extLst>
            </p:cNvPr>
            <p:cNvSpPr/>
            <p:nvPr/>
          </p:nvSpPr>
          <p:spPr>
            <a:xfrm>
              <a:off x="8559201" y="3833252"/>
              <a:ext cx="976543" cy="4730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Iterator</a:t>
              </a:r>
              <a:endParaRPr lang="ko-KR" altLang="en-US" sz="1000" dirty="0"/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218982F5-02EC-E51F-BCB7-BFC57EC4EC1A}"/>
                </a:ext>
              </a:extLst>
            </p:cNvPr>
            <p:cNvSpPr/>
            <p:nvPr/>
          </p:nvSpPr>
          <p:spPr>
            <a:xfrm>
              <a:off x="10249481" y="3939784"/>
              <a:ext cx="701336" cy="25998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Record</a:t>
              </a:r>
              <a:endParaRPr lang="ko-KR" altLang="en-US" sz="1000" dirty="0"/>
            </a:p>
          </p:txBody>
        </p: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56B60A25-EA12-BA2C-B2B0-AF8EA8446B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25264" y="4040610"/>
              <a:ext cx="618475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5A54A94E-B50F-4317-C79D-C3B056491E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93096" y="4040610"/>
              <a:ext cx="618475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9E93C125-2298-B0CB-45D7-E51C58CC1F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83374" y="4040610"/>
              <a:ext cx="618475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3444C7E1-9137-C5F1-F0BF-0A25A37B54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25264" y="4147984"/>
              <a:ext cx="61847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73A87BE1-A536-F921-5A22-54B2426379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93096" y="4147984"/>
              <a:ext cx="61847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C42FA28D-B5BB-3ABA-0F80-9195C9F0E3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83374" y="4147984"/>
              <a:ext cx="61847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A534113-EDE1-4180-2459-F7AB6D4C07CC}"/>
                </a:ext>
              </a:extLst>
            </p:cNvPr>
            <p:cNvSpPr txBox="1"/>
            <p:nvPr/>
          </p:nvSpPr>
          <p:spPr>
            <a:xfrm>
              <a:off x="6106420" y="3772559"/>
              <a:ext cx="47641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/>
                <a:t>Read</a:t>
              </a:r>
              <a:endParaRPr lang="ko-KR" altLang="en-US" sz="1000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395159C-9F02-0C72-67A8-DD18E33B9ECC}"/>
                </a:ext>
              </a:extLst>
            </p:cNvPr>
            <p:cNvSpPr txBox="1"/>
            <p:nvPr/>
          </p:nvSpPr>
          <p:spPr>
            <a:xfrm>
              <a:off x="6096000" y="4154750"/>
              <a:ext cx="49725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/>
                <a:t>Write</a:t>
              </a:r>
              <a:endParaRPr lang="ko-KR" altLang="en-US" sz="10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1CAE80A-F993-E8CB-81CE-E6E7227B97AE}"/>
                </a:ext>
              </a:extLst>
            </p:cNvPr>
            <p:cNvSpPr txBox="1"/>
            <p:nvPr/>
          </p:nvSpPr>
          <p:spPr>
            <a:xfrm>
              <a:off x="7925923" y="3763499"/>
              <a:ext cx="60946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/>
                <a:t>Parsing</a:t>
              </a:r>
              <a:endParaRPr lang="ko-KR" altLang="en-US" sz="1000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7DA8FFC-F858-1E39-5B95-CEFE0ECF1FCB}"/>
                </a:ext>
              </a:extLst>
            </p:cNvPr>
            <p:cNvSpPr txBox="1"/>
            <p:nvPr/>
          </p:nvSpPr>
          <p:spPr>
            <a:xfrm>
              <a:off x="7900046" y="4155439"/>
              <a:ext cx="65915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/>
                <a:t>Serialize</a:t>
              </a:r>
              <a:endParaRPr lang="ko-KR" altLang="en-US" sz="100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30E93D4-B763-9A27-D07F-BBE68A00AFB8}"/>
                </a:ext>
              </a:extLst>
            </p:cNvPr>
            <p:cNvSpPr txBox="1"/>
            <p:nvPr/>
          </p:nvSpPr>
          <p:spPr>
            <a:xfrm>
              <a:off x="9510944" y="3772558"/>
              <a:ext cx="82105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/>
                <a:t>consuming</a:t>
              </a:r>
              <a:endParaRPr lang="ko-KR" altLang="en-US" sz="1000" dirty="0"/>
            </a:p>
          </p:txBody>
        </p:sp>
        <p:sp>
          <p:nvSpPr>
            <p:cNvPr id="33" name="화살표: 오른쪽 32">
              <a:extLst>
                <a:ext uri="{FF2B5EF4-FFF2-40B4-BE49-F238E27FC236}">
                  <a16:creationId xmlns:a16="http://schemas.microsoft.com/office/drawing/2014/main" id="{39EA0A11-55D4-555C-08FA-793274A3682D}"/>
                </a:ext>
              </a:extLst>
            </p:cNvPr>
            <p:cNvSpPr/>
            <p:nvPr/>
          </p:nvSpPr>
          <p:spPr>
            <a:xfrm>
              <a:off x="6106420" y="3391694"/>
              <a:ext cx="2415571" cy="246221"/>
            </a:xfrm>
            <a:prstGeom prst="rightArrow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화살표: 오른쪽 33">
              <a:extLst>
                <a:ext uri="{FF2B5EF4-FFF2-40B4-BE49-F238E27FC236}">
                  <a16:creationId xmlns:a16="http://schemas.microsoft.com/office/drawing/2014/main" id="{2DC10262-36BF-AF31-BC76-33C9C8B4D533}"/>
                </a:ext>
              </a:extLst>
            </p:cNvPr>
            <p:cNvSpPr/>
            <p:nvPr/>
          </p:nvSpPr>
          <p:spPr>
            <a:xfrm rot="10800000">
              <a:off x="6096000" y="4546690"/>
              <a:ext cx="2415571" cy="246221"/>
            </a:xfrm>
            <a:prstGeom prst="rightArrow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709EA5D-59F7-7D26-E69C-150A4F958DD9}"/>
                </a:ext>
              </a:extLst>
            </p:cNvPr>
            <p:cNvSpPr txBox="1"/>
            <p:nvPr/>
          </p:nvSpPr>
          <p:spPr>
            <a:xfrm>
              <a:off x="6758501" y="3185551"/>
              <a:ext cx="101983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 err="1"/>
                <a:t>RecordIterator</a:t>
              </a:r>
              <a:endParaRPr lang="ko-KR" altLang="en-US" sz="1000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8487C41-DA9A-A7DE-69E9-4013E3FAE7CB}"/>
                </a:ext>
              </a:extLst>
            </p:cNvPr>
            <p:cNvSpPr txBox="1"/>
            <p:nvPr/>
          </p:nvSpPr>
          <p:spPr>
            <a:xfrm>
              <a:off x="6793766" y="4751620"/>
              <a:ext cx="94929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 err="1"/>
                <a:t>RecordWriter</a:t>
              </a:r>
              <a:endParaRPr lang="ko-KR" alt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00496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1414F2-954B-47CC-AF79-7F9FD153F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1003"/>
          </a:xfrm>
        </p:spPr>
        <p:txBody>
          <a:bodyPr/>
          <a:lstStyle/>
          <a:p>
            <a:r>
              <a:rPr lang="en-US" altLang="ko-KR" dirty="0"/>
              <a:t>Milestone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7B9F407-B760-4B31-B3AB-1983A236D5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30" y="1494170"/>
            <a:ext cx="6374915" cy="499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437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</TotalTime>
  <Words>683</Words>
  <Application>Microsoft Macintosh PowerPoint</Application>
  <PresentationFormat>와이드스크린</PresentationFormat>
  <Paragraphs>245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맑은 고딕</vt:lpstr>
      <vt:lpstr>Arial</vt:lpstr>
      <vt:lpstr>Cambria Math</vt:lpstr>
      <vt:lpstr>Office 테마</vt:lpstr>
      <vt:lpstr>Progress presentation</vt:lpstr>
      <vt:lpstr>Outline</vt:lpstr>
      <vt:lpstr>Project Directory Structure</vt:lpstr>
      <vt:lpstr>Sampling</vt:lpstr>
      <vt:lpstr>Sort/Partition</vt:lpstr>
      <vt:lpstr>Shuffle</vt:lpstr>
      <vt:lpstr>Shuffle strategy abstraction</vt:lpstr>
      <vt:lpstr>PowerPoint 프레젠테이션</vt:lpstr>
      <vt:lpstr>Merge</vt:lpstr>
      <vt:lpstr>File I/O</vt:lpstr>
      <vt:lpstr>Milestone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홍채민(컴퓨터공학과)</dc:creator>
  <cp:lastModifiedBy>박서진(무은재학부)</cp:lastModifiedBy>
  <cp:revision>28</cp:revision>
  <dcterms:created xsi:type="dcterms:W3CDTF">2025-11-12T05:14:08Z</dcterms:created>
  <dcterms:modified xsi:type="dcterms:W3CDTF">2025-11-17T14:31:27Z</dcterms:modified>
</cp:coreProperties>
</file>