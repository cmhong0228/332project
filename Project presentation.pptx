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4" r:id="rId2"/>
    <p:sldId id="269" r:id="rId3"/>
    <p:sldId id="276" r:id="rId4"/>
    <p:sldId id="267" r:id="rId5"/>
    <p:sldId id="273" r:id="rId6"/>
    <p:sldId id="274" r:id="rId7"/>
    <p:sldId id="271" r:id="rId8"/>
    <p:sldId id="266" r:id="rId9"/>
    <p:sldId id="272" r:id="rId10"/>
    <p:sldId id="265" r:id="rId11"/>
    <p:sldId id="278" r:id="rId12"/>
    <p:sldId id="277" r:id="rId13"/>
    <p:sldId id="27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83946"/>
  </p:normalViewPr>
  <p:slideViewPr>
    <p:cSldViewPr snapToGrid="0">
      <p:cViewPr varScale="1">
        <p:scale>
          <a:sx n="135" d="100"/>
          <a:sy n="135" d="100"/>
        </p:scale>
        <p:origin x="1176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8EDB8-2852-46E4-8FBA-810475A5C20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C4196-358E-4653-A5AE-400785944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024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C4196-358E-4653-A5AE-40078594487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115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Demo –</a:t>
            </a:r>
            <a:r>
              <a:rPr kumimoji="1" lang="ko-KR" altLang="en-US" dirty="0"/>
              <a:t> 저희는 </a:t>
            </a:r>
            <a:r>
              <a:rPr kumimoji="1" lang="en-US" altLang="ko-KR" dirty="0"/>
              <a:t>Fault tolerance</a:t>
            </a:r>
            <a:r>
              <a:rPr kumimoji="1" lang="ko-KR" altLang="en-US" dirty="0"/>
              <a:t>에 대해 어떤 시점에 몇개 노드를 끊더라도 동작하도록 설계하였는데 조금 </a:t>
            </a:r>
            <a:r>
              <a:rPr kumimoji="1" lang="en-US" altLang="ko-KR" dirty="0"/>
              <a:t>stressful</a:t>
            </a:r>
            <a:r>
              <a:rPr kumimoji="1" lang="ko-KR" altLang="en-US" dirty="0"/>
              <a:t>한 </a:t>
            </a:r>
            <a:r>
              <a:rPr kumimoji="1" lang="en-US" altLang="ko-KR" dirty="0"/>
              <a:t>test demo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보여드리겠습니다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Worker registration</a:t>
            </a:r>
            <a:r>
              <a:rPr kumimoji="1" lang="ko-KR" altLang="en-US" dirty="0"/>
              <a:t>중에 끊고 </a:t>
            </a:r>
            <a:r>
              <a:rPr kumimoji="1" lang="en-US" altLang="ko-KR" dirty="0"/>
              <a:t>sampling </a:t>
            </a:r>
            <a:r>
              <a:rPr kumimoji="1" lang="ko-KR" altLang="en-US" dirty="0"/>
              <a:t>중에 끊고</a:t>
            </a:r>
            <a:r>
              <a:rPr kumimoji="1" lang="en-US" altLang="ko-KR" dirty="0"/>
              <a:t>.. </a:t>
            </a:r>
            <a:r>
              <a:rPr kumimoji="1" lang="ko-KR" altLang="en-US" dirty="0"/>
              <a:t>하더라도 다시 다 실행시켰을 때 잘 종료되는 것을 보실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C4196-358E-4653-A5AE-40078594487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252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C4196-358E-4653-A5AE-40078594487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5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C4196-358E-4653-A5AE-40078594487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704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C4196-358E-4653-A5AE-40078594487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89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413BA-6EAF-8972-66A4-25D93DEC6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5930B9-DEF6-5ECE-2F0F-7C80BE3ED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BCFF1C-1C08-B5E3-6A11-D1D184B0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E86675-AAB0-4211-7C78-C9F9A186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06F91-D3CC-27AF-60D3-F9BDBD1C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85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EB43E-46F0-CAAF-336E-AFDB744B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59B7B-7251-5FAC-1A15-9579BD487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97109-A320-83A6-28DF-2382597D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3C715E-BEA9-A416-6CC1-08A8D1C4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6EFFC4-8A8C-DB23-F84E-0AAFE83B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41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967DF-11D1-D432-447F-4DF8887C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AD4234-E1FB-09AF-F948-007DF1A40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96738-C348-38B7-FAC7-9FE6CF67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2DF42-FD6B-F416-0036-C6CFEDB0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E0791-2590-A814-C3FC-27106025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67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97111-6736-45DB-66BD-8D8C8404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FD1D0-181B-EDB7-15EF-C0A0CA911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8BDE8D-DD82-367F-D5DE-070F624A2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EBF19D-3D25-80AD-A101-A6A219B2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0625EB-03F2-C352-2F0E-1D79D8F3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2E0577-5C58-AAE6-D60F-4380AEE3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4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D15EB-8034-7119-3C96-238D1BDF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0118A9-4DF3-8F85-ADC2-9980F3740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89FF1A-AE39-9EDF-F0F5-AFEB40BA6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9DB277-5AF5-B8D3-EE95-BB07741AA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7BF50B-318B-15FC-7D66-F61DAA500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A72E8F-1D5A-7BF7-2513-F70FCD95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E0CE44-AB23-B38B-08C4-48482A9F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926BA5-2B51-8B93-2C23-A16AD135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69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20FDA-68BF-7273-F105-27992AB3E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CA526C-32D6-2287-543A-F69D11F9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682005-6C4C-896D-1DA7-D43F37E9B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63E2AB-19DF-496C-AD05-3DD64F31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29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920A0E-0E95-0F51-160E-B7591F3B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75D321-2F92-8D85-B6E6-E08975FC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6DFD1-555A-F27F-6A26-243C1115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61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812E4-5F2A-BC91-7992-D24AD44FA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9F5A0-E419-0D90-7FE6-410B53415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67F131-3F4A-302F-BDFD-E856EBA46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17E1F0-CC3A-BF27-A9AE-52DF232B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214A89-AD0E-62A4-EDF1-0C719364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9FD044-6DAA-8AE6-995D-28D8FE58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59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2D8D6-7062-FA09-14CE-E04AB11B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5DDD07-30DC-F9D8-A17F-10FCA413C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216280-A11F-1EB8-7C1D-BDCACFD26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CD0E3F-8BA7-5578-84DD-ADBD683C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F9CB13-5C99-7392-6731-AC58C1D9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854FAE-C977-6161-DD1D-5F138379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63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EAB7B-AA07-ECA4-16E4-94EED39F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58742F-F302-CA24-7C75-44DC69A5B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12628-F167-DC43-AECE-C9D5F143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37D9E2-9EC4-F170-D14A-097FD4CA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2F92BE-C424-527B-2BFD-11CA845B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79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CAC1A2-B568-3488-4A99-09B43832A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B3CA73-3719-4057-7016-2B6DD06F7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7C2733-A82E-43BA-DFFB-E9CF074A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E8FF91-DC85-3D61-0A85-8852166A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062CBF-7217-68F4-8DD2-0DEA365E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75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5F4B7A-591F-219C-D76B-90AE8873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204A14-EA03-15B3-8B97-E171E3BE1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3E8E0F-F4BE-548D-D647-355D34427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12281-6FFB-4835-8A87-43D74C14383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8ED8E-EEC8-B3F7-D89C-6BE6C07FA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64E0B8-9F7D-40BF-E718-1FAE22A02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1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clipart.org/detail/25850/file-diagram-by-pdesjardin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25850/file-diagram-by-pdesjardin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morning-drawbridge-ada.notion.site/SD-Project-2a8be201a70880d1a5e1f13ccfaa5049?source=copy_link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95445-BEA2-834B-8145-8783086BB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Project</a:t>
            </a:r>
            <a:r>
              <a:rPr kumimoji="1" lang="ko-K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1"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presentation</a:t>
            </a:r>
            <a:endParaRPr kumimoji="1"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333625-557B-0747-AEC2-0B76C05EC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SD Team gray</a:t>
            </a:r>
          </a:p>
          <a:p>
            <a:r>
              <a:rPr kumimoji="1"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Hong </a:t>
            </a:r>
            <a:r>
              <a:rPr kumimoji="1"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chaemin</a:t>
            </a:r>
            <a:endParaRPr kumimoji="1" lang="en-US" altLang="ko-K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kumimoji="1"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Park </a:t>
            </a:r>
            <a:r>
              <a:rPr kumimoji="1"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seojin</a:t>
            </a:r>
            <a:endParaRPr kumimoji="1" lang="en-US" altLang="ko-K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kumimoji="1"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Cho </a:t>
            </a:r>
            <a:r>
              <a:rPr kumimoji="1"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moohyun</a:t>
            </a:r>
            <a:endParaRPr kumimoji="1"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63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14A8F-EB1C-D04E-1B6D-A6AF24FD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Command lines  for running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A0437-D1AA-384F-AB2D-4C114ED9BCC3}"/>
              </a:ext>
            </a:extLst>
          </p:cNvPr>
          <p:cNvSpPr txBox="1"/>
          <p:nvPr/>
        </p:nvSpPr>
        <p:spPr>
          <a:xfrm>
            <a:off x="993055" y="1448719"/>
            <a:ext cx="5090496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ko-KR" sz="2800" dirty="0">
                <a:latin typeface="Segoe UI" panose="020B0502040204020203" pitchFamily="34" charset="0"/>
                <a:cs typeface="Segoe UI" panose="020B0502040204020203" pitchFamily="34" charset="0"/>
              </a:rPr>
              <a:t>Run Master/Worker (by scripts)</a:t>
            </a:r>
          </a:p>
          <a:p>
            <a:pPr marL="0" indent="0">
              <a:buNone/>
            </a:pPr>
            <a:endParaRPr lang="en-US" altLang="ko-K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altLang="ko-K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C2DC3F-A8AE-B445-888F-5FAC272726F3}"/>
              </a:ext>
            </a:extLst>
          </p:cNvPr>
          <p:cNvSpPr txBox="1"/>
          <p:nvPr/>
        </p:nvSpPr>
        <p:spPr>
          <a:xfrm>
            <a:off x="993055" y="2923828"/>
            <a:ext cx="6010363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ko-KR" sz="2800" dirty="0"/>
          </a:p>
          <a:p>
            <a:r>
              <a:rPr kumimoji="1" lang="en-US" altLang="ko-KR" sz="2800" dirty="0"/>
              <a:t>Structured logging (SLF2J, </a:t>
            </a:r>
            <a:r>
              <a:rPr kumimoji="1" lang="en-US" altLang="ko-KR" sz="2800" dirty="0" err="1"/>
              <a:t>Logback</a:t>
            </a:r>
            <a:r>
              <a:rPr kumimoji="1" lang="en-US" altLang="ko-KR" sz="2800" dirty="0"/>
              <a:t>)</a:t>
            </a:r>
          </a:p>
          <a:p>
            <a:r>
              <a:rPr kumimoji="1" lang="en-US" altLang="ko-KR" dirty="0"/>
              <a:t>- Set </a:t>
            </a:r>
            <a:r>
              <a:rPr kumimoji="1" lang="en-US" altLang="ko-KR" dirty="0" err="1"/>
              <a:t>Log_Level</a:t>
            </a:r>
            <a:r>
              <a:rPr kumimoji="1" lang="en-US" altLang="ko-KR" dirty="0"/>
              <a:t> by environment variable (default: INFO)</a:t>
            </a:r>
          </a:p>
          <a:p>
            <a:r>
              <a:rPr kumimoji="1" lang="en-US" altLang="ko-KR" dirty="0"/>
              <a:t>- e.g.</a:t>
            </a:r>
            <a:endParaRPr kumimoji="1" lang="ko-KR" altLang="en-US" dirty="0"/>
          </a:p>
          <a:p>
            <a:br>
              <a:rPr kumimoji="1" lang="en-US" altLang="ko-KR" sz="2800" dirty="0"/>
            </a:br>
            <a:endParaRPr kumimoji="1" lang="en-US" altLang="ko-KR" sz="2800" dirty="0"/>
          </a:p>
          <a:p>
            <a:endParaRPr kumimoji="1" lang="en-US" altLang="ko-KR" sz="2800" dirty="0"/>
          </a:p>
          <a:p>
            <a:endParaRPr kumimoji="1" lang="ko-KR" altLang="en-US" sz="2800" dirty="0"/>
          </a:p>
        </p:txBody>
      </p:sp>
      <p:pic>
        <p:nvPicPr>
          <p:cNvPr id="11" name="그림 10" descr="폰트, 텍스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CBD28567-56F4-274B-95B9-7B3C82F74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55" y="1964584"/>
            <a:ext cx="2257483" cy="79863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C4F1AC1-FB04-7242-8623-3A3A2D161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19" y="1957347"/>
            <a:ext cx="7685192" cy="795376"/>
          </a:xfrm>
          <a:prstGeom prst="rect">
            <a:avLst/>
          </a:prstGeom>
        </p:spPr>
      </p:pic>
      <p:pic>
        <p:nvPicPr>
          <p:cNvPr id="21" name="그림 20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EDDED76B-4A28-B540-A342-59596F5BCC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90" y="4194306"/>
            <a:ext cx="6091882" cy="100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2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3C9A-333F-524F-9305-CC3E7D1C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Experimental results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86882-0BBE-1A48-B8DB-B76972292A9B}"/>
              </a:ext>
            </a:extLst>
          </p:cNvPr>
          <p:cNvSpPr txBox="1"/>
          <p:nvPr/>
        </p:nvSpPr>
        <p:spPr>
          <a:xfrm>
            <a:off x="683998" y="1541087"/>
            <a:ext cx="365301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1" dirty="0"/>
              <a:t>Execution time </a:t>
            </a:r>
          </a:p>
          <a:p>
            <a:endParaRPr lang="en" altLang="ko-KR" b="1" dirty="0"/>
          </a:p>
          <a:p>
            <a:r>
              <a:rPr lang="en" altLang="ko-KR" b="1" dirty="0"/>
              <a:t>- small</a:t>
            </a:r>
          </a:p>
          <a:p>
            <a:r>
              <a:rPr lang="en" altLang="ko-KR" b="1" dirty="0"/>
              <a:t>20 </a:t>
            </a:r>
            <a:r>
              <a:rPr lang="en" altLang="ko-KR" dirty="0"/>
              <a:t>7.389s</a:t>
            </a:r>
          </a:p>
          <a:p>
            <a:r>
              <a:rPr lang="en" altLang="ko-KR" b="1" dirty="0"/>
              <a:t>18 </a:t>
            </a:r>
            <a:r>
              <a:rPr lang="en" altLang="ko-KR" dirty="0"/>
              <a:t>5.107s </a:t>
            </a:r>
          </a:p>
          <a:p>
            <a:r>
              <a:rPr lang="en" altLang="ko-KR" b="1" dirty="0"/>
              <a:t>4 </a:t>
            </a:r>
            <a:r>
              <a:rPr lang="en" altLang="ko-KR" dirty="0"/>
              <a:t>3.727s </a:t>
            </a:r>
            <a:br>
              <a:rPr lang="en" altLang="ko-KR" dirty="0"/>
            </a:br>
            <a:endParaRPr lang="en" altLang="ko-KR" dirty="0"/>
          </a:p>
          <a:p>
            <a:r>
              <a:rPr lang="en" altLang="ko-KR" b="1" dirty="0"/>
              <a:t>- big</a:t>
            </a:r>
          </a:p>
          <a:p>
            <a:r>
              <a:rPr lang="en" altLang="ko-KR" b="1" dirty="0"/>
              <a:t>20 </a:t>
            </a:r>
            <a:r>
              <a:rPr lang="en" altLang="ko-KR" dirty="0"/>
              <a:t>13m 16.82s</a:t>
            </a:r>
          </a:p>
          <a:p>
            <a:r>
              <a:rPr lang="en" altLang="ko-KR" b="1" dirty="0"/>
              <a:t>18 </a:t>
            </a:r>
            <a:r>
              <a:rPr lang="en" altLang="ko-KR" dirty="0"/>
              <a:t>27.988s </a:t>
            </a:r>
          </a:p>
          <a:p>
            <a:r>
              <a:rPr lang="en" altLang="ko-KR" b="1" dirty="0"/>
              <a:t>7 </a:t>
            </a:r>
            <a:r>
              <a:rPr lang="en" altLang="ko-KR" dirty="0"/>
              <a:t>10.124s </a:t>
            </a:r>
          </a:p>
          <a:p>
            <a:r>
              <a:rPr lang="en" altLang="ko-KR" b="1" dirty="0"/>
              <a:t>4 </a:t>
            </a:r>
            <a:r>
              <a:rPr lang="en" altLang="ko-KR" dirty="0"/>
              <a:t>8.101s</a:t>
            </a:r>
            <a:br>
              <a:rPr lang="en" altLang="ko-KR" dirty="0"/>
            </a:br>
            <a:endParaRPr lang="en" altLang="ko-KR" dirty="0"/>
          </a:p>
          <a:p>
            <a:r>
              <a:rPr lang="en" altLang="ko-KR" b="1" dirty="0"/>
              <a:t>- Large</a:t>
            </a:r>
          </a:p>
          <a:p>
            <a:r>
              <a:rPr lang="en" altLang="ko-KR" b="1" dirty="0"/>
              <a:t>20</a:t>
            </a:r>
          </a:p>
          <a:p>
            <a:r>
              <a:rPr lang="en" altLang="ko-KR" b="1" dirty="0"/>
              <a:t>4 </a:t>
            </a:r>
            <a:r>
              <a:rPr lang="en" altLang="ko-KR" dirty="0"/>
              <a:t>2m 5.182s</a:t>
            </a:r>
          </a:p>
          <a:p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084ED-1B38-1A4D-BDEF-9BC519B68BCC}"/>
              </a:ext>
            </a:extLst>
          </p:cNvPr>
          <p:cNvSpPr txBox="1"/>
          <p:nvPr/>
        </p:nvSpPr>
        <p:spPr>
          <a:xfrm>
            <a:off x="3758254" y="1541087"/>
            <a:ext cx="1465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Correctness</a:t>
            </a:r>
            <a:endParaRPr kumimoji="1" lang="ko-KR" altLang="en-US" b="1" dirty="0"/>
          </a:p>
        </p:txBody>
      </p:sp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5B9169AE-A67B-654A-99D8-7B907E85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029" y="3347074"/>
            <a:ext cx="3018486" cy="29953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C073A7-9894-524E-A662-9E8A8CA99427}"/>
              </a:ext>
            </a:extLst>
          </p:cNvPr>
          <p:cNvSpPr txBox="1"/>
          <p:nvPr/>
        </p:nvSpPr>
        <p:spPr>
          <a:xfrm>
            <a:off x="3642972" y="3245000"/>
            <a:ext cx="551824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 </a:t>
            </a:r>
            <a:r>
              <a:rPr kumimoji="1" lang="en-US" altLang="ko-KR" dirty="0" err="1"/>
              <a:t>Valsol</a:t>
            </a:r>
            <a:r>
              <a:rPr kumimoji="1" lang="en-US" altLang="ko-KR" dirty="0"/>
              <a:t> for each worker – Check output ordering</a:t>
            </a:r>
            <a:br>
              <a:rPr kumimoji="1" lang="en-US" altLang="ko-KR" dirty="0"/>
            </a:br>
            <a:r>
              <a:rPr kumimoji="1" lang="en-US" altLang="ko-KR" dirty="0"/>
              <a:t>   Assertion code in merge phase </a:t>
            </a:r>
          </a:p>
          <a:p>
            <a:r>
              <a:rPr kumimoji="1" lang="en-US" altLang="ko-KR" dirty="0"/>
              <a:t>   - Guarantee each key is within the pivot range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3. Assertion code in completion phase</a:t>
            </a:r>
          </a:p>
          <a:p>
            <a:r>
              <a:rPr kumimoji="1" lang="en-US" altLang="ko-KR" dirty="0"/>
              <a:t>   - Guarantee the number of records is conserved</a:t>
            </a:r>
          </a:p>
          <a:p>
            <a:r>
              <a:rPr kumimoji="1" lang="en-US" altLang="ko-KR" dirty="0"/>
              <a:t>   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 </a:t>
            </a:r>
            <a:endParaRPr kumimoji="1" lang="ko-KR" altLang="en-US" dirty="0"/>
          </a:p>
        </p:txBody>
      </p:sp>
      <p:pic>
        <p:nvPicPr>
          <p:cNvPr id="13" name="그림 1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93DB3D7B-4B10-334F-B116-2D5BD7260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3" y="5081884"/>
            <a:ext cx="5247684" cy="1410991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AF5EF1B-5E23-9548-9D80-EF9094948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191903"/>
              </p:ext>
            </p:extLst>
          </p:nvPr>
        </p:nvGraphicFramePr>
        <p:xfrm>
          <a:off x="3787658" y="1984518"/>
          <a:ext cx="7014345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5141">
                  <a:extLst>
                    <a:ext uri="{9D8B030D-6E8A-4147-A177-3AD203B41FA5}">
                      <a16:colId xmlns:a16="http://schemas.microsoft.com/office/drawing/2014/main" val="2240829383"/>
                    </a:ext>
                  </a:extLst>
                </a:gridCol>
                <a:gridCol w="1509204">
                  <a:extLst>
                    <a:ext uri="{9D8B030D-6E8A-4147-A177-3AD203B41FA5}">
                      <a16:colId xmlns:a16="http://schemas.microsoft.com/office/drawing/2014/main" val="3528241609"/>
                    </a:ext>
                  </a:extLst>
                </a:gridCol>
              </a:tblGrid>
              <a:tr h="2418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1. Does the master print a sequence of workers?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298517"/>
                  </a:ext>
                </a:extLst>
              </a:tr>
              <a:tr h="2418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2. Is the output sorted in each worker?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242969"/>
                  </a:ext>
                </a:extLst>
              </a:tr>
              <a:tr h="2418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3. # of records in the input == # of records in the output?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700916"/>
                  </a:ext>
                </a:extLst>
              </a:tr>
              <a:tr h="2418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4. Fault tolerance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8564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46E147-AAC3-DD42-8487-6340F1D5E5A4}"/>
              </a:ext>
            </a:extLst>
          </p:cNvPr>
          <p:cNvSpPr txBox="1"/>
          <p:nvPr/>
        </p:nvSpPr>
        <p:spPr>
          <a:xfrm>
            <a:off x="9100029" y="5684227"/>
            <a:ext cx="2253771" cy="59320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493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3281A-1A7E-965E-ADE2-1FD406C4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991680" cy="1325563"/>
          </a:xfrm>
        </p:spPr>
        <p:txBody>
          <a:bodyPr/>
          <a:lstStyle/>
          <a:p>
            <a:r>
              <a:rPr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 – how worker knows own needed File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E766727-DFE8-575D-674B-29DAAC36B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Pull-based shuffle</a:t>
            </a:r>
          </a:p>
          <a:p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File name for shuffle: file_#i_#j_#k.dat (</a:t>
            </a:r>
            <a:r>
              <a:rPr lang="en-US" altLang="ko-KR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: worker number, j: partition, k: index)</a:t>
            </a:r>
          </a:p>
          <a:p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Each worker reports own file Id set (</a:t>
            </a:r>
            <a:r>
              <a:rPr lang="en-US" altLang="ko-KR" sz="2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altLang="ko-KR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, j, k</a:t>
            </a:r>
            <a:r>
              <a:rPr lang="en-US" altLang="ko-KR" sz="2000" dirty="0">
                <a:latin typeface="Segoe UI" panose="020B0502040204020203" pitchFamily="34" charset="0"/>
                <a:cs typeface="Segoe UI" panose="020B0502040204020203" pitchFamily="34" charset="0"/>
              </a:rPr>
              <a:t>) to the Master and receives the complete file list from all workers.</a:t>
            </a:r>
          </a:p>
          <a:p>
            <a:endParaRPr lang="en-US" altLang="ko-K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2" descr="Dell PowerEdge 2850 Refurbished Servers">
            <a:extLst>
              <a:ext uri="{FF2B5EF4-FFF2-40B4-BE49-F238E27FC236}">
                <a16:creationId xmlns:a16="http://schemas.microsoft.com/office/drawing/2014/main" id="{D0E4E1E0-A779-9DB7-7035-6D4CF6CC5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16324" y="3529969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Dell PowerEdge 2850 Refurbished Servers">
            <a:extLst>
              <a:ext uri="{FF2B5EF4-FFF2-40B4-BE49-F238E27FC236}">
                <a16:creationId xmlns:a16="http://schemas.microsoft.com/office/drawing/2014/main" id="{8E21634A-C33E-69A1-137D-D7958E5DF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1081" y="4888252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ell PowerEdge 2850 Refurbished Servers">
            <a:extLst>
              <a:ext uri="{FF2B5EF4-FFF2-40B4-BE49-F238E27FC236}">
                <a16:creationId xmlns:a16="http://schemas.microsoft.com/office/drawing/2014/main" id="{FF928FE5-B7E5-A153-2A27-8A5788432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2588" y="4888252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89D4C4-D045-6C5E-BDEE-D090EEEFA0F8}"/>
              </a:ext>
            </a:extLst>
          </p:cNvPr>
          <p:cNvSpPr txBox="1"/>
          <p:nvPr/>
        </p:nvSpPr>
        <p:spPr>
          <a:xfrm>
            <a:off x="5509681" y="3244334"/>
            <a:ext cx="89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Master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5ADE09-AEDD-AA49-6968-E7C6EB1C155B}"/>
              </a:ext>
            </a:extLst>
          </p:cNvPr>
          <p:cNvSpPr txBox="1"/>
          <p:nvPr/>
        </p:nvSpPr>
        <p:spPr>
          <a:xfrm>
            <a:off x="2543166" y="4636118"/>
            <a:ext cx="106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Worker1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DCBA3-0359-DF74-DDBE-3B018198F099}"/>
              </a:ext>
            </a:extLst>
          </p:cNvPr>
          <p:cNvSpPr txBox="1"/>
          <p:nvPr/>
        </p:nvSpPr>
        <p:spPr>
          <a:xfrm>
            <a:off x="8384673" y="4636118"/>
            <a:ext cx="106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Worker2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974371D-E9DA-6A74-0AEE-06EE843738E3}"/>
              </a:ext>
            </a:extLst>
          </p:cNvPr>
          <p:cNvGrpSpPr/>
          <p:nvPr/>
        </p:nvGrpSpPr>
        <p:grpSpPr>
          <a:xfrm>
            <a:off x="1422505" y="5677070"/>
            <a:ext cx="3303149" cy="915664"/>
            <a:chOff x="1549558" y="5627576"/>
            <a:chExt cx="3303149" cy="91566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C48D580-0B9F-A1B3-4FBA-FD968ED01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1768010" y="5627576"/>
              <a:ext cx="469114" cy="59633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800B5C2-7B15-7491-1812-47F41D402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2572664" y="5627576"/>
              <a:ext cx="469114" cy="59633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83AE826-88AB-0883-E429-C9DFF918E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3377318" y="5627576"/>
              <a:ext cx="469114" cy="596332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3882122-3E94-871E-B67B-54FF19026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4181973" y="5627576"/>
              <a:ext cx="469114" cy="59633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AC7B04-6D4B-504D-51EC-6B978AA960F2}"/>
                </a:ext>
              </a:extLst>
            </p:cNvPr>
            <p:cNvSpPr txBox="1"/>
            <p:nvPr/>
          </p:nvSpPr>
          <p:spPr>
            <a:xfrm>
              <a:off x="1549558" y="6266241"/>
              <a:ext cx="8563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File_1_1_0</a:t>
              </a:r>
              <a:endParaRPr lang="ko-KR" altLang="en-US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B7C64A-4B2C-9D9C-BEDE-D04AF1CE6614}"/>
                </a:ext>
              </a:extLst>
            </p:cNvPr>
            <p:cNvSpPr txBox="1"/>
            <p:nvPr/>
          </p:nvSpPr>
          <p:spPr>
            <a:xfrm>
              <a:off x="2382264" y="6266241"/>
              <a:ext cx="8723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File_1_1_1</a:t>
              </a:r>
              <a:endParaRPr lang="ko-KR" altLang="en-US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77F69D4-4FFA-218C-6874-34CC0B9FFD86}"/>
                </a:ext>
              </a:extLst>
            </p:cNvPr>
            <p:cNvSpPr txBox="1"/>
            <p:nvPr/>
          </p:nvSpPr>
          <p:spPr>
            <a:xfrm>
              <a:off x="3181308" y="6266241"/>
              <a:ext cx="8723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File_1_2_0</a:t>
              </a:r>
              <a:endParaRPr lang="ko-KR" altLang="en-US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4B730D-3588-51DF-B5DC-D68DE028B2FD}"/>
                </a:ext>
              </a:extLst>
            </p:cNvPr>
            <p:cNvSpPr txBox="1"/>
            <p:nvPr/>
          </p:nvSpPr>
          <p:spPr>
            <a:xfrm>
              <a:off x="3980352" y="6266241"/>
              <a:ext cx="8723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File_1_2_1</a:t>
              </a:r>
              <a:endParaRPr lang="ko-KR" altLang="en-US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B5423A1-F066-91A8-4B24-7BC45FDB0D15}"/>
              </a:ext>
            </a:extLst>
          </p:cNvPr>
          <p:cNvGrpSpPr/>
          <p:nvPr/>
        </p:nvGrpSpPr>
        <p:grpSpPr>
          <a:xfrm>
            <a:off x="7264012" y="5677070"/>
            <a:ext cx="3303149" cy="915664"/>
            <a:chOff x="1549558" y="5627576"/>
            <a:chExt cx="3303149" cy="91566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BE2965C-D629-53A4-A93C-BC3C1F071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1768010" y="5627576"/>
              <a:ext cx="469114" cy="5963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27B8C811-C90C-C5C9-A3C3-4E3CEC2C8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2572664" y="5627576"/>
              <a:ext cx="469114" cy="596332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FC8DB8D-5356-67B1-FE2A-D6F09CFAB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3377318" y="5627576"/>
              <a:ext cx="469114" cy="596332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BDAB3D3-0794-AFBB-6D51-E95F5E650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4181973" y="5627576"/>
              <a:ext cx="469114" cy="596332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E7DEED-2FDB-9BA8-009E-D94AC0349BCE}"/>
                </a:ext>
              </a:extLst>
            </p:cNvPr>
            <p:cNvSpPr txBox="1"/>
            <p:nvPr/>
          </p:nvSpPr>
          <p:spPr>
            <a:xfrm>
              <a:off x="1549558" y="6266241"/>
              <a:ext cx="8723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File_2_1_0</a:t>
              </a:r>
              <a:endParaRPr lang="ko-KR" altLang="en-US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E53BC2-BB68-8B6F-7B6A-9AA88666D4C8}"/>
                </a:ext>
              </a:extLst>
            </p:cNvPr>
            <p:cNvSpPr txBox="1"/>
            <p:nvPr/>
          </p:nvSpPr>
          <p:spPr>
            <a:xfrm>
              <a:off x="2382264" y="6266241"/>
              <a:ext cx="8723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File_2_1_1</a:t>
              </a:r>
              <a:endParaRPr lang="ko-KR" altLang="en-US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8096725-DA67-50A0-705F-7806B377F1F8}"/>
                </a:ext>
              </a:extLst>
            </p:cNvPr>
            <p:cNvSpPr txBox="1"/>
            <p:nvPr/>
          </p:nvSpPr>
          <p:spPr>
            <a:xfrm>
              <a:off x="3181308" y="6266241"/>
              <a:ext cx="8723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File_2_2_0</a:t>
              </a:r>
              <a:endParaRPr lang="ko-KR" altLang="en-US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90B033-2F6F-DEAC-E805-F6BC132ECFF9}"/>
                </a:ext>
              </a:extLst>
            </p:cNvPr>
            <p:cNvSpPr txBox="1"/>
            <p:nvPr/>
          </p:nvSpPr>
          <p:spPr>
            <a:xfrm>
              <a:off x="3980352" y="6266241"/>
              <a:ext cx="8723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File_2_2_1</a:t>
              </a:r>
              <a:endParaRPr lang="ko-KR" altLang="en-US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746F0EF-14A5-CBF7-E04F-4EAE1BD03EC9}"/>
              </a:ext>
            </a:extLst>
          </p:cNvPr>
          <p:cNvCxnSpPr/>
          <p:nvPr/>
        </p:nvCxnSpPr>
        <p:spPr>
          <a:xfrm flipV="1">
            <a:off x="3719379" y="4128457"/>
            <a:ext cx="1314260" cy="75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E0A81C8-7C83-DE66-30E2-996DA2D12442}"/>
              </a:ext>
            </a:extLst>
          </p:cNvPr>
          <p:cNvCxnSpPr/>
          <p:nvPr/>
        </p:nvCxnSpPr>
        <p:spPr>
          <a:xfrm flipH="1" flipV="1">
            <a:off x="6897950" y="4128457"/>
            <a:ext cx="1322772" cy="75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1B6678D-1A62-E457-ECC8-3F70794FB89C}"/>
              </a:ext>
            </a:extLst>
          </p:cNvPr>
          <p:cNvSpPr txBox="1"/>
          <p:nvPr/>
        </p:nvSpPr>
        <p:spPr>
          <a:xfrm>
            <a:off x="3605723" y="3963833"/>
            <a:ext cx="108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(1,1,0)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altLang="ko-KR" sz="1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(1,1,1)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(1,2,0)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(1,2,1)</a:t>
            </a:r>
            <a:endParaRPr lang="ko-KR" altLang="en-US" sz="12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38995B-C71D-864F-C34B-1BC46BE86A2A}"/>
              </a:ext>
            </a:extLst>
          </p:cNvPr>
          <p:cNvSpPr txBox="1"/>
          <p:nvPr/>
        </p:nvSpPr>
        <p:spPr>
          <a:xfrm>
            <a:off x="7373644" y="4001294"/>
            <a:ext cx="108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(2,1,0)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altLang="ko-KR" sz="1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(2,1,1)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(2,2,0)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(2,2,1)</a:t>
            </a:r>
            <a:endParaRPr lang="ko-KR" altLang="en-US" sz="12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7E5ED72-A638-C71A-87C5-3E10FE78488C}"/>
              </a:ext>
            </a:extLst>
          </p:cNvPr>
          <p:cNvCxnSpPr/>
          <p:nvPr/>
        </p:nvCxnSpPr>
        <p:spPr>
          <a:xfrm flipH="1">
            <a:off x="3926610" y="4194665"/>
            <a:ext cx="1337848" cy="810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E6559F0-B888-599C-6F24-E7C02B62A42E}"/>
              </a:ext>
            </a:extLst>
          </p:cNvPr>
          <p:cNvCxnSpPr/>
          <p:nvPr/>
        </p:nvCxnSpPr>
        <p:spPr>
          <a:xfrm>
            <a:off x="6596109" y="4194665"/>
            <a:ext cx="1355469" cy="810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0C9BB47-67CE-DFB5-9FDF-75FF7F091E3D}"/>
              </a:ext>
            </a:extLst>
          </p:cNvPr>
          <p:cNvSpPr txBox="1"/>
          <p:nvPr/>
        </p:nvSpPr>
        <p:spPr>
          <a:xfrm>
            <a:off x="5410121" y="4194665"/>
            <a:ext cx="1082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(1,1,0)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altLang="ko-KR" sz="1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(1,1,1)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(1,2,0)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(1,2,1)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US" altLang="ko-KR" sz="1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(2,1,0)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altLang="ko-KR" sz="1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(2,1,1)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(2,2,0)</a:t>
            </a:r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(2,2,1)</a:t>
            </a:r>
            <a:endParaRPr lang="ko-KR" altLang="en-US" sz="12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12B4FE9-7770-85AB-A9DE-7DCD8F1F8437}"/>
              </a:ext>
            </a:extLst>
          </p:cNvPr>
          <p:cNvCxnSpPr/>
          <p:nvPr/>
        </p:nvCxnSpPr>
        <p:spPr>
          <a:xfrm flipH="1">
            <a:off x="4306308" y="5294028"/>
            <a:ext cx="34107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D9646E4-A4E1-3FC9-6550-3A678016C07B}"/>
              </a:ext>
            </a:extLst>
          </p:cNvPr>
          <p:cNvSpPr txBox="1"/>
          <p:nvPr/>
        </p:nvSpPr>
        <p:spPr>
          <a:xfrm>
            <a:off x="5651373" y="5048996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(1,2,0)</a:t>
            </a:r>
            <a:endParaRPr lang="ko-KR" altLang="en-US" sz="12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341B963-3681-611F-5A00-1699CAAABEC4}"/>
              </a:ext>
            </a:extLst>
          </p:cNvPr>
          <p:cNvCxnSpPr/>
          <p:nvPr/>
        </p:nvCxnSpPr>
        <p:spPr>
          <a:xfrm>
            <a:off x="4306308" y="5424256"/>
            <a:ext cx="3466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A9E093F7-A9BC-7AED-A41F-5772CB534C8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13928" y="5486079"/>
            <a:ext cx="469114" cy="59633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712ABBA-29C2-6AD3-9E68-EC5D1FD13CD1}"/>
              </a:ext>
            </a:extLst>
          </p:cNvPr>
          <p:cNvSpPr txBox="1"/>
          <p:nvPr/>
        </p:nvSpPr>
        <p:spPr>
          <a:xfrm>
            <a:off x="5517918" y="6124744"/>
            <a:ext cx="872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File_1_2_0</a:t>
            </a:r>
            <a:endParaRPr lang="ko-KR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BB91BF-B961-5541-93FD-A09B1DDA6321}"/>
              </a:ext>
            </a:extLst>
          </p:cNvPr>
          <p:cNvSpPr txBox="1"/>
          <p:nvPr/>
        </p:nvSpPr>
        <p:spPr>
          <a:xfrm>
            <a:off x="9795067" y="3706109"/>
            <a:ext cx="1892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0070C0"/>
                </a:solidFill>
              </a:rPr>
              <a:t>Blue</a:t>
            </a:r>
            <a:r>
              <a:rPr kumimoji="1" lang="en-US" altLang="ko-KR" dirty="0"/>
              <a:t>: partition 1</a:t>
            </a:r>
            <a:br>
              <a:rPr kumimoji="1" lang="en-US" altLang="ko-KR" dirty="0"/>
            </a:br>
            <a:r>
              <a:rPr kumimoji="1" lang="en-US" altLang="ko-KR" dirty="0">
                <a:solidFill>
                  <a:srgbClr val="FF0000"/>
                </a:solidFill>
              </a:rPr>
              <a:t>Red</a:t>
            </a:r>
            <a:r>
              <a:rPr kumimoji="1" lang="en-US" altLang="ko-KR" dirty="0"/>
              <a:t>:  partition 2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249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C88CD-66A9-DE2D-2F1A-736FDC64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4DDB2-7CBF-93AB-882B-A76A48D5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Final architecture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2" descr="Dell PowerEdge 2850 Refurbished Servers">
            <a:extLst>
              <a:ext uri="{FF2B5EF4-FFF2-40B4-BE49-F238E27FC236}">
                <a16:creationId xmlns:a16="http://schemas.microsoft.com/office/drawing/2014/main" id="{42DC1EF8-D163-F682-BE26-61BFA2435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963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ell PowerEdge 2850 Refurbished Servers">
            <a:extLst>
              <a:ext uri="{FF2B5EF4-FFF2-40B4-BE49-F238E27FC236}">
                <a16:creationId xmlns:a16="http://schemas.microsoft.com/office/drawing/2014/main" id="{FFE3C5D9-5027-3EAC-27F0-81FBE541C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Dell PowerEdge 2850 Refurbished Servers">
            <a:extLst>
              <a:ext uri="{FF2B5EF4-FFF2-40B4-BE49-F238E27FC236}">
                <a16:creationId xmlns:a16="http://schemas.microsoft.com/office/drawing/2014/main" id="{8298AD45-1A5F-23CF-FB29-0812B56EC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00037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2EF044-7463-6BEC-7645-6B3408331D04}"/>
              </a:ext>
            </a:extLst>
          </p:cNvPr>
          <p:cNvSpPr txBox="1"/>
          <p:nvPr/>
        </p:nvSpPr>
        <p:spPr>
          <a:xfrm>
            <a:off x="1399320" y="1435934"/>
            <a:ext cx="89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Master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7F50E-7623-4D65-50C4-DD94715759ED}"/>
              </a:ext>
            </a:extLst>
          </p:cNvPr>
          <p:cNvSpPr txBox="1"/>
          <p:nvPr/>
        </p:nvSpPr>
        <p:spPr>
          <a:xfrm>
            <a:off x="5628404" y="1435934"/>
            <a:ext cx="93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Worker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EAC4A-D70E-AD8C-AEB0-20AD6F393D48}"/>
              </a:ext>
            </a:extLst>
          </p:cNvPr>
          <p:cNvSpPr txBox="1"/>
          <p:nvPr/>
        </p:nvSpPr>
        <p:spPr>
          <a:xfrm>
            <a:off x="9536406" y="1435934"/>
            <a:ext cx="161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Other Worker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B853BD1-70E8-1400-AD53-8BC289FAC9D7}"/>
              </a:ext>
            </a:extLst>
          </p:cNvPr>
          <p:cNvSpPr/>
          <p:nvPr/>
        </p:nvSpPr>
        <p:spPr>
          <a:xfrm>
            <a:off x="5288871" y="2508755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Registration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13C1459-E4C7-2613-CB6D-CBA549FC8B75}"/>
              </a:ext>
            </a:extLst>
          </p:cNvPr>
          <p:cNvSpPr/>
          <p:nvPr/>
        </p:nvSpPr>
        <p:spPr>
          <a:xfrm>
            <a:off x="5288870" y="302862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Sampling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037A72A-AA05-0FE3-52C2-6D627EA49966}"/>
              </a:ext>
            </a:extLst>
          </p:cNvPr>
          <p:cNvSpPr/>
          <p:nvPr/>
        </p:nvSpPr>
        <p:spPr>
          <a:xfrm>
            <a:off x="5288318" y="3941425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Report </a:t>
            </a:r>
            <a:r>
              <a:rPr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DB81F3A-41E7-EB3F-DAD5-D6F736C16106}"/>
              </a:ext>
            </a:extLst>
          </p:cNvPr>
          <p:cNvSpPr/>
          <p:nvPr/>
        </p:nvSpPr>
        <p:spPr>
          <a:xfrm>
            <a:off x="5288868" y="4393296"/>
            <a:ext cx="1614257" cy="11024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43D05CE-4E6E-8CEA-C0E2-07D2A69A9921}"/>
              </a:ext>
            </a:extLst>
          </p:cNvPr>
          <p:cNvSpPr/>
          <p:nvPr/>
        </p:nvSpPr>
        <p:spPr>
          <a:xfrm>
            <a:off x="5288867" y="562514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34A978F-B7D5-D6C6-D913-2C920DBC7E33}"/>
              </a:ext>
            </a:extLst>
          </p:cNvPr>
          <p:cNvSpPr/>
          <p:nvPr/>
        </p:nvSpPr>
        <p:spPr>
          <a:xfrm>
            <a:off x="5288866" y="6122672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Completion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59AD40E-069D-A752-E510-498C07D856FC}"/>
              </a:ext>
            </a:extLst>
          </p:cNvPr>
          <p:cNvCxnSpPr>
            <a:stCxn id="4" idx="2"/>
          </p:cNvCxnSpPr>
          <p:nvPr/>
        </p:nvCxnSpPr>
        <p:spPr>
          <a:xfrm flipH="1">
            <a:off x="1846555" y="2289176"/>
            <a:ext cx="2408" cy="42270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A9AD656-D380-2F93-AD27-3F2AD44D6694}"/>
              </a:ext>
            </a:extLst>
          </p:cNvPr>
          <p:cNvCxnSpPr>
            <a:stCxn id="6" idx="2"/>
          </p:cNvCxnSpPr>
          <p:nvPr/>
        </p:nvCxnSpPr>
        <p:spPr>
          <a:xfrm flipH="1">
            <a:off x="10342485" y="2289176"/>
            <a:ext cx="552" cy="37121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D5D77CF-E73E-4C50-CDA3-26FB1F12AFE6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6096000" y="2289176"/>
            <a:ext cx="0" cy="219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9C7DF9B-F3D0-C187-E19A-39E075568B2C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6095999" y="2838756"/>
            <a:ext cx="1" cy="189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4F1DAA2-7868-6E8A-ADCC-57D53A7B5CC2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6095447" y="4271426"/>
            <a:ext cx="550" cy="121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4DFADB5-2162-94DC-7133-28ECB765A59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6095996" y="5495722"/>
            <a:ext cx="1" cy="129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BD608AC-65C6-EF2F-48F2-327993220842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6095995" y="5955147"/>
            <a:ext cx="1" cy="16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7123E33-F62C-CFFB-F9F8-F4FD7ABFFC12}"/>
              </a:ext>
            </a:extLst>
          </p:cNvPr>
          <p:cNvSpPr txBox="1"/>
          <p:nvPr/>
        </p:nvSpPr>
        <p:spPr>
          <a:xfrm>
            <a:off x="1184249" y="2211009"/>
            <a:ext cx="697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7F5DFA-8F07-B254-1559-02596E40DEFA}"/>
              </a:ext>
            </a:extLst>
          </p:cNvPr>
          <p:cNvSpPr txBox="1"/>
          <p:nvPr/>
        </p:nvSpPr>
        <p:spPr>
          <a:xfrm>
            <a:off x="9658223" y="2236153"/>
            <a:ext cx="697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6E6EF1D-57E9-52F3-2037-588CF54D02B4}"/>
              </a:ext>
            </a:extLst>
          </p:cNvPr>
          <p:cNvCxnSpPr/>
          <p:nvPr/>
        </p:nvCxnSpPr>
        <p:spPr>
          <a:xfrm flipH="1">
            <a:off x="1862584" y="2634328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9D6D31B-CB17-BA80-37E8-D4B5D16380EE}"/>
              </a:ext>
            </a:extLst>
          </p:cNvPr>
          <p:cNvCxnSpPr/>
          <p:nvPr/>
        </p:nvCxnSpPr>
        <p:spPr>
          <a:xfrm>
            <a:off x="1862584" y="2746353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3EDE458B-5E19-6448-0EC4-5BC72CCDAEAF}"/>
              </a:ext>
            </a:extLst>
          </p:cNvPr>
          <p:cNvCxnSpPr/>
          <p:nvPr/>
        </p:nvCxnSpPr>
        <p:spPr>
          <a:xfrm>
            <a:off x="7632311" y="612181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C7F39AA-E9C1-F388-70F2-F443E2B1F686}"/>
              </a:ext>
            </a:extLst>
          </p:cNvPr>
          <p:cNvCxnSpPr/>
          <p:nvPr/>
        </p:nvCxnSpPr>
        <p:spPr>
          <a:xfrm>
            <a:off x="7632311" y="639034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4B733F9-5D96-970F-0AD4-FB48BB6AACF5}"/>
              </a:ext>
            </a:extLst>
          </p:cNvPr>
          <p:cNvCxnSpPr/>
          <p:nvPr/>
        </p:nvCxnSpPr>
        <p:spPr>
          <a:xfrm>
            <a:off x="7632311" y="665887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2E08931-481B-437A-1E58-ADEDB51AB2AD}"/>
              </a:ext>
            </a:extLst>
          </p:cNvPr>
          <p:cNvSpPr txBox="1"/>
          <p:nvPr/>
        </p:nvSpPr>
        <p:spPr>
          <a:xfrm>
            <a:off x="8182535" y="5966364"/>
            <a:ext cx="833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Request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7DF413-A63C-86D4-F8C8-CBA15B856D9D}"/>
              </a:ext>
            </a:extLst>
          </p:cNvPr>
          <p:cNvSpPr txBox="1"/>
          <p:nvPr/>
        </p:nvSpPr>
        <p:spPr>
          <a:xfrm>
            <a:off x="8182535" y="6237133"/>
            <a:ext cx="10817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Response  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379655-D6EC-55E6-D8DC-E679BA894F61}"/>
              </a:ext>
            </a:extLst>
          </p:cNvPr>
          <p:cNvSpPr txBox="1"/>
          <p:nvPr/>
        </p:nvSpPr>
        <p:spPr>
          <a:xfrm>
            <a:off x="8182535" y="6507902"/>
            <a:ext cx="1992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Response (Immediate)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508FBDC0-3873-D211-EAAC-A4F3060B13A9}"/>
              </a:ext>
            </a:extLst>
          </p:cNvPr>
          <p:cNvCxnSpPr/>
          <p:nvPr/>
        </p:nvCxnSpPr>
        <p:spPr>
          <a:xfrm flipH="1">
            <a:off x="1862584" y="3150512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2063CFD-3839-4882-D35D-C1C00FDBD161}"/>
              </a:ext>
            </a:extLst>
          </p:cNvPr>
          <p:cNvCxnSpPr/>
          <p:nvPr/>
        </p:nvCxnSpPr>
        <p:spPr>
          <a:xfrm>
            <a:off x="1862584" y="3262537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ED0BA50-D0B2-4895-1524-3A9EAC964A8D}"/>
              </a:ext>
            </a:extLst>
          </p:cNvPr>
          <p:cNvCxnSpPr/>
          <p:nvPr/>
        </p:nvCxnSpPr>
        <p:spPr>
          <a:xfrm flipH="1">
            <a:off x="1862584" y="4040730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8A3341A-95F7-5227-572B-FDB59FB71483}"/>
              </a:ext>
            </a:extLst>
          </p:cNvPr>
          <p:cNvCxnSpPr/>
          <p:nvPr/>
        </p:nvCxnSpPr>
        <p:spPr>
          <a:xfrm>
            <a:off x="1862584" y="4152755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A0A12571-A4A4-27F0-D55F-D2D9064B75E7}"/>
              </a:ext>
            </a:extLst>
          </p:cNvPr>
          <p:cNvCxnSpPr/>
          <p:nvPr/>
        </p:nvCxnSpPr>
        <p:spPr>
          <a:xfrm flipH="1">
            <a:off x="1862584" y="6254257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D0FA72F-1AC5-19E8-7C87-79EBEEE54986}"/>
              </a:ext>
            </a:extLst>
          </p:cNvPr>
          <p:cNvCxnSpPr/>
          <p:nvPr/>
        </p:nvCxnSpPr>
        <p:spPr>
          <a:xfrm>
            <a:off x="1862584" y="6366282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924F335-2C9D-8C7B-1F8F-BFFD88F359D1}"/>
              </a:ext>
            </a:extLst>
          </p:cNvPr>
          <p:cNvCxnSpPr>
            <a:cxnSpLocks/>
          </p:cNvCxnSpPr>
          <p:nvPr/>
        </p:nvCxnSpPr>
        <p:spPr>
          <a:xfrm>
            <a:off x="6622213" y="4549814"/>
            <a:ext cx="3713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0074A63-C34A-C89A-08E3-E42892A6F7A9}"/>
              </a:ext>
            </a:extLst>
          </p:cNvPr>
          <p:cNvCxnSpPr>
            <a:cxnSpLocks/>
          </p:cNvCxnSpPr>
          <p:nvPr/>
        </p:nvCxnSpPr>
        <p:spPr>
          <a:xfrm flipH="1">
            <a:off x="6628753" y="4636854"/>
            <a:ext cx="3700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1F843FBD-23EE-3B63-90B4-BFEA6F5C570E}"/>
              </a:ext>
            </a:extLst>
          </p:cNvPr>
          <p:cNvCxnSpPr>
            <a:cxnSpLocks/>
          </p:cNvCxnSpPr>
          <p:nvPr/>
        </p:nvCxnSpPr>
        <p:spPr>
          <a:xfrm>
            <a:off x="6628753" y="4723894"/>
            <a:ext cx="3713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7A17E47F-9FFC-4F27-01B5-A5F6E174F226}"/>
              </a:ext>
            </a:extLst>
          </p:cNvPr>
          <p:cNvCxnSpPr>
            <a:cxnSpLocks/>
          </p:cNvCxnSpPr>
          <p:nvPr/>
        </p:nvCxnSpPr>
        <p:spPr>
          <a:xfrm flipH="1">
            <a:off x="6628753" y="4810935"/>
            <a:ext cx="3700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172F936-762F-7065-7202-277485E89A13}"/>
              </a:ext>
            </a:extLst>
          </p:cNvPr>
          <p:cNvSpPr txBox="1"/>
          <p:nvPr/>
        </p:nvSpPr>
        <p:spPr>
          <a:xfrm>
            <a:off x="1816570" y="6338986"/>
            <a:ext cx="1001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Shutdown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AA79CD1A-8105-60E4-246F-4A2075233ECD}"/>
              </a:ext>
            </a:extLst>
          </p:cNvPr>
          <p:cNvCxnSpPr>
            <a:cxnSpLocks/>
          </p:cNvCxnSpPr>
          <p:nvPr/>
        </p:nvCxnSpPr>
        <p:spPr>
          <a:xfrm flipV="1">
            <a:off x="4305670" y="5841507"/>
            <a:ext cx="6036815" cy="7949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BE48441A-E5A0-931C-C245-B68FC7F6A9EC}"/>
              </a:ext>
            </a:extLst>
          </p:cNvPr>
          <p:cNvCxnSpPr/>
          <p:nvPr/>
        </p:nvCxnSpPr>
        <p:spPr>
          <a:xfrm flipV="1">
            <a:off x="4305670" y="6366282"/>
            <a:ext cx="0" cy="270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C79E462-A336-D573-FA56-A804C646DF30}"/>
              </a:ext>
            </a:extLst>
          </p:cNvPr>
          <p:cNvSpPr txBox="1"/>
          <p:nvPr/>
        </p:nvSpPr>
        <p:spPr>
          <a:xfrm>
            <a:off x="10384518" y="5800929"/>
            <a:ext cx="1001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Shutdown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0CF944-AA3F-023A-FF71-CE8932502813}"/>
              </a:ext>
            </a:extLst>
          </p:cNvPr>
          <p:cNvSpPr txBox="1"/>
          <p:nvPr/>
        </p:nvSpPr>
        <p:spPr>
          <a:xfrm>
            <a:off x="2314180" y="2351648"/>
            <a:ext cx="2690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Info (Ip, Port, input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dirs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94545B1-FBA3-D442-C202-D5DB520F9CC7}"/>
              </a:ext>
            </a:extLst>
          </p:cNvPr>
          <p:cNvSpPr txBox="1"/>
          <p:nvPr/>
        </p:nvSpPr>
        <p:spPr>
          <a:xfrm>
            <a:off x="2114878" y="2693048"/>
            <a:ext cx="2969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Worker Info (Worker Id, Ip, Port)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283A1AA-F5CF-B9D9-80A8-55B90F25A979}"/>
              </a:ext>
            </a:extLst>
          </p:cNvPr>
          <p:cNvSpPr txBox="1"/>
          <p:nvPr/>
        </p:nvSpPr>
        <p:spPr>
          <a:xfrm>
            <a:off x="2563673" y="2897845"/>
            <a:ext cx="2236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Id, Sampled Data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917C8CC-D9F1-FFDE-4018-56F9281775B4}"/>
              </a:ext>
            </a:extLst>
          </p:cNvPr>
          <p:cNvSpPr txBox="1"/>
          <p:nvPr/>
        </p:nvSpPr>
        <p:spPr>
          <a:xfrm>
            <a:off x="3241920" y="3213441"/>
            <a:ext cx="667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Pivots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2E76712-0872-5063-36B3-85E2C265D883}"/>
              </a:ext>
            </a:extLst>
          </p:cNvPr>
          <p:cNvSpPr txBox="1"/>
          <p:nvPr/>
        </p:nvSpPr>
        <p:spPr>
          <a:xfrm>
            <a:off x="2609923" y="3761328"/>
            <a:ext cx="2034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Id,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F7A5A6E-816B-BBEB-511A-92BC5C0AF68D}"/>
              </a:ext>
            </a:extLst>
          </p:cNvPr>
          <p:cNvSpPr txBox="1"/>
          <p:nvPr/>
        </p:nvSpPr>
        <p:spPr>
          <a:xfrm>
            <a:off x="2875055" y="4115291"/>
            <a:ext cx="1401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E6AE01E-9AA0-CE96-F97E-9BD1E6C9412E}"/>
              </a:ext>
            </a:extLst>
          </p:cNvPr>
          <p:cNvSpPr/>
          <p:nvPr/>
        </p:nvSpPr>
        <p:spPr>
          <a:xfrm>
            <a:off x="5562142" y="4549814"/>
            <a:ext cx="1066611" cy="30776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latin typeface="Segoe UI" panose="020B0502040204020203" pitchFamily="34" charset="0"/>
                <a:cs typeface="Segoe UI" panose="020B0502040204020203" pitchFamily="34" charset="0"/>
              </a:rPr>
              <a:t>Shuffle</a:t>
            </a:r>
          </a:p>
          <a:p>
            <a:pPr algn="ctr"/>
            <a:r>
              <a:rPr lang="en-US" altLang="ko-KR" sz="900" dirty="0">
                <a:latin typeface="Segoe UI" panose="020B0502040204020203" pitchFamily="34" charset="0"/>
                <a:cs typeface="Segoe UI" panose="020B0502040204020203" pitchFamily="34" charset="0"/>
              </a:rPr>
              <a:t>Remaining files</a:t>
            </a:r>
            <a:endParaRPr lang="ko-KR" alt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6B011FA-FC05-3054-E6D6-22505309CE98}"/>
              </a:ext>
            </a:extLst>
          </p:cNvPr>
          <p:cNvSpPr/>
          <p:nvPr/>
        </p:nvSpPr>
        <p:spPr>
          <a:xfrm>
            <a:off x="5562142" y="5077103"/>
            <a:ext cx="1066611" cy="30776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Request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C8752E3-21A5-8E26-1779-D8BA4154131B}"/>
              </a:ext>
            </a:extLst>
          </p:cNvPr>
          <p:cNvCxnSpPr>
            <a:cxnSpLocks/>
          </p:cNvCxnSpPr>
          <p:nvPr/>
        </p:nvCxnSpPr>
        <p:spPr>
          <a:xfrm flipH="1">
            <a:off x="1846555" y="5146440"/>
            <a:ext cx="3715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19220CF-2BE7-A964-70D8-3FE0240E103C}"/>
              </a:ext>
            </a:extLst>
          </p:cNvPr>
          <p:cNvCxnSpPr>
            <a:cxnSpLocks/>
          </p:cNvCxnSpPr>
          <p:nvPr/>
        </p:nvCxnSpPr>
        <p:spPr>
          <a:xfrm>
            <a:off x="1846555" y="5258465"/>
            <a:ext cx="3715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E466BBC-B569-69D0-1B4C-74FAB156453D}"/>
              </a:ext>
            </a:extLst>
          </p:cNvPr>
          <p:cNvCxnSpPr>
            <a:stCxn id="14" idx="0"/>
            <a:endCxn id="55" idx="0"/>
          </p:cNvCxnSpPr>
          <p:nvPr/>
        </p:nvCxnSpPr>
        <p:spPr>
          <a:xfrm flipH="1">
            <a:off x="6095448" y="4393296"/>
            <a:ext cx="549" cy="156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0671E35-DCF9-2AFF-64E3-B16FB052B29D}"/>
              </a:ext>
            </a:extLst>
          </p:cNvPr>
          <p:cNvCxnSpPr>
            <a:stCxn id="55" idx="2"/>
            <a:endCxn id="61" idx="0"/>
          </p:cNvCxnSpPr>
          <p:nvPr/>
        </p:nvCxnSpPr>
        <p:spPr>
          <a:xfrm>
            <a:off x="6095448" y="4857579"/>
            <a:ext cx="0" cy="219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C76B9C60-D8E5-F0CB-8ADE-FB6E34B7BB3C}"/>
              </a:ext>
            </a:extLst>
          </p:cNvPr>
          <p:cNvCxnSpPr>
            <a:cxnSpLocks/>
            <a:stCxn id="61" idx="2"/>
          </p:cNvCxnSpPr>
          <p:nvPr/>
        </p:nvCxnSpPr>
        <p:spPr>
          <a:xfrm rot="5400000" flipH="1">
            <a:off x="5297620" y="4587040"/>
            <a:ext cx="951098" cy="644559"/>
          </a:xfrm>
          <a:prstGeom prst="bentConnector3">
            <a:avLst>
              <a:gd name="adj1" fmla="val -400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DEA5DDB-E83D-640A-0147-21B334219FEA}"/>
              </a:ext>
            </a:extLst>
          </p:cNvPr>
          <p:cNvCxnSpPr/>
          <p:nvPr/>
        </p:nvCxnSpPr>
        <p:spPr>
          <a:xfrm>
            <a:off x="5450889" y="4433770"/>
            <a:ext cx="6445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D38A469A-5D05-AEAC-7025-FC4E50FF4382}"/>
              </a:ext>
            </a:extLst>
          </p:cNvPr>
          <p:cNvCxnSpPr>
            <a:cxnSpLocks/>
          </p:cNvCxnSpPr>
          <p:nvPr/>
        </p:nvCxnSpPr>
        <p:spPr>
          <a:xfrm>
            <a:off x="6095447" y="4906058"/>
            <a:ext cx="616071" cy="589664"/>
          </a:xfrm>
          <a:prstGeom prst="bentConnector3">
            <a:avLst>
              <a:gd name="adj1" fmla="val 998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3CB5C32D-398F-7299-BA0A-125281464DC4}"/>
              </a:ext>
            </a:extLst>
          </p:cNvPr>
          <p:cNvSpPr txBox="1"/>
          <p:nvPr/>
        </p:nvSpPr>
        <p:spPr>
          <a:xfrm>
            <a:off x="6641052" y="4979789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Segoe UI" panose="020B0502040204020203" pitchFamily="34" charset="0"/>
                <a:cs typeface="Segoe UI" panose="020B0502040204020203" pitchFamily="34" charset="0"/>
              </a:rPr>
              <a:t>Success</a:t>
            </a:r>
            <a:endParaRPr lang="ko-KR" alt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6EDE2F1-5C36-AD2F-97C6-95280A4B1C44}"/>
              </a:ext>
            </a:extLst>
          </p:cNvPr>
          <p:cNvSpPr txBox="1"/>
          <p:nvPr/>
        </p:nvSpPr>
        <p:spPr>
          <a:xfrm>
            <a:off x="5808536" y="4879268"/>
            <a:ext cx="340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Segoe UI" panose="020B0502040204020203" pitchFamily="34" charset="0"/>
                <a:cs typeface="Segoe UI" panose="020B0502040204020203" pitchFamily="34" charset="0"/>
              </a:rPr>
              <a:t>Fail</a:t>
            </a:r>
            <a:endParaRPr lang="ko-KR" alt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64B7E52-7C2F-6F7B-5A48-D7E35F46AB9B}"/>
              </a:ext>
            </a:extLst>
          </p:cNvPr>
          <p:cNvSpPr txBox="1"/>
          <p:nvPr/>
        </p:nvSpPr>
        <p:spPr>
          <a:xfrm>
            <a:off x="2167602" y="5230979"/>
            <a:ext cx="2969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Worker Info (Worker Id, Ip, Port)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57C8113-99FF-C962-FAA7-BF515C7B7C2A}"/>
              </a:ext>
            </a:extLst>
          </p:cNvPr>
          <p:cNvSpPr txBox="1"/>
          <p:nvPr/>
        </p:nvSpPr>
        <p:spPr>
          <a:xfrm>
            <a:off x="9015776" y="6221860"/>
            <a:ext cx="2717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Segoe UI" panose="020B0502040204020203" pitchFamily="34" charset="0"/>
                <a:cs typeface="Segoe UI" panose="020B0502040204020203" pitchFamily="34" charset="0"/>
              </a:rPr>
              <a:t>Initial Response: Master waits for all requests</a:t>
            </a:r>
          </a:p>
          <a:p>
            <a:r>
              <a:rPr lang="en-US" altLang="ko-KR" sz="1000" dirty="0">
                <a:latin typeface="Segoe UI" panose="020B0502040204020203" pitchFamily="34" charset="0"/>
                <a:cs typeface="Segoe UI" panose="020B0502040204020203" pitchFamily="34" charset="0"/>
              </a:rPr>
              <a:t>Subsequent Responses: Immediately</a:t>
            </a:r>
            <a:endParaRPr lang="ko-KR" alt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16564B9-F5FE-0024-AB35-7A743DEED9A6}"/>
              </a:ext>
            </a:extLst>
          </p:cNvPr>
          <p:cNvSpPr txBox="1"/>
          <p:nvPr/>
        </p:nvSpPr>
        <p:spPr>
          <a:xfrm>
            <a:off x="56661" y="2446976"/>
            <a:ext cx="1746685" cy="577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Register all workers.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register again,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then reset its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8A5DC65-004F-2DF2-C8CC-94F55C5C46F4}"/>
              </a:ext>
            </a:extLst>
          </p:cNvPr>
          <p:cNvSpPr txBox="1"/>
          <p:nvPr/>
        </p:nvSpPr>
        <p:spPr>
          <a:xfrm>
            <a:off x="56661" y="3046060"/>
            <a:ext cx="1746686" cy="938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Segoe UI" panose="020B0502040204020203" pitchFamily="34" charset="0"/>
                <a:cs typeface="Segoe UI" panose="020B0502040204020203" pitchFamily="34" charset="0"/>
              </a:rPr>
              <a:t>Collect sample data and select pivots.</a:t>
            </a:r>
          </a:p>
          <a:p>
            <a:r>
              <a:rPr lang="en-US" altLang="ko-KR" sz="1100" dirty="0">
                <a:latin typeface="Segoe UI" panose="020B0502040204020203" pitchFamily="34" charset="0"/>
                <a:cs typeface="Segoe UI" panose="020B0502040204020203" pitchFamily="34" charset="0"/>
              </a:rPr>
              <a:t>If a worker requests again, then just send pre-calculated pivots.</a:t>
            </a:r>
            <a:endParaRPr lang="ko-KR" alt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3F6EE8E-23DE-A903-602B-2040FAC54155}"/>
              </a:ext>
            </a:extLst>
          </p:cNvPr>
          <p:cNvSpPr txBox="1"/>
          <p:nvPr/>
        </p:nvSpPr>
        <p:spPr>
          <a:xfrm>
            <a:off x="56659" y="3999867"/>
            <a:ext cx="1746687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Collect all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request again, then just send all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 without adding its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88A54F4-C8F7-BD6F-E8D2-AF6CC0E7C1B8}"/>
              </a:ext>
            </a:extLst>
          </p:cNvPr>
          <p:cNvSpPr txBox="1"/>
          <p:nvPr/>
        </p:nvSpPr>
        <p:spPr>
          <a:xfrm>
            <a:off x="56659" y="4991117"/>
            <a:ext cx="1746687" cy="41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Send current all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5DED715-FF07-226A-9D29-74D6E57D6FAF}"/>
              </a:ext>
            </a:extLst>
          </p:cNvPr>
          <p:cNvSpPr txBox="1"/>
          <p:nvPr/>
        </p:nvSpPr>
        <p:spPr>
          <a:xfrm>
            <a:off x="56659" y="5919635"/>
            <a:ext cx="1746687" cy="577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disconnects after reporting completion, its report is cancelled.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C220EE6-0B4B-84B9-BDBB-A7B3CF01EC1E}"/>
              </a:ext>
            </a:extLst>
          </p:cNvPr>
          <p:cNvSpPr txBox="1"/>
          <p:nvPr/>
        </p:nvSpPr>
        <p:spPr>
          <a:xfrm>
            <a:off x="10384518" y="4408780"/>
            <a:ext cx="1746687" cy="577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Stream file data corresponding to the received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CD58093-F72A-8D83-874B-9632F730BCA4}"/>
              </a:ext>
            </a:extLst>
          </p:cNvPr>
          <p:cNvSpPr txBox="1"/>
          <p:nvPr/>
        </p:nvSpPr>
        <p:spPr>
          <a:xfrm>
            <a:off x="7947659" y="4257112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3DDCD58-34B0-45F8-15C9-59779130B9A9}"/>
              </a:ext>
            </a:extLst>
          </p:cNvPr>
          <p:cNvSpPr txBox="1"/>
          <p:nvPr/>
        </p:nvSpPr>
        <p:spPr>
          <a:xfrm>
            <a:off x="8182535" y="4761903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data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FD96349B-021A-049D-8A5D-5AB227B1383F}"/>
              </a:ext>
            </a:extLst>
          </p:cNvPr>
          <p:cNvSpPr/>
          <p:nvPr/>
        </p:nvSpPr>
        <p:spPr>
          <a:xfrm>
            <a:off x="3045833" y="1721565"/>
            <a:ext cx="1746566" cy="5676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Worker Info Array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Request Status Tracker per RPC Method   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71AB311-500A-DE38-3A23-DAA20814C997}"/>
              </a:ext>
            </a:extLst>
          </p:cNvPr>
          <p:cNvSpPr txBox="1"/>
          <p:nvPr/>
        </p:nvSpPr>
        <p:spPr>
          <a:xfrm>
            <a:off x="3304822" y="1467449"/>
            <a:ext cx="1209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Master State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15A9C2-026F-6C03-74A6-ED475EDC0A31}"/>
              </a:ext>
            </a:extLst>
          </p:cNvPr>
          <p:cNvSpPr txBox="1"/>
          <p:nvPr/>
        </p:nvSpPr>
        <p:spPr>
          <a:xfrm>
            <a:off x="3144825" y="5976473"/>
            <a:ext cx="988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5DE186F-3BC5-FA64-463B-8CEFA77F8D0B}"/>
              </a:ext>
            </a:extLst>
          </p:cNvPr>
          <p:cNvSpPr/>
          <p:nvPr/>
        </p:nvSpPr>
        <p:spPr>
          <a:xfrm>
            <a:off x="5288318" y="349253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Sort &amp; Partition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C68E2D7-0D77-C306-13D7-5DDA12C64315}"/>
              </a:ext>
            </a:extLst>
          </p:cNvPr>
          <p:cNvCxnSpPr>
            <a:stCxn id="12" idx="2"/>
            <a:endCxn id="3" idx="0"/>
          </p:cNvCxnSpPr>
          <p:nvPr/>
        </p:nvCxnSpPr>
        <p:spPr>
          <a:xfrm flipH="1">
            <a:off x="6095447" y="3358627"/>
            <a:ext cx="552" cy="133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7DA6995-CB94-D341-75B1-F7B7EE7AA3AD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6095447" y="3822537"/>
            <a:ext cx="0" cy="118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34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2DB5B-4300-700E-7DF5-3D35E783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2A0B4-A01B-FF59-66EE-71346889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Final architecture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2" descr="Dell PowerEdge 2850 Refurbished Servers">
            <a:extLst>
              <a:ext uri="{FF2B5EF4-FFF2-40B4-BE49-F238E27FC236}">
                <a16:creationId xmlns:a16="http://schemas.microsoft.com/office/drawing/2014/main" id="{50DFD7AB-4A6D-6B89-EFD5-0BE197254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963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ell PowerEdge 2850 Refurbished Servers">
            <a:extLst>
              <a:ext uri="{FF2B5EF4-FFF2-40B4-BE49-F238E27FC236}">
                <a16:creationId xmlns:a16="http://schemas.microsoft.com/office/drawing/2014/main" id="{1328B450-4291-16B8-52ED-6FB8792E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Dell PowerEdge 2850 Refurbished Servers">
            <a:extLst>
              <a:ext uri="{FF2B5EF4-FFF2-40B4-BE49-F238E27FC236}">
                <a16:creationId xmlns:a16="http://schemas.microsoft.com/office/drawing/2014/main" id="{63EB5B09-0ABD-E75B-134A-9B54A4CF2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00037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03E117-AFF4-18B6-3727-E4DB7FDD120B}"/>
              </a:ext>
            </a:extLst>
          </p:cNvPr>
          <p:cNvSpPr txBox="1"/>
          <p:nvPr/>
        </p:nvSpPr>
        <p:spPr>
          <a:xfrm>
            <a:off x="1399320" y="1435934"/>
            <a:ext cx="89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Master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4FA18-758F-8119-BDF1-5844C188F9DC}"/>
              </a:ext>
            </a:extLst>
          </p:cNvPr>
          <p:cNvSpPr txBox="1"/>
          <p:nvPr/>
        </p:nvSpPr>
        <p:spPr>
          <a:xfrm>
            <a:off x="5628404" y="1435934"/>
            <a:ext cx="93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Worker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9EFFF-7F87-18B8-0FF9-028DCAD1EC10}"/>
              </a:ext>
            </a:extLst>
          </p:cNvPr>
          <p:cNvSpPr txBox="1"/>
          <p:nvPr/>
        </p:nvSpPr>
        <p:spPr>
          <a:xfrm>
            <a:off x="9536406" y="1435934"/>
            <a:ext cx="161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Other Worker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DC3C57D-BB58-F42E-FEFB-F8A595F859E9}"/>
              </a:ext>
            </a:extLst>
          </p:cNvPr>
          <p:cNvSpPr/>
          <p:nvPr/>
        </p:nvSpPr>
        <p:spPr>
          <a:xfrm>
            <a:off x="5288871" y="2508755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Registration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4BF0894-8AD9-F526-3264-4DB194285887}"/>
              </a:ext>
            </a:extLst>
          </p:cNvPr>
          <p:cNvSpPr/>
          <p:nvPr/>
        </p:nvSpPr>
        <p:spPr>
          <a:xfrm>
            <a:off x="5288870" y="302862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Sampling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9A2B58F-76CA-96BF-6A9F-7B75EBF0A412}"/>
              </a:ext>
            </a:extLst>
          </p:cNvPr>
          <p:cNvSpPr/>
          <p:nvPr/>
        </p:nvSpPr>
        <p:spPr>
          <a:xfrm>
            <a:off x="5288318" y="3941425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Report </a:t>
            </a:r>
            <a:r>
              <a:rPr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2E0BC2-CB98-9458-8821-E4083D4F5D79}"/>
              </a:ext>
            </a:extLst>
          </p:cNvPr>
          <p:cNvSpPr/>
          <p:nvPr/>
        </p:nvSpPr>
        <p:spPr>
          <a:xfrm>
            <a:off x="5288868" y="4396396"/>
            <a:ext cx="1614257" cy="110242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E40EC90-CB05-3CE5-9378-C6889AAD8163}"/>
              </a:ext>
            </a:extLst>
          </p:cNvPr>
          <p:cNvSpPr/>
          <p:nvPr/>
        </p:nvSpPr>
        <p:spPr>
          <a:xfrm>
            <a:off x="5288867" y="562514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7F38C0D-45B7-EB0C-1165-4BD82865448E}"/>
              </a:ext>
            </a:extLst>
          </p:cNvPr>
          <p:cNvSpPr/>
          <p:nvPr/>
        </p:nvSpPr>
        <p:spPr>
          <a:xfrm>
            <a:off x="5288866" y="6122672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Completion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DA76AD9-1E64-D79C-9A8A-2E9A69A1BAE2}"/>
              </a:ext>
            </a:extLst>
          </p:cNvPr>
          <p:cNvCxnSpPr>
            <a:stCxn id="4" idx="2"/>
          </p:cNvCxnSpPr>
          <p:nvPr/>
        </p:nvCxnSpPr>
        <p:spPr>
          <a:xfrm flipH="1">
            <a:off x="1846555" y="2289176"/>
            <a:ext cx="2408" cy="42270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07F9E8B-DE97-A2E0-28CA-756F275D7E89}"/>
              </a:ext>
            </a:extLst>
          </p:cNvPr>
          <p:cNvCxnSpPr>
            <a:stCxn id="6" idx="2"/>
          </p:cNvCxnSpPr>
          <p:nvPr/>
        </p:nvCxnSpPr>
        <p:spPr>
          <a:xfrm flipH="1">
            <a:off x="10342485" y="2289176"/>
            <a:ext cx="552" cy="37121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2A33240-7E68-76D5-133F-CF49884CD1FA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6096000" y="2289176"/>
            <a:ext cx="0" cy="219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6A6CE03-BE99-8D93-9485-6B3A1094311A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6095999" y="2838756"/>
            <a:ext cx="1" cy="189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ECEB832-1BEB-7C55-2C3B-31EFCFA938C6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6095447" y="4271426"/>
            <a:ext cx="550" cy="12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4E03937-F3D8-DFD6-3045-D234E861F00F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6095996" y="5498822"/>
            <a:ext cx="1" cy="126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C316EBC-C450-30B5-16F8-A2D2D74F243E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6095995" y="5955147"/>
            <a:ext cx="1" cy="16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141850C-C294-E5D9-B388-F114C6F61CA8}"/>
              </a:ext>
            </a:extLst>
          </p:cNvPr>
          <p:cNvSpPr txBox="1"/>
          <p:nvPr/>
        </p:nvSpPr>
        <p:spPr>
          <a:xfrm>
            <a:off x="1184249" y="2211009"/>
            <a:ext cx="697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3BF00E-D285-C14C-C450-98F6E29C528E}"/>
              </a:ext>
            </a:extLst>
          </p:cNvPr>
          <p:cNvSpPr txBox="1"/>
          <p:nvPr/>
        </p:nvSpPr>
        <p:spPr>
          <a:xfrm>
            <a:off x="9658223" y="2236153"/>
            <a:ext cx="697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D1681DD-DA22-C93E-F89A-0410AFBD2B2D}"/>
              </a:ext>
            </a:extLst>
          </p:cNvPr>
          <p:cNvCxnSpPr/>
          <p:nvPr/>
        </p:nvCxnSpPr>
        <p:spPr>
          <a:xfrm flipH="1">
            <a:off x="1862584" y="2634328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A756AF3-B903-34F4-5F84-712331F7E10C}"/>
              </a:ext>
            </a:extLst>
          </p:cNvPr>
          <p:cNvCxnSpPr/>
          <p:nvPr/>
        </p:nvCxnSpPr>
        <p:spPr>
          <a:xfrm>
            <a:off x="1862584" y="2744253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8D12094-10BD-6B4A-B37C-799EC53A2552}"/>
              </a:ext>
            </a:extLst>
          </p:cNvPr>
          <p:cNvCxnSpPr/>
          <p:nvPr/>
        </p:nvCxnSpPr>
        <p:spPr>
          <a:xfrm>
            <a:off x="7632311" y="612181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59D37A0-8062-4797-600A-9A842177C265}"/>
              </a:ext>
            </a:extLst>
          </p:cNvPr>
          <p:cNvCxnSpPr/>
          <p:nvPr/>
        </p:nvCxnSpPr>
        <p:spPr>
          <a:xfrm>
            <a:off x="7632311" y="639034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EF6DF6F-81D8-1F53-EE35-5FED4584D631}"/>
              </a:ext>
            </a:extLst>
          </p:cNvPr>
          <p:cNvCxnSpPr/>
          <p:nvPr/>
        </p:nvCxnSpPr>
        <p:spPr>
          <a:xfrm>
            <a:off x="7632311" y="665887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F6BD6D3-B508-0A8C-9C78-BC88848B2E09}"/>
              </a:ext>
            </a:extLst>
          </p:cNvPr>
          <p:cNvSpPr txBox="1"/>
          <p:nvPr/>
        </p:nvSpPr>
        <p:spPr>
          <a:xfrm>
            <a:off x="8182535" y="5966364"/>
            <a:ext cx="833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Request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B2C596-A8BB-8DD8-B827-5BB99482448E}"/>
              </a:ext>
            </a:extLst>
          </p:cNvPr>
          <p:cNvSpPr txBox="1"/>
          <p:nvPr/>
        </p:nvSpPr>
        <p:spPr>
          <a:xfrm>
            <a:off x="8182535" y="6237133"/>
            <a:ext cx="10817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Response  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6D370B-3712-3F74-9245-6DFD239D5521}"/>
              </a:ext>
            </a:extLst>
          </p:cNvPr>
          <p:cNvSpPr txBox="1"/>
          <p:nvPr/>
        </p:nvSpPr>
        <p:spPr>
          <a:xfrm>
            <a:off x="8182535" y="6507902"/>
            <a:ext cx="1992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Response (Immediate)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561CEBA-3587-ABB8-3BCE-52D93B30896F}"/>
              </a:ext>
            </a:extLst>
          </p:cNvPr>
          <p:cNvCxnSpPr/>
          <p:nvPr/>
        </p:nvCxnSpPr>
        <p:spPr>
          <a:xfrm flipH="1">
            <a:off x="1862584" y="3150512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F34614A-C1C5-6173-4A47-A4D5A5DCBD88}"/>
              </a:ext>
            </a:extLst>
          </p:cNvPr>
          <p:cNvCxnSpPr/>
          <p:nvPr/>
        </p:nvCxnSpPr>
        <p:spPr>
          <a:xfrm>
            <a:off x="1862584" y="3262537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BBA924F-A44C-5126-FC65-E7476616CBB5}"/>
              </a:ext>
            </a:extLst>
          </p:cNvPr>
          <p:cNvCxnSpPr/>
          <p:nvPr/>
        </p:nvCxnSpPr>
        <p:spPr>
          <a:xfrm flipH="1">
            <a:off x="1862584" y="4040730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4C3A8A2-4B8E-C464-4A32-7E71D36B6E70}"/>
              </a:ext>
            </a:extLst>
          </p:cNvPr>
          <p:cNvCxnSpPr/>
          <p:nvPr/>
        </p:nvCxnSpPr>
        <p:spPr>
          <a:xfrm>
            <a:off x="1862584" y="4152755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50E92D7-FFDA-BD86-221A-0DAA577C3AE3}"/>
              </a:ext>
            </a:extLst>
          </p:cNvPr>
          <p:cNvCxnSpPr/>
          <p:nvPr/>
        </p:nvCxnSpPr>
        <p:spPr>
          <a:xfrm flipH="1">
            <a:off x="1862584" y="6254257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7DA4297C-60E9-B70E-7610-446F4A465ECE}"/>
              </a:ext>
            </a:extLst>
          </p:cNvPr>
          <p:cNvCxnSpPr/>
          <p:nvPr/>
        </p:nvCxnSpPr>
        <p:spPr>
          <a:xfrm>
            <a:off x="1862584" y="6366282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261153D-6DF0-475A-998C-7AEB8B74698C}"/>
              </a:ext>
            </a:extLst>
          </p:cNvPr>
          <p:cNvCxnSpPr>
            <a:cxnSpLocks/>
          </p:cNvCxnSpPr>
          <p:nvPr/>
        </p:nvCxnSpPr>
        <p:spPr>
          <a:xfrm>
            <a:off x="6622213" y="4549814"/>
            <a:ext cx="3713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4AB5861-8C0A-3B27-296F-A87A15EA3811}"/>
              </a:ext>
            </a:extLst>
          </p:cNvPr>
          <p:cNvCxnSpPr>
            <a:cxnSpLocks/>
          </p:cNvCxnSpPr>
          <p:nvPr/>
        </p:nvCxnSpPr>
        <p:spPr>
          <a:xfrm flipH="1">
            <a:off x="6628753" y="4636854"/>
            <a:ext cx="3700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574C0B2-D4EF-615C-17E6-52C43A0A262A}"/>
              </a:ext>
            </a:extLst>
          </p:cNvPr>
          <p:cNvCxnSpPr>
            <a:cxnSpLocks/>
          </p:cNvCxnSpPr>
          <p:nvPr/>
        </p:nvCxnSpPr>
        <p:spPr>
          <a:xfrm>
            <a:off x="6628753" y="4723894"/>
            <a:ext cx="3713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65649E0-C42B-8A3F-A8F1-8B3BBAC9C0A4}"/>
              </a:ext>
            </a:extLst>
          </p:cNvPr>
          <p:cNvCxnSpPr>
            <a:cxnSpLocks/>
          </p:cNvCxnSpPr>
          <p:nvPr/>
        </p:nvCxnSpPr>
        <p:spPr>
          <a:xfrm flipH="1">
            <a:off x="6628753" y="4810935"/>
            <a:ext cx="3700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23F6BCD-EF0F-0E59-50B7-1008C2C09CC5}"/>
              </a:ext>
            </a:extLst>
          </p:cNvPr>
          <p:cNvSpPr txBox="1"/>
          <p:nvPr/>
        </p:nvSpPr>
        <p:spPr>
          <a:xfrm>
            <a:off x="1816570" y="6338986"/>
            <a:ext cx="1001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Shutdown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3E7CBDCD-0CD4-96B0-2EA4-BCDD8A4B2B8A}"/>
              </a:ext>
            </a:extLst>
          </p:cNvPr>
          <p:cNvCxnSpPr>
            <a:cxnSpLocks/>
          </p:cNvCxnSpPr>
          <p:nvPr/>
        </p:nvCxnSpPr>
        <p:spPr>
          <a:xfrm flipV="1">
            <a:off x="4305670" y="5841507"/>
            <a:ext cx="6036815" cy="7949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986C2E3C-0EC8-E651-1E74-2DE3C12B944C}"/>
              </a:ext>
            </a:extLst>
          </p:cNvPr>
          <p:cNvCxnSpPr/>
          <p:nvPr/>
        </p:nvCxnSpPr>
        <p:spPr>
          <a:xfrm flipV="1">
            <a:off x="4305670" y="6366282"/>
            <a:ext cx="0" cy="270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4921A48-36EA-94B1-8628-FDB8728F2719}"/>
              </a:ext>
            </a:extLst>
          </p:cNvPr>
          <p:cNvSpPr txBox="1"/>
          <p:nvPr/>
        </p:nvSpPr>
        <p:spPr>
          <a:xfrm>
            <a:off x="10384518" y="5800929"/>
            <a:ext cx="1001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Shutdown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10BEBB-3D18-0C8E-3101-535C88644D64}"/>
              </a:ext>
            </a:extLst>
          </p:cNvPr>
          <p:cNvSpPr txBox="1"/>
          <p:nvPr/>
        </p:nvSpPr>
        <p:spPr>
          <a:xfrm>
            <a:off x="2314180" y="2351648"/>
            <a:ext cx="2690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Info (Ip, Port, input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dirs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D9131AD-12D8-AFE4-8183-0D5B7DAE51BD}"/>
              </a:ext>
            </a:extLst>
          </p:cNvPr>
          <p:cNvSpPr txBox="1"/>
          <p:nvPr/>
        </p:nvSpPr>
        <p:spPr>
          <a:xfrm>
            <a:off x="2114878" y="2693048"/>
            <a:ext cx="2969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Worker Info (Worker Id, Ip, Port)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06A592-57D5-738D-30AD-40CE389EA39A}"/>
              </a:ext>
            </a:extLst>
          </p:cNvPr>
          <p:cNvSpPr txBox="1"/>
          <p:nvPr/>
        </p:nvSpPr>
        <p:spPr>
          <a:xfrm>
            <a:off x="2563673" y="2897845"/>
            <a:ext cx="2236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Id, Sampled Data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3162DA-2411-D4CD-783F-C8E8A1F1F3E3}"/>
              </a:ext>
            </a:extLst>
          </p:cNvPr>
          <p:cNvSpPr txBox="1"/>
          <p:nvPr/>
        </p:nvSpPr>
        <p:spPr>
          <a:xfrm>
            <a:off x="3241920" y="3213441"/>
            <a:ext cx="667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Pivots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F3434A-FCC7-448A-A2A7-B7E4635467AA}"/>
              </a:ext>
            </a:extLst>
          </p:cNvPr>
          <p:cNvSpPr txBox="1"/>
          <p:nvPr/>
        </p:nvSpPr>
        <p:spPr>
          <a:xfrm>
            <a:off x="2609923" y="3761328"/>
            <a:ext cx="2034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Id,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8D608D9-CA22-4B29-2001-7DA4E77EABB7}"/>
              </a:ext>
            </a:extLst>
          </p:cNvPr>
          <p:cNvSpPr txBox="1"/>
          <p:nvPr/>
        </p:nvSpPr>
        <p:spPr>
          <a:xfrm>
            <a:off x="2875055" y="4115291"/>
            <a:ext cx="1401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0FB520B-9EFC-348D-5A04-119267CD8262}"/>
              </a:ext>
            </a:extLst>
          </p:cNvPr>
          <p:cNvSpPr/>
          <p:nvPr/>
        </p:nvSpPr>
        <p:spPr>
          <a:xfrm>
            <a:off x="5562142" y="4549814"/>
            <a:ext cx="1066611" cy="30776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latin typeface="Segoe UI" panose="020B0502040204020203" pitchFamily="34" charset="0"/>
                <a:cs typeface="Segoe UI" panose="020B0502040204020203" pitchFamily="34" charset="0"/>
              </a:rPr>
              <a:t>Shuffle</a:t>
            </a:r>
          </a:p>
          <a:p>
            <a:pPr algn="ctr"/>
            <a:r>
              <a:rPr lang="en-US" altLang="ko-KR" sz="900" dirty="0">
                <a:latin typeface="Segoe UI" panose="020B0502040204020203" pitchFamily="34" charset="0"/>
                <a:cs typeface="Segoe UI" panose="020B0502040204020203" pitchFamily="34" charset="0"/>
              </a:rPr>
              <a:t>Remaining files</a:t>
            </a:r>
            <a:endParaRPr lang="ko-KR" alt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99F9692-7703-6950-454A-E34BDC6584A9}"/>
              </a:ext>
            </a:extLst>
          </p:cNvPr>
          <p:cNvSpPr/>
          <p:nvPr/>
        </p:nvSpPr>
        <p:spPr>
          <a:xfrm>
            <a:off x="5562142" y="5077103"/>
            <a:ext cx="1066611" cy="30776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Request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648B914-69C0-6C38-BBE5-78621B9FEBE2}"/>
              </a:ext>
            </a:extLst>
          </p:cNvPr>
          <p:cNvCxnSpPr>
            <a:cxnSpLocks/>
          </p:cNvCxnSpPr>
          <p:nvPr/>
        </p:nvCxnSpPr>
        <p:spPr>
          <a:xfrm flipH="1">
            <a:off x="1846555" y="5146440"/>
            <a:ext cx="3715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F03F9709-631A-D366-2640-484890571268}"/>
              </a:ext>
            </a:extLst>
          </p:cNvPr>
          <p:cNvCxnSpPr>
            <a:cxnSpLocks/>
          </p:cNvCxnSpPr>
          <p:nvPr/>
        </p:nvCxnSpPr>
        <p:spPr>
          <a:xfrm>
            <a:off x="1846555" y="5258465"/>
            <a:ext cx="3715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7F546DB-FF2D-FBAF-FE49-D8B3D83CC6A1}"/>
              </a:ext>
            </a:extLst>
          </p:cNvPr>
          <p:cNvCxnSpPr>
            <a:stCxn id="14" idx="0"/>
            <a:endCxn id="55" idx="0"/>
          </p:cNvCxnSpPr>
          <p:nvPr/>
        </p:nvCxnSpPr>
        <p:spPr>
          <a:xfrm flipH="1">
            <a:off x="6095448" y="4396396"/>
            <a:ext cx="549" cy="153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3098C7AB-FAF8-CBBE-080F-AFA5E07E7CB5}"/>
              </a:ext>
            </a:extLst>
          </p:cNvPr>
          <p:cNvCxnSpPr>
            <a:stCxn id="55" idx="2"/>
            <a:endCxn id="61" idx="0"/>
          </p:cNvCxnSpPr>
          <p:nvPr/>
        </p:nvCxnSpPr>
        <p:spPr>
          <a:xfrm>
            <a:off x="6095448" y="4857579"/>
            <a:ext cx="0" cy="219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E3C04574-91D8-497F-69D2-103C1E6619A6}"/>
              </a:ext>
            </a:extLst>
          </p:cNvPr>
          <p:cNvCxnSpPr>
            <a:cxnSpLocks/>
            <a:stCxn id="61" idx="2"/>
          </p:cNvCxnSpPr>
          <p:nvPr/>
        </p:nvCxnSpPr>
        <p:spPr>
          <a:xfrm rot="5400000" flipH="1">
            <a:off x="5297620" y="4587040"/>
            <a:ext cx="951098" cy="644559"/>
          </a:xfrm>
          <a:prstGeom prst="bentConnector3">
            <a:avLst>
              <a:gd name="adj1" fmla="val -400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65238024-4D50-A821-6DFD-B56593656AA6}"/>
              </a:ext>
            </a:extLst>
          </p:cNvPr>
          <p:cNvCxnSpPr/>
          <p:nvPr/>
        </p:nvCxnSpPr>
        <p:spPr>
          <a:xfrm>
            <a:off x="5450889" y="4433770"/>
            <a:ext cx="6445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A5962CAA-3F77-BD83-6CDC-D5D0DF63FDD3}"/>
              </a:ext>
            </a:extLst>
          </p:cNvPr>
          <p:cNvCxnSpPr>
            <a:cxnSpLocks/>
          </p:cNvCxnSpPr>
          <p:nvPr/>
        </p:nvCxnSpPr>
        <p:spPr>
          <a:xfrm>
            <a:off x="6095447" y="4906058"/>
            <a:ext cx="616071" cy="589664"/>
          </a:xfrm>
          <a:prstGeom prst="bentConnector3">
            <a:avLst>
              <a:gd name="adj1" fmla="val 998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52B1515-89BC-8646-BF25-C668B29C1173}"/>
              </a:ext>
            </a:extLst>
          </p:cNvPr>
          <p:cNvSpPr txBox="1"/>
          <p:nvPr/>
        </p:nvSpPr>
        <p:spPr>
          <a:xfrm>
            <a:off x="6641052" y="4979789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Segoe UI" panose="020B0502040204020203" pitchFamily="34" charset="0"/>
                <a:cs typeface="Segoe UI" panose="020B0502040204020203" pitchFamily="34" charset="0"/>
              </a:rPr>
              <a:t>Success</a:t>
            </a:r>
            <a:endParaRPr lang="ko-KR" alt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F203E3A-01D8-8040-5F3F-666EB92BA399}"/>
              </a:ext>
            </a:extLst>
          </p:cNvPr>
          <p:cNvSpPr txBox="1"/>
          <p:nvPr/>
        </p:nvSpPr>
        <p:spPr>
          <a:xfrm>
            <a:off x="5808536" y="4879268"/>
            <a:ext cx="340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Segoe UI" panose="020B0502040204020203" pitchFamily="34" charset="0"/>
                <a:cs typeface="Segoe UI" panose="020B0502040204020203" pitchFamily="34" charset="0"/>
              </a:rPr>
              <a:t>Fail</a:t>
            </a:r>
            <a:endParaRPr lang="ko-KR" alt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67208F6-F32F-C6A0-9DC5-0A3F30935877}"/>
              </a:ext>
            </a:extLst>
          </p:cNvPr>
          <p:cNvSpPr txBox="1"/>
          <p:nvPr/>
        </p:nvSpPr>
        <p:spPr>
          <a:xfrm>
            <a:off x="2167602" y="5230979"/>
            <a:ext cx="2969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Worker Info (Worker Id, Ip, Port)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CB43855-5570-EEA6-D54B-A1B935D8A4A0}"/>
              </a:ext>
            </a:extLst>
          </p:cNvPr>
          <p:cNvSpPr txBox="1"/>
          <p:nvPr/>
        </p:nvSpPr>
        <p:spPr>
          <a:xfrm>
            <a:off x="9015776" y="6221860"/>
            <a:ext cx="2717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Segoe UI" panose="020B0502040204020203" pitchFamily="34" charset="0"/>
                <a:cs typeface="Segoe UI" panose="020B0502040204020203" pitchFamily="34" charset="0"/>
              </a:rPr>
              <a:t>Initial Response: Master waits for all requests</a:t>
            </a:r>
          </a:p>
          <a:p>
            <a:r>
              <a:rPr lang="en-US" altLang="ko-KR" sz="1000" dirty="0">
                <a:latin typeface="Segoe UI" panose="020B0502040204020203" pitchFamily="34" charset="0"/>
                <a:cs typeface="Segoe UI" panose="020B0502040204020203" pitchFamily="34" charset="0"/>
              </a:rPr>
              <a:t>Subsequent Responses: Immediately</a:t>
            </a:r>
            <a:endParaRPr lang="ko-KR" alt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5BB9CA5-6044-F5AE-A89A-E374BA1D4B03}"/>
              </a:ext>
            </a:extLst>
          </p:cNvPr>
          <p:cNvSpPr txBox="1"/>
          <p:nvPr/>
        </p:nvSpPr>
        <p:spPr>
          <a:xfrm>
            <a:off x="56661" y="2446976"/>
            <a:ext cx="1746685" cy="57708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Register all workers.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register again,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then reset its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E76E71F-FB6F-80E4-B350-37C5D2FF6B82}"/>
              </a:ext>
            </a:extLst>
          </p:cNvPr>
          <p:cNvSpPr txBox="1"/>
          <p:nvPr/>
        </p:nvSpPr>
        <p:spPr>
          <a:xfrm>
            <a:off x="56661" y="3046060"/>
            <a:ext cx="1746686" cy="93871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Segoe UI" panose="020B0502040204020203" pitchFamily="34" charset="0"/>
                <a:cs typeface="Segoe UI" panose="020B0502040204020203" pitchFamily="34" charset="0"/>
              </a:rPr>
              <a:t>Collect sample data and select pivots.</a:t>
            </a:r>
          </a:p>
          <a:p>
            <a:r>
              <a:rPr lang="en-US" altLang="ko-KR" sz="1100" dirty="0">
                <a:latin typeface="Segoe UI" panose="020B0502040204020203" pitchFamily="34" charset="0"/>
                <a:cs typeface="Segoe UI" panose="020B0502040204020203" pitchFamily="34" charset="0"/>
              </a:rPr>
              <a:t>If a worker requests again, then just send pre-calculated pivots.</a:t>
            </a:r>
            <a:endParaRPr lang="ko-KR" alt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65DAA1A-C945-7744-EA44-402749A1E2F6}"/>
              </a:ext>
            </a:extLst>
          </p:cNvPr>
          <p:cNvSpPr txBox="1"/>
          <p:nvPr/>
        </p:nvSpPr>
        <p:spPr>
          <a:xfrm>
            <a:off x="56659" y="3999867"/>
            <a:ext cx="1746687" cy="73866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Collect all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request again, then just send all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 without adding its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A7D7962-5CE5-51B6-9C3A-90F442899D2A}"/>
              </a:ext>
            </a:extLst>
          </p:cNvPr>
          <p:cNvSpPr txBox="1"/>
          <p:nvPr/>
        </p:nvSpPr>
        <p:spPr>
          <a:xfrm>
            <a:off x="56659" y="4991117"/>
            <a:ext cx="1746687" cy="41549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Send current all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ED270FB-3666-A52A-F574-16C1B463D4CE}"/>
              </a:ext>
            </a:extLst>
          </p:cNvPr>
          <p:cNvSpPr txBox="1"/>
          <p:nvPr/>
        </p:nvSpPr>
        <p:spPr>
          <a:xfrm>
            <a:off x="56659" y="5919635"/>
            <a:ext cx="1746687" cy="57708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disconnects after reporting completion, its report is cancelled.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CA07E78-27B4-93D0-9CD1-E3805925F73B}"/>
              </a:ext>
            </a:extLst>
          </p:cNvPr>
          <p:cNvSpPr txBox="1"/>
          <p:nvPr/>
        </p:nvSpPr>
        <p:spPr>
          <a:xfrm>
            <a:off x="10384518" y="4408780"/>
            <a:ext cx="1746687" cy="577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Stream file data corresponding to the received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4D82AC0-D7C9-F15B-8E05-86787B9BED58}"/>
              </a:ext>
            </a:extLst>
          </p:cNvPr>
          <p:cNvSpPr txBox="1"/>
          <p:nvPr/>
        </p:nvSpPr>
        <p:spPr>
          <a:xfrm>
            <a:off x="7947659" y="4257112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CF9418B-F401-306F-A99E-0F46D737B84C}"/>
              </a:ext>
            </a:extLst>
          </p:cNvPr>
          <p:cNvSpPr txBox="1"/>
          <p:nvPr/>
        </p:nvSpPr>
        <p:spPr>
          <a:xfrm>
            <a:off x="8182535" y="4761903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data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EB49DE1-FDD9-C4FE-EBF6-F890B261DCA1}"/>
              </a:ext>
            </a:extLst>
          </p:cNvPr>
          <p:cNvSpPr/>
          <p:nvPr/>
        </p:nvSpPr>
        <p:spPr>
          <a:xfrm>
            <a:off x="3045833" y="1724665"/>
            <a:ext cx="1746566" cy="56760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Worker Info Array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Request Status Tracker per RPC Method   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8DE740F-AFB8-B9EA-2D52-2D38ED603647}"/>
              </a:ext>
            </a:extLst>
          </p:cNvPr>
          <p:cNvSpPr txBox="1"/>
          <p:nvPr/>
        </p:nvSpPr>
        <p:spPr>
          <a:xfrm>
            <a:off x="3304822" y="1467449"/>
            <a:ext cx="1209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Master State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54C7D6-3007-5DB1-E416-3FA32EBE4A65}"/>
              </a:ext>
            </a:extLst>
          </p:cNvPr>
          <p:cNvSpPr txBox="1"/>
          <p:nvPr/>
        </p:nvSpPr>
        <p:spPr>
          <a:xfrm>
            <a:off x="3144825" y="5976473"/>
            <a:ext cx="988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0432B83-9E68-4BEA-DD17-AE2D7F02C13C}"/>
              </a:ext>
            </a:extLst>
          </p:cNvPr>
          <p:cNvSpPr/>
          <p:nvPr/>
        </p:nvSpPr>
        <p:spPr>
          <a:xfrm>
            <a:off x="5288318" y="349253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Sort &amp; Partition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0F17373-50F9-905B-6083-67AE0CC15482}"/>
              </a:ext>
            </a:extLst>
          </p:cNvPr>
          <p:cNvCxnSpPr>
            <a:stCxn id="12" idx="2"/>
            <a:endCxn id="3" idx="0"/>
          </p:cNvCxnSpPr>
          <p:nvPr/>
        </p:nvCxnSpPr>
        <p:spPr>
          <a:xfrm flipH="1">
            <a:off x="6095447" y="3358627"/>
            <a:ext cx="552" cy="133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837571D-2040-9FD1-AD8F-5D5BF4274271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6095447" y="3822537"/>
            <a:ext cx="0" cy="118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FE80BB2-C4FE-D2E4-32CA-A70AC39D5198}"/>
              </a:ext>
            </a:extLst>
          </p:cNvPr>
          <p:cNvSpPr txBox="1"/>
          <p:nvPr/>
        </p:nvSpPr>
        <p:spPr>
          <a:xfrm>
            <a:off x="5490729" y="1026576"/>
            <a:ext cx="2237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Design for Fault Tolerance</a:t>
            </a:r>
            <a:endParaRPr lang="ko-KR" altLang="en-US" sz="14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A8B28D-BD27-B9A6-5540-39EA5B57A167}"/>
              </a:ext>
            </a:extLst>
          </p:cNvPr>
          <p:cNvSpPr txBox="1"/>
          <p:nvPr/>
        </p:nvSpPr>
        <p:spPr>
          <a:xfrm>
            <a:off x="-10492" y="2203708"/>
            <a:ext cx="1368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Retry Handling</a:t>
            </a:r>
            <a:endParaRPr lang="ko-KR" altLang="en-US" sz="14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7B93BB-05B8-22EB-A690-A604B72B3C34}"/>
              </a:ext>
            </a:extLst>
          </p:cNvPr>
          <p:cNvSpPr txBox="1"/>
          <p:nvPr/>
        </p:nvSpPr>
        <p:spPr>
          <a:xfrm>
            <a:off x="-35949" y="5625146"/>
            <a:ext cx="1830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Disconnect Handling</a:t>
            </a:r>
            <a:endParaRPr lang="ko-KR" altLang="en-US" sz="1400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752D0E0-8450-4724-684A-5C96058B7464}"/>
              </a:ext>
            </a:extLst>
          </p:cNvPr>
          <p:cNvCxnSpPr/>
          <p:nvPr/>
        </p:nvCxnSpPr>
        <p:spPr>
          <a:xfrm flipH="1">
            <a:off x="1862036" y="6260114"/>
            <a:ext cx="342628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00BE49E0-B874-7335-8EFC-41ECA3EAA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830479"/>
              </p:ext>
            </p:extLst>
          </p:nvPr>
        </p:nvGraphicFramePr>
        <p:xfrm>
          <a:off x="1909594" y="5821377"/>
          <a:ext cx="11746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650">
                  <a:extLst>
                    <a:ext uri="{9D8B030D-6E8A-4147-A177-3AD203B41FA5}">
                      <a16:colId xmlns:a16="http://schemas.microsoft.com/office/drawing/2014/main" val="2074035131"/>
                    </a:ext>
                  </a:extLst>
                </a:gridCol>
                <a:gridCol w="293650">
                  <a:extLst>
                    <a:ext uri="{9D8B030D-6E8A-4147-A177-3AD203B41FA5}">
                      <a16:colId xmlns:a16="http://schemas.microsoft.com/office/drawing/2014/main" val="2657355511"/>
                    </a:ext>
                  </a:extLst>
                </a:gridCol>
                <a:gridCol w="293650">
                  <a:extLst>
                    <a:ext uri="{9D8B030D-6E8A-4147-A177-3AD203B41FA5}">
                      <a16:colId xmlns:a16="http://schemas.microsoft.com/office/drawing/2014/main" val="1176575816"/>
                    </a:ext>
                  </a:extLst>
                </a:gridCol>
                <a:gridCol w="293650">
                  <a:extLst>
                    <a:ext uri="{9D8B030D-6E8A-4147-A177-3AD203B41FA5}">
                      <a16:colId xmlns:a16="http://schemas.microsoft.com/office/drawing/2014/main" val="3259133588"/>
                    </a:ext>
                  </a:extLst>
                </a:gridCol>
              </a:tblGrid>
              <a:tr h="172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7950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72C02C8-FF90-8CC8-791A-FE58CED2F463}"/>
              </a:ext>
            </a:extLst>
          </p:cNvPr>
          <p:cNvSpPr txBox="1"/>
          <p:nvPr/>
        </p:nvSpPr>
        <p:spPr>
          <a:xfrm>
            <a:off x="1575605" y="5560904"/>
            <a:ext cx="1965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Tracker for completion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40AF57-54CC-76AC-F538-59050B3A84B9}"/>
              </a:ext>
            </a:extLst>
          </p:cNvPr>
          <p:cNvSpPr txBox="1"/>
          <p:nvPr/>
        </p:nvSpPr>
        <p:spPr>
          <a:xfrm>
            <a:off x="4017140" y="5969048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3D7C6E-ADC0-F498-B664-30FAB519E3C5}"/>
              </a:ext>
            </a:extLst>
          </p:cNvPr>
          <p:cNvSpPr txBox="1"/>
          <p:nvPr/>
        </p:nvSpPr>
        <p:spPr>
          <a:xfrm>
            <a:off x="2206180" y="5827005"/>
            <a:ext cx="2160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endParaRPr lang="ko-KR" altLang="en-US" sz="1400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십자형 45">
            <a:extLst>
              <a:ext uri="{FF2B5EF4-FFF2-40B4-BE49-F238E27FC236}">
                <a16:creationId xmlns:a16="http://schemas.microsoft.com/office/drawing/2014/main" id="{3468EF75-9872-6736-0235-31814A6CF56E}"/>
              </a:ext>
            </a:extLst>
          </p:cNvPr>
          <p:cNvSpPr/>
          <p:nvPr/>
        </p:nvSpPr>
        <p:spPr>
          <a:xfrm rot="2700000">
            <a:off x="5317658" y="1213736"/>
            <a:ext cx="1585490" cy="1585490"/>
          </a:xfrm>
          <a:prstGeom prst="plus">
            <a:avLst>
              <a:gd name="adj" fmla="val 4403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0832E9A-E6E3-BEE8-1E58-4FABCF9C145A}"/>
              </a:ext>
            </a:extLst>
          </p:cNvPr>
          <p:cNvCxnSpPr/>
          <p:nvPr/>
        </p:nvCxnSpPr>
        <p:spPr>
          <a:xfrm flipH="1">
            <a:off x="1862036" y="2637164"/>
            <a:ext cx="342628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DF658A0-19E8-1DA7-6C4E-8C4A67A8BB8B}"/>
              </a:ext>
            </a:extLst>
          </p:cNvPr>
          <p:cNvSpPr txBox="1"/>
          <p:nvPr/>
        </p:nvSpPr>
        <p:spPr>
          <a:xfrm>
            <a:off x="2676049" y="2202925"/>
            <a:ext cx="20970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(2.2.2.102, 1234, “input”)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49EBB3EB-2990-B673-7676-6B5A3B90AD59}"/>
              </a:ext>
            </a:extLst>
          </p:cNvPr>
          <p:cNvGrpSpPr/>
          <p:nvPr/>
        </p:nvGrpSpPr>
        <p:grpSpPr>
          <a:xfrm>
            <a:off x="1855503" y="2931237"/>
            <a:ext cx="3651843" cy="954107"/>
            <a:chOff x="1855503" y="2940590"/>
            <a:chExt cx="3651843" cy="954107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E445350-D8C1-CD0F-7536-C4F7DC3D85E9}"/>
                </a:ext>
              </a:extLst>
            </p:cNvPr>
            <p:cNvSpPr/>
            <p:nvPr/>
          </p:nvSpPr>
          <p:spPr>
            <a:xfrm>
              <a:off x="1855503" y="2990556"/>
              <a:ext cx="3619611" cy="884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000F3782-A45D-8BDC-B623-93039D1F88C6}"/>
                </a:ext>
              </a:extLst>
            </p:cNvPr>
            <p:cNvGrpSpPr/>
            <p:nvPr/>
          </p:nvGrpSpPr>
          <p:grpSpPr>
            <a:xfrm>
              <a:off x="1898033" y="2940590"/>
              <a:ext cx="3609313" cy="954107"/>
              <a:chOff x="1051366" y="-31823"/>
              <a:chExt cx="3609313" cy="954107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8DD9B98-4B72-B47A-6D61-F40D9D816985}"/>
                  </a:ext>
                </a:extLst>
              </p:cNvPr>
              <p:cNvSpPr txBox="1"/>
              <p:nvPr/>
            </p:nvSpPr>
            <p:spPr>
              <a:xfrm>
                <a:off x="1051366" y="87343"/>
                <a:ext cx="2029338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Key</a:t>
                </a:r>
              </a:p>
              <a:p>
                <a:r>
                  <a:rPr lang="en-US" altLang="ko-KR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Ip: “2.2.2.102”</a:t>
                </a:r>
              </a:p>
              <a:p>
                <a:r>
                  <a:rPr lang="en-US" altLang="ko-KR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Input dirs.: Set(“input”))</a:t>
                </a:r>
                <a:endParaRPr lang="ko-KR" altLang="en-US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81538FA-C8C3-E794-7BF1-0E4F3F25F3AA}"/>
                  </a:ext>
                </a:extLst>
              </p:cNvPr>
              <p:cNvSpPr txBox="1"/>
              <p:nvPr/>
            </p:nvSpPr>
            <p:spPr>
              <a:xfrm>
                <a:off x="3406810" y="-31823"/>
                <a:ext cx="125386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Worker Info</a:t>
                </a:r>
              </a:p>
              <a:p>
                <a:r>
                  <a:rPr lang="en-US" altLang="ko-KR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Id: 2</a:t>
                </a:r>
              </a:p>
              <a:p>
                <a:r>
                  <a:rPr lang="en-US" altLang="ko-KR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Ip: “2.2.2.102”</a:t>
                </a:r>
              </a:p>
              <a:p>
                <a:r>
                  <a:rPr lang="en-US" altLang="ko-KR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Port: 1111</a:t>
                </a:r>
              </a:p>
            </p:txBody>
          </p:sp>
          <p:sp>
            <p:nvSpPr>
              <p:cNvPr id="66" name="화살표: 오른쪽 65">
                <a:extLst>
                  <a:ext uri="{FF2B5EF4-FFF2-40B4-BE49-F238E27FC236}">
                    <a16:creationId xmlns:a16="http://schemas.microsoft.com/office/drawing/2014/main" id="{B3D34AEC-FF9A-E857-D3E0-C52EA5237580}"/>
                  </a:ext>
                </a:extLst>
              </p:cNvPr>
              <p:cNvSpPr/>
              <p:nvPr/>
            </p:nvSpPr>
            <p:spPr>
              <a:xfrm>
                <a:off x="3053348" y="390377"/>
                <a:ext cx="275208" cy="10653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A072990-59CC-E3F3-64FB-28DDE943F017}"/>
              </a:ext>
            </a:extLst>
          </p:cNvPr>
          <p:cNvSpPr/>
          <p:nvPr/>
        </p:nvSpPr>
        <p:spPr>
          <a:xfrm>
            <a:off x="4748438" y="3640490"/>
            <a:ext cx="612567" cy="1855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1234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801F35A-32A8-D4BF-5837-2C7D8EC91144}"/>
              </a:ext>
            </a:extLst>
          </p:cNvPr>
          <p:cNvCxnSpPr/>
          <p:nvPr/>
        </p:nvCxnSpPr>
        <p:spPr>
          <a:xfrm flipH="1">
            <a:off x="1862584" y="4040730"/>
            <a:ext cx="342628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29D65AC4-4BC1-1C77-AFFC-40C480716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5464"/>
              </p:ext>
            </p:extLst>
          </p:nvPr>
        </p:nvGraphicFramePr>
        <p:xfrm>
          <a:off x="2062202" y="4615435"/>
          <a:ext cx="11746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650">
                  <a:extLst>
                    <a:ext uri="{9D8B030D-6E8A-4147-A177-3AD203B41FA5}">
                      <a16:colId xmlns:a16="http://schemas.microsoft.com/office/drawing/2014/main" val="2074035131"/>
                    </a:ext>
                  </a:extLst>
                </a:gridCol>
                <a:gridCol w="293650">
                  <a:extLst>
                    <a:ext uri="{9D8B030D-6E8A-4147-A177-3AD203B41FA5}">
                      <a16:colId xmlns:a16="http://schemas.microsoft.com/office/drawing/2014/main" val="2657355511"/>
                    </a:ext>
                  </a:extLst>
                </a:gridCol>
                <a:gridCol w="293650">
                  <a:extLst>
                    <a:ext uri="{9D8B030D-6E8A-4147-A177-3AD203B41FA5}">
                      <a16:colId xmlns:a16="http://schemas.microsoft.com/office/drawing/2014/main" val="1176575816"/>
                    </a:ext>
                  </a:extLst>
                </a:gridCol>
                <a:gridCol w="293650">
                  <a:extLst>
                    <a:ext uri="{9D8B030D-6E8A-4147-A177-3AD203B41FA5}">
                      <a16:colId xmlns:a16="http://schemas.microsoft.com/office/drawing/2014/main" val="3259133588"/>
                    </a:ext>
                  </a:extLst>
                </a:gridCol>
              </a:tblGrid>
              <a:tr h="172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</a:rPr>
                        <a:t>O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795089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E45B0B2E-1580-3304-B921-BA09D8B4F7C5}"/>
              </a:ext>
            </a:extLst>
          </p:cNvPr>
          <p:cNvSpPr txBox="1"/>
          <p:nvPr/>
        </p:nvSpPr>
        <p:spPr>
          <a:xfrm>
            <a:off x="1905609" y="4351304"/>
            <a:ext cx="1491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Tracker for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6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1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" dur="1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  <p:set>
                                      <p:cBhvr>
                                        <p:cTn id="12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8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1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4" dur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7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0" dur="1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7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8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5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9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6" grpId="1"/>
      <p:bldP spid="27" grpId="0"/>
      <p:bldP spid="27" grpId="1"/>
      <p:bldP spid="35" grpId="0"/>
      <p:bldP spid="35" grpId="1"/>
      <p:bldP spid="37" grpId="0"/>
      <p:bldP spid="37" grpId="1"/>
      <p:bldP spid="39" grpId="0" animBg="1"/>
      <p:bldP spid="39" grpId="1" animBg="1"/>
      <p:bldP spid="46" grpId="0" animBg="1"/>
      <p:bldP spid="46" grpId="1" animBg="1"/>
      <p:bldP spid="54" grpId="0"/>
      <p:bldP spid="54" grpId="1"/>
      <p:bldP spid="70" grpId="0" animBg="1"/>
      <p:bldP spid="70" grpId="1" animBg="1"/>
      <p:bldP spid="75" grpId="0"/>
      <p:bldP spid="7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3F07-9BA5-5B11-FA82-890CC9E6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Leverage multi-core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3025D-1520-2647-5703-3CF020A6470F}"/>
              </a:ext>
            </a:extLst>
          </p:cNvPr>
          <p:cNvSpPr txBox="1"/>
          <p:nvPr/>
        </p:nvSpPr>
        <p:spPr>
          <a:xfrm>
            <a:off x="1275062" y="1689959"/>
            <a:ext cx="1777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Sort &amp; Partition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BBD5A-A469-E3B1-E2BB-1A46C0408782}"/>
              </a:ext>
            </a:extLst>
          </p:cNvPr>
          <p:cNvSpPr txBox="1"/>
          <p:nvPr/>
        </p:nvSpPr>
        <p:spPr>
          <a:xfrm>
            <a:off x="5644594" y="1690688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Shuffle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7E6DB-871C-A390-DA6A-FFC27DC1EBC2}"/>
              </a:ext>
            </a:extLst>
          </p:cNvPr>
          <p:cNvSpPr txBox="1"/>
          <p:nvPr/>
        </p:nvSpPr>
        <p:spPr>
          <a:xfrm>
            <a:off x="9626950" y="1689959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CB4CFB5-803A-4071-421F-0BE670590A83}"/>
              </a:ext>
            </a:extLst>
          </p:cNvPr>
          <p:cNvGrpSpPr/>
          <p:nvPr/>
        </p:nvGrpSpPr>
        <p:grpSpPr>
          <a:xfrm>
            <a:off x="234140" y="2238585"/>
            <a:ext cx="1856319" cy="2832485"/>
            <a:chOff x="626990" y="2265180"/>
            <a:chExt cx="1856319" cy="283248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EAEBFC1-8B0E-33FD-036C-E31D6D924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1381806" y="2718085"/>
              <a:ext cx="469114" cy="59633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4F00FBA-8B53-0383-4501-8C56CBBF4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912692" y="4042338"/>
              <a:ext cx="469114" cy="59633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56DE860-9E29-3106-53FE-23C253D4D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1777598" y="4042338"/>
              <a:ext cx="469114" cy="596332"/>
            </a:xfrm>
            <a:prstGeom prst="rect">
              <a:avLst/>
            </a:prstGeom>
          </p:spPr>
        </p:pic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954550AC-785A-7316-10AE-07694167133E}"/>
                </a:ext>
              </a:extLst>
            </p:cNvPr>
            <p:cNvCxnSpPr>
              <a:stCxn id="4" idx="2"/>
              <a:endCxn id="9" idx="0"/>
            </p:cNvCxnSpPr>
            <p:nvPr/>
          </p:nvCxnSpPr>
          <p:spPr>
            <a:xfrm flipH="1">
              <a:off x="1147249" y="3314417"/>
              <a:ext cx="469114" cy="7279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AB2C51CE-74CD-2445-3C64-6A381830FBAD}"/>
                </a:ext>
              </a:extLst>
            </p:cNvPr>
            <p:cNvCxnSpPr>
              <a:stCxn id="4" idx="2"/>
              <a:endCxn id="10" idx="0"/>
            </p:cNvCxnSpPr>
            <p:nvPr/>
          </p:nvCxnSpPr>
          <p:spPr>
            <a:xfrm>
              <a:off x="1616363" y="3314417"/>
              <a:ext cx="395792" cy="7279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5195335-DD24-D530-8C17-C93F674B258A}"/>
                </a:ext>
              </a:extLst>
            </p:cNvPr>
            <p:cNvSpPr txBox="1"/>
            <p:nvPr/>
          </p:nvSpPr>
          <p:spPr>
            <a:xfrm>
              <a:off x="1262740" y="2399852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input0</a:t>
              </a:r>
              <a:endParaRPr lang="ko-KR" altLang="en-US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33FF23-2EDA-4179-1EAF-AD53E304E563}"/>
                </a:ext>
              </a:extLst>
            </p:cNvPr>
            <p:cNvSpPr txBox="1"/>
            <p:nvPr/>
          </p:nvSpPr>
          <p:spPr>
            <a:xfrm>
              <a:off x="626990" y="4616370"/>
              <a:ext cx="9893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File_1_1_0</a:t>
              </a:r>
              <a:endParaRPr lang="ko-KR" altLang="en-US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96C7DE6-4DEE-6EB0-41C7-A1BF9A047757}"/>
                </a:ext>
              </a:extLst>
            </p:cNvPr>
            <p:cNvSpPr txBox="1"/>
            <p:nvPr/>
          </p:nvSpPr>
          <p:spPr>
            <a:xfrm>
              <a:off x="1493936" y="4616369"/>
              <a:ext cx="9893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File_1_2_0</a:t>
              </a:r>
              <a:endParaRPr lang="ko-KR" altLang="en-US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7A5CCEC-AC74-27C5-BCD4-F326CD43AD18}"/>
                </a:ext>
              </a:extLst>
            </p:cNvPr>
            <p:cNvSpPr/>
            <p:nvPr/>
          </p:nvSpPr>
          <p:spPr>
            <a:xfrm>
              <a:off x="668193" y="2265180"/>
              <a:ext cx="1775465" cy="2832485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47F6D26-FB85-29DF-9C1F-EE2E08B9BC52}"/>
              </a:ext>
            </a:extLst>
          </p:cNvPr>
          <p:cNvGrpSpPr/>
          <p:nvPr/>
        </p:nvGrpSpPr>
        <p:grpSpPr>
          <a:xfrm>
            <a:off x="2223404" y="2238585"/>
            <a:ext cx="1870095" cy="2832485"/>
            <a:chOff x="2676663" y="2241631"/>
            <a:chExt cx="1870095" cy="283248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04C3418-9A98-82A1-932A-ADA4EF133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3386369" y="2694536"/>
              <a:ext cx="469114" cy="59633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567DC3E-4325-DD60-B111-17CD7B9AF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2936793" y="4042338"/>
              <a:ext cx="469114" cy="59633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878B973-0F27-8C5E-B2C0-31161FF5D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3855483" y="4042338"/>
              <a:ext cx="469114" cy="596332"/>
            </a:xfrm>
            <a:prstGeom prst="rect">
              <a:avLst/>
            </a:prstGeom>
          </p:spPr>
        </p:pic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343EA26-5D6C-1D04-C38E-276B0DDC71E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3171350" y="3290868"/>
              <a:ext cx="449576" cy="7279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0E29706B-FC46-8DAB-FB8E-A03B51648316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>
              <a:off x="3620926" y="3290868"/>
              <a:ext cx="469114" cy="7514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5E39DD-2E79-0908-2CEE-A3F9D1EEA377}"/>
                </a:ext>
              </a:extLst>
            </p:cNvPr>
            <p:cNvSpPr txBox="1"/>
            <p:nvPr/>
          </p:nvSpPr>
          <p:spPr>
            <a:xfrm>
              <a:off x="3267303" y="2381298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input1</a:t>
              </a:r>
              <a:endParaRPr lang="ko-KR" altLang="en-US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7E5F6A-8F57-A2C7-8BCB-FAED0AD04401}"/>
                </a:ext>
              </a:extLst>
            </p:cNvPr>
            <p:cNvSpPr txBox="1"/>
            <p:nvPr/>
          </p:nvSpPr>
          <p:spPr>
            <a:xfrm>
              <a:off x="2676663" y="4616369"/>
              <a:ext cx="9893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File_1_1_1</a:t>
              </a:r>
              <a:endParaRPr lang="ko-KR" altLang="en-US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78CC9C8-25B1-78CF-55EF-3FE196BDD63C}"/>
                </a:ext>
              </a:extLst>
            </p:cNvPr>
            <p:cNvSpPr txBox="1"/>
            <p:nvPr/>
          </p:nvSpPr>
          <p:spPr>
            <a:xfrm>
              <a:off x="3557385" y="4616368"/>
              <a:ext cx="9893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File_1_2_1</a:t>
              </a:r>
              <a:endParaRPr lang="ko-KR" altLang="en-US" sz="1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1EBD7CAD-856B-7C45-0627-CA063E3B7D21}"/>
                </a:ext>
              </a:extLst>
            </p:cNvPr>
            <p:cNvSpPr/>
            <p:nvPr/>
          </p:nvSpPr>
          <p:spPr>
            <a:xfrm>
              <a:off x="2733192" y="2241631"/>
              <a:ext cx="1775465" cy="2832485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34" name="Picture 2" descr="Dell PowerEdge 2850 Refurbished Servers">
            <a:extLst>
              <a:ext uri="{FF2B5EF4-FFF2-40B4-BE49-F238E27FC236}">
                <a16:creationId xmlns:a16="http://schemas.microsoft.com/office/drawing/2014/main" id="{8ACFE7AF-561E-2A9C-FB1B-761E14E0E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04414" y="3663557"/>
            <a:ext cx="928326" cy="24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2" descr="Dell PowerEdge 2850 Refurbished Servers">
            <a:extLst>
              <a:ext uri="{FF2B5EF4-FFF2-40B4-BE49-F238E27FC236}">
                <a16:creationId xmlns:a16="http://schemas.microsoft.com/office/drawing/2014/main" id="{7DC5B8E6-9CCB-4AB1-9705-1E951A4FF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47405" y="2569969"/>
            <a:ext cx="928326" cy="24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2" descr="Dell PowerEdge 2850 Refurbished Servers">
            <a:extLst>
              <a:ext uri="{FF2B5EF4-FFF2-40B4-BE49-F238E27FC236}">
                <a16:creationId xmlns:a16="http://schemas.microsoft.com/office/drawing/2014/main" id="{471F78D3-915F-CAB8-C436-E85A3B667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47405" y="3312004"/>
            <a:ext cx="928326" cy="24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2" descr="Dell PowerEdge 2850 Refurbished Servers">
            <a:extLst>
              <a:ext uri="{FF2B5EF4-FFF2-40B4-BE49-F238E27FC236}">
                <a16:creationId xmlns:a16="http://schemas.microsoft.com/office/drawing/2014/main" id="{DD4694FC-92D2-CCF4-43E0-5BEBC23DE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47405" y="4054039"/>
            <a:ext cx="928326" cy="24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" name="Picture 2" descr="Dell PowerEdge 2850 Refurbished Servers">
            <a:extLst>
              <a:ext uri="{FF2B5EF4-FFF2-40B4-BE49-F238E27FC236}">
                <a16:creationId xmlns:a16="http://schemas.microsoft.com/office/drawing/2014/main" id="{D0BE27AC-CF6D-B9C3-8F01-7C172985E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47405" y="4796073"/>
            <a:ext cx="928326" cy="24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312EC85-5CC6-EF1A-6835-D0FCB3103A90}"/>
              </a:ext>
            </a:extLst>
          </p:cNvPr>
          <p:cNvCxnSpPr>
            <a:stCxn id="34" idx="3"/>
            <a:endCxn id="36" idx="1"/>
          </p:cNvCxnSpPr>
          <p:nvPr/>
        </p:nvCxnSpPr>
        <p:spPr>
          <a:xfrm flipV="1">
            <a:off x="5532740" y="2691490"/>
            <a:ext cx="1014665" cy="10935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754F26A-D489-074F-B560-1E2E5DD9D835}"/>
              </a:ext>
            </a:extLst>
          </p:cNvPr>
          <p:cNvCxnSpPr>
            <a:stCxn id="34" idx="3"/>
            <a:endCxn id="37" idx="1"/>
          </p:cNvCxnSpPr>
          <p:nvPr/>
        </p:nvCxnSpPr>
        <p:spPr>
          <a:xfrm flipV="1">
            <a:off x="5532740" y="3433525"/>
            <a:ext cx="1014665" cy="3515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09BD78A-1B9F-22B4-476A-36414439D710}"/>
              </a:ext>
            </a:extLst>
          </p:cNvPr>
          <p:cNvCxnSpPr>
            <a:stCxn id="34" idx="3"/>
            <a:endCxn id="38" idx="1"/>
          </p:cNvCxnSpPr>
          <p:nvPr/>
        </p:nvCxnSpPr>
        <p:spPr>
          <a:xfrm>
            <a:off x="5532740" y="3785078"/>
            <a:ext cx="1014665" cy="3904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6B133FA-0AAA-B794-3C96-93CAFDF4E11A}"/>
              </a:ext>
            </a:extLst>
          </p:cNvPr>
          <p:cNvCxnSpPr>
            <a:stCxn id="34" idx="3"/>
            <a:endCxn id="39" idx="1"/>
          </p:cNvCxnSpPr>
          <p:nvPr/>
        </p:nvCxnSpPr>
        <p:spPr>
          <a:xfrm>
            <a:off x="5532740" y="3785078"/>
            <a:ext cx="1014665" cy="11325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57FB4B81-C79A-F7A4-C421-A9B763C63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46336" y="4291608"/>
            <a:ext cx="469114" cy="596332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285048E-27D7-7081-AA1B-475F8A789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70273" y="4291608"/>
            <a:ext cx="469114" cy="596332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1213ECF4-9895-9A67-ACE9-7D2632002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13089" y="4291608"/>
            <a:ext cx="469114" cy="596332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EC6E44AF-4806-8B91-B588-6BF74BD9C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92042" y="4291608"/>
            <a:ext cx="469114" cy="596332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D0FD7D3B-EFD5-51DD-BD2B-93B7E089E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837364" y="4291608"/>
            <a:ext cx="469114" cy="596332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420263B5-2A68-6E1C-399A-D8B0B5539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82686" y="4291608"/>
            <a:ext cx="469114" cy="59633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74119DF-9451-C3B7-30FA-4A2CEEB10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70273" y="3188745"/>
            <a:ext cx="469114" cy="596332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0DD82A6A-5C09-2F4E-2C86-019A9F908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837364" y="3188745"/>
            <a:ext cx="469114" cy="596332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9F3CFCBD-8352-1466-41F6-F89E85EBF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822928" y="2203180"/>
            <a:ext cx="469114" cy="596332"/>
          </a:xfrm>
          <a:prstGeom prst="rect">
            <a:avLst/>
          </a:prstGeom>
        </p:spPr>
      </p:pic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3A759D20-1059-46E9-748B-F98197B19A3E}"/>
              </a:ext>
            </a:extLst>
          </p:cNvPr>
          <p:cNvCxnSpPr>
            <a:stCxn id="48" idx="0"/>
            <a:endCxn id="54" idx="2"/>
          </p:cNvCxnSpPr>
          <p:nvPr/>
        </p:nvCxnSpPr>
        <p:spPr>
          <a:xfrm flipV="1">
            <a:off x="8580893" y="3785077"/>
            <a:ext cx="523937" cy="50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8FB9F8C-FC52-D49C-7CCB-143198C4A2A4}"/>
              </a:ext>
            </a:extLst>
          </p:cNvPr>
          <p:cNvCxnSpPr>
            <a:stCxn id="49" idx="0"/>
            <a:endCxn id="54" idx="2"/>
          </p:cNvCxnSpPr>
          <p:nvPr/>
        </p:nvCxnSpPr>
        <p:spPr>
          <a:xfrm flipV="1">
            <a:off x="9104830" y="3785077"/>
            <a:ext cx="0" cy="50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C9699A6-54FB-BA22-3B50-807B4FB1452A}"/>
              </a:ext>
            </a:extLst>
          </p:cNvPr>
          <p:cNvCxnSpPr>
            <a:stCxn id="50" idx="0"/>
            <a:endCxn id="54" idx="2"/>
          </p:cNvCxnSpPr>
          <p:nvPr/>
        </p:nvCxnSpPr>
        <p:spPr>
          <a:xfrm flipH="1" flipV="1">
            <a:off x="9104830" y="3785077"/>
            <a:ext cx="542816" cy="50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3FF7BA48-7843-4FFE-FEF0-9F340495B3C9}"/>
              </a:ext>
            </a:extLst>
          </p:cNvPr>
          <p:cNvCxnSpPr>
            <a:stCxn id="51" idx="0"/>
            <a:endCxn id="55" idx="2"/>
          </p:cNvCxnSpPr>
          <p:nvPr/>
        </p:nvCxnSpPr>
        <p:spPr>
          <a:xfrm flipV="1">
            <a:off x="10526599" y="3785077"/>
            <a:ext cx="545322" cy="50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0E50C0C-C768-F5FA-E75A-A4B7B2534400}"/>
              </a:ext>
            </a:extLst>
          </p:cNvPr>
          <p:cNvCxnSpPr>
            <a:stCxn id="52" idx="0"/>
            <a:endCxn id="55" idx="2"/>
          </p:cNvCxnSpPr>
          <p:nvPr/>
        </p:nvCxnSpPr>
        <p:spPr>
          <a:xfrm flipV="1">
            <a:off x="11071921" y="3785077"/>
            <a:ext cx="0" cy="50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F091B3EA-6D60-CF16-9A30-CCF7D7CC9778}"/>
              </a:ext>
            </a:extLst>
          </p:cNvPr>
          <p:cNvCxnSpPr>
            <a:stCxn id="53" idx="0"/>
            <a:endCxn id="55" idx="2"/>
          </p:cNvCxnSpPr>
          <p:nvPr/>
        </p:nvCxnSpPr>
        <p:spPr>
          <a:xfrm flipH="1" flipV="1">
            <a:off x="11071921" y="3785077"/>
            <a:ext cx="545322" cy="50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DF686C18-C419-FEB0-F5C3-C59D72F7D379}"/>
              </a:ext>
            </a:extLst>
          </p:cNvPr>
          <p:cNvCxnSpPr>
            <a:stCxn id="54" idx="0"/>
            <a:endCxn id="56" idx="2"/>
          </p:cNvCxnSpPr>
          <p:nvPr/>
        </p:nvCxnSpPr>
        <p:spPr>
          <a:xfrm flipV="1">
            <a:off x="9104830" y="2799512"/>
            <a:ext cx="952655" cy="389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4DA0CCA6-C312-C846-D3A4-C2887DEF8EB6}"/>
              </a:ext>
            </a:extLst>
          </p:cNvPr>
          <p:cNvCxnSpPr>
            <a:stCxn id="55" idx="0"/>
            <a:endCxn id="56" idx="2"/>
          </p:cNvCxnSpPr>
          <p:nvPr/>
        </p:nvCxnSpPr>
        <p:spPr>
          <a:xfrm flipH="1" flipV="1">
            <a:off x="10057485" y="2799512"/>
            <a:ext cx="1014436" cy="389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863CA3F-1DA0-054F-D1E3-D2D9BA91E7B2}"/>
              </a:ext>
            </a:extLst>
          </p:cNvPr>
          <p:cNvSpPr/>
          <p:nvPr/>
        </p:nvSpPr>
        <p:spPr>
          <a:xfrm>
            <a:off x="8217096" y="3015523"/>
            <a:ext cx="1775465" cy="2023592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C1AF109-E807-49C4-3D62-2754D34DF7A0}"/>
              </a:ext>
            </a:extLst>
          </p:cNvPr>
          <p:cNvSpPr/>
          <p:nvPr/>
        </p:nvSpPr>
        <p:spPr>
          <a:xfrm>
            <a:off x="10176341" y="3015522"/>
            <a:ext cx="1775465" cy="2023592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E0DF7DC4-65FF-3A9E-C804-885198CD6B43}"/>
              </a:ext>
            </a:extLst>
          </p:cNvPr>
          <p:cNvSpPr/>
          <p:nvPr/>
        </p:nvSpPr>
        <p:spPr>
          <a:xfrm>
            <a:off x="6434192" y="2476567"/>
            <a:ext cx="1154751" cy="429843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32E5D0E8-7B98-1910-95DE-49A20E02E12B}"/>
              </a:ext>
            </a:extLst>
          </p:cNvPr>
          <p:cNvSpPr/>
          <p:nvPr/>
        </p:nvSpPr>
        <p:spPr>
          <a:xfrm>
            <a:off x="6434192" y="3218602"/>
            <a:ext cx="1154751" cy="429843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2B4C993A-8E7F-B157-0235-C960F4B36A86}"/>
              </a:ext>
            </a:extLst>
          </p:cNvPr>
          <p:cNvSpPr/>
          <p:nvPr/>
        </p:nvSpPr>
        <p:spPr>
          <a:xfrm>
            <a:off x="6434192" y="3960637"/>
            <a:ext cx="1154751" cy="429843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F8B3D13F-ED85-8C2C-8EF8-3CDA24412514}"/>
              </a:ext>
            </a:extLst>
          </p:cNvPr>
          <p:cNvSpPr/>
          <p:nvPr/>
        </p:nvSpPr>
        <p:spPr>
          <a:xfrm>
            <a:off x="6434192" y="4702671"/>
            <a:ext cx="1154751" cy="429843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EA8B30-605C-4B15-804C-CFA77938DD6E}"/>
              </a:ext>
            </a:extLst>
          </p:cNvPr>
          <p:cNvSpPr txBox="1"/>
          <p:nvPr/>
        </p:nvSpPr>
        <p:spPr>
          <a:xfrm>
            <a:off x="71151" y="5505712"/>
            <a:ext cx="458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# of threads = min(# of cores, usable memory size / max file size)</a:t>
            </a:r>
            <a:endParaRPr lang="ko-KR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0FC5AF-E77A-4DD7-98B0-11284026A162}"/>
              </a:ext>
            </a:extLst>
          </p:cNvPr>
          <p:cNvSpPr txBox="1"/>
          <p:nvPr/>
        </p:nvSpPr>
        <p:spPr>
          <a:xfrm>
            <a:off x="5224373" y="5502223"/>
            <a:ext cx="2026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# of threads = # of workers</a:t>
            </a:r>
            <a:endParaRPr lang="ko-KR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177E23-89B1-4D1A-94CF-B028A312974F}"/>
              </a:ext>
            </a:extLst>
          </p:cNvPr>
          <p:cNvSpPr txBox="1"/>
          <p:nvPr/>
        </p:nvSpPr>
        <p:spPr>
          <a:xfrm>
            <a:off x="7689847" y="5502223"/>
            <a:ext cx="4362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# of threads = # of cores (if single-pass merge is not possible)</a:t>
            </a:r>
          </a:p>
          <a:p>
            <a:r>
              <a:rPr lang="en-US" altLang="ko-KR" sz="12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       1               (if single-pass merge is possible) </a:t>
            </a:r>
            <a:endParaRPr lang="ko-KR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0EE55A2-AA68-827C-4BAF-9C0A4CF9EDD1}"/>
              </a:ext>
            </a:extLst>
          </p:cNvPr>
          <p:cNvCxnSpPr>
            <a:cxnSpLocks/>
          </p:cNvCxnSpPr>
          <p:nvPr/>
        </p:nvCxnSpPr>
        <p:spPr>
          <a:xfrm>
            <a:off x="571843" y="4175560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E721D9B-9133-3700-677B-B1D9C5706403}"/>
              </a:ext>
            </a:extLst>
          </p:cNvPr>
          <p:cNvCxnSpPr>
            <a:cxnSpLocks/>
          </p:cNvCxnSpPr>
          <p:nvPr/>
        </p:nvCxnSpPr>
        <p:spPr>
          <a:xfrm>
            <a:off x="571843" y="4232313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27A2331-CF97-6B2A-8305-C75069B923B3}"/>
              </a:ext>
            </a:extLst>
          </p:cNvPr>
          <p:cNvCxnSpPr>
            <a:cxnSpLocks/>
          </p:cNvCxnSpPr>
          <p:nvPr/>
        </p:nvCxnSpPr>
        <p:spPr>
          <a:xfrm>
            <a:off x="571843" y="4289066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D091C89-EEAF-4E46-E474-ED12612059CE}"/>
              </a:ext>
            </a:extLst>
          </p:cNvPr>
          <p:cNvCxnSpPr>
            <a:cxnSpLocks/>
          </p:cNvCxnSpPr>
          <p:nvPr/>
        </p:nvCxnSpPr>
        <p:spPr>
          <a:xfrm>
            <a:off x="571843" y="4345819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B52E691-4D0F-EFA6-EF70-A7C026652619}"/>
              </a:ext>
            </a:extLst>
          </p:cNvPr>
          <p:cNvCxnSpPr>
            <a:cxnSpLocks/>
          </p:cNvCxnSpPr>
          <p:nvPr/>
        </p:nvCxnSpPr>
        <p:spPr>
          <a:xfrm>
            <a:off x="571843" y="4402572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86CE460-CB4C-E30D-B6FE-0AA4F53670DB}"/>
              </a:ext>
            </a:extLst>
          </p:cNvPr>
          <p:cNvCxnSpPr>
            <a:cxnSpLocks/>
          </p:cNvCxnSpPr>
          <p:nvPr/>
        </p:nvCxnSpPr>
        <p:spPr>
          <a:xfrm>
            <a:off x="571843" y="4459325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1F24374-343D-D2C8-8E0E-135D1099D36F}"/>
              </a:ext>
            </a:extLst>
          </p:cNvPr>
          <p:cNvCxnSpPr>
            <a:cxnSpLocks/>
          </p:cNvCxnSpPr>
          <p:nvPr/>
        </p:nvCxnSpPr>
        <p:spPr>
          <a:xfrm>
            <a:off x="571843" y="4516079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F1DFF0E-E2F3-D729-08C5-85829B380413}"/>
              </a:ext>
            </a:extLst>
          </p:cNvPr>
          <p:cNvCxnSpPr>
            <a:cxnSpLocks/>
          </p:cNvCxnSpPr>
          <p:nvPr/>
        </p:nvCxnSpPr>
        <p:spPr>
          <a:xfrm>
            <a:off x="1448027" y="4175560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7F76DA5-E489-571B-0ECF-B22354A1550F}"/>
              </a:ext>
            </a:extLst>
          </p:cNvPr>
          <p:cNvCxnSpPr>
            <a:cxnSpLocks/>
          </p:cNvCxnSpPr>
          <p:nvPr/>
        </p:nvCxnSpPr>
        <p:spPr>
          <a:xfrm>
            <a:off x="1448027" y="4232313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C62D954-A52B-6351-CAE8-BCBD659EA702}"/>
              </a:ext>
            </a:extLst>
          </p:cNvPr>
          <p:cNvCxnSpPr>
            <a:cxnSpLocks/>
          </p:cNvCxnSpPr>
          <p:nvPr/>
        </p:nvCxnSpPr>
        <p:spPr>
          <a:xfrm>
            <a:off x="1448027" y="4289066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5CE4AF7-D184-F241-53F7-7E3C0F6635F7}"/>
              </a:ext>
            </a:extLst>
          </p:cNvPr>
          <p:cNvCxnSpPr>
            <a:cxnSpLocks/>
          </p:cNvCxnSpPr>
          <p:nvPr/>
        </p:nvCxnSpPr>
        <p:spPr>
          <a:xfrm>
            <a:off x="1448027" y="4345819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077F970-B5EA-0063-84C4-D0BF70915801}"/>
              </a:ext>
            </a:extLst>
          </p:cNvPr>
          <p:cNvCxnSpPr>
            <a:cxnSpLocks/>
          </p:cNvCxnSpPr>
          <p:nvPr/>
        </p:nvCxnSpPr>
        <p:spPr>
          <a:xfrm>
            <a:off x="1448027" y="4402572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FAF9E1E5-CA81-F002-55D6-23C28B75E520}"/>
              </a:ext>
            </a:extLst>
          </p:cNvPr>
          <p:cNvCxnSpPr>
            <a:cxnSpLocks/>
          </p:cNvCxnSpPr>
          <p:nvPr/>
        </p:nvCxnSpPr>
        <p:spPr>
          <a:xfrm>
            <a:off x="1448027" y="4459325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D898A5E-EB0E-FA17-7F87-E238FDDE5DD2}"/>
              </a:ext>
            </a:extLst>
          </p:cNvPr>
          <p:cNvCxnSpPr>
            <a:cxnSpLocks/>
          </p:cNvCxnSpPr>
          <p:nvPr/>
        </p:nvCxnSpPr>
        <p:spPr>
          <a:xfrm>
            <a:off x="1448027" y="4516079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24F31E2D-A21C-8F3A-3D67-54D9700F5CD6}"/>
              </a:ext>
            </a:extLst>
          </p:cNvPr>
          <p:cNvCxnSpPr>
            <a:cxnSpLocks/>
          </p:cNvCxnSpPr>
          <p:nvPr/>
        </p:nvCxnSpPr>
        <p:spPr>
          <a:xfrm>
            <a:off x="1042193" y="2858729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BF542A84-EF93-1B31-D3F2-CF3FAF8C0617}"/>
              </a:ext>
            </a:extLst>
          </p:cNvPr>
          <p:cNvCxnSpPr>
            <a:cxnSpLocks/>
          </p:cNvCxnSpPr>
          <p:nvPr/>
        </p:nvCxnSpPr>
        <p:spPr>
          <a:xfrm>
            <a:off x="1042193" y="2915482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2C4D94C-3595-6F96-8082-F571BACA3007}"/>
              </a:ext>
            </a:extLst>
          </p:cNvPr>
          <p:cNvCxnSpPr>
            <a:cxnSpLocks/>
          </p:cNvCxnSpPr>
          <p:nvPr/>
        </p:nvCxnSpPr>
        <p:spPr>
          <a:xfrm>
            <a:off x="1042193" y="2972235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92BC8CD-48D8-E899-ACC0-AEDF74449944}"/>
              </a:ext>
            </a:extLst>
          </p:cNvPr>
          <p:cNvCxnSpPr>
            <a:cxnSpLocks/>
          </p:cNvCxnSpPr>
          <p:nvPr/>
        </p:nvCxnSpPr>
        <p:spPr>
          <a:xfrm>
            <a:off x="1042193" y="3028988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114C7E6B-2B1F-1F12-C631-948549E132A9}"/>
              </a:ext>
            </a:extLst>
          </p:cNvPr>
          <p:cNvCxnSpPr>
            <a:cxnSpLocks/>
          </p:cNvCxnSpPr>
          <p:nvPr/>
        </p:nvCxnSpPr>
        <p:spPr>
          <a:xfrm>
            <a:off x="1042193" y="3085741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E460324-70CF-13E0-83C4-6AD329B909DD}"/>
              </a:ext>
            </a:extLst>
          </p:cNvPr>
          <p:cNvCxnSpPr>
            <a:cxnSpLocks/>
          </p:cNvCxnSpPr>
          <p:nvPr/>
        </p:nvCxnSpPr>
        <p:spPr>
          <a:xfrm>
            <a:off x="1042193" y="3142494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FD410A3-A058-DEB0-610A-FAC233022254}"/>
              </a:ext>
            </a:extLst>
          </p:cNvPr>
          <p:cNvCxnSpPr>
            <a:cxnSpLocks/>
          </p:cNvCxnSpPr>
          <p:nvPr/>
        </p:nvCxnSpPr>
        <p:spPr>
          <a:xfrm>
            <a:off x="1042193" y="3199248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E2ACCE7-D898-2FDF-D5C5-07FED6FF1F53}"/>
              </a:ext>
            </a:extLst>
          </p:cNvPr>
          <p:cNvCxnSpPr>
            <a:cxnSpLocks/>
          </p:cNvCxnSpPr>
          <p:nvPr/>
        </p:nvCxnSpPr>
        <p:spPr>
          <a:xfrm>
            <a:off x="2541137" y="4199373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3861474F-548C-CE15-8A3A-7F175B690B6D}"/>
              </a:ext>
            </a:extLst>
          </p:cNvPr>
          <p:cNvCxnSpPr>
            <a:cxnSpLocks/>
          </p:cNvCxnSpPr>
          <p:nvPr/>
        </p:nvCxnSpPr>
        <p:spPr>
          <a:xfrm>
            <a:off x="2541137" y="4256126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59F14173-18B4-7FF3-AC37-2A4BF36A3AF8}"/>
              </a:ext>
            </a:extLst>
          </p:cNvPr>
          <p:cNvCxnSpPr>
            <a:cxnSpLocks/>
          </p:cNvCxnSpPr>
          <p:nvPr/>
        </p:nvCxnSpPr>
        <p:spPr>
          <a:xfrm>
            <a:off x="2541137" y="4312879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EC773F1-C92D-BD0B-CCF9-DA20BC76EE25}"/>
              </a:ext>
            </a:extLst>
          </p:cNvPr>
          <p:cNvCxnSpPr>
            <a:cxnSpLocks/>
          </p:cNvCxnSpPr>
          <p:nvPr/>
        </p:nvCxnSpPr>
        <p:spPr>
          <a:xfrm>
            <a:off x="2541137" y="4369632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CEB4467E-A722-0C59-C88C-7AFEE789DF51}"/>
              </a:ext>
            </a:extLst>
          </p:cNvPr>
          <p:cNvCxnSpPr>
            <a:cxnSpLocks/>
          </p:cNvCxnSpPr>
          <p:nvPr/>
        </p:nvCxnSpPr>
        <p:spPr>
          <a:xfrm>
            <a:off x="2541137" y="4426385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F2F0085-613E-BB5F-8B89-B50F1977DE45}"/>
              </a:ext>
            </a:extLst>
          </p:cNvPr>
          <p:cNvCxnSpPr>
            <a:cxnSpLocks/>
          </p:cNvCxnSpPr>
          <p:nvPr/>
        </p:nvCxnSpPr>
        <p:spPr>
          <a:xfrm>
            <a:off x="2541137" y="4483138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1BED010-FF20-A2FE-7D2E-779BAE9478CD}"/>
              </a:ext>
            </a:extLst>
          </p:cNvPr>
          <p:cNvCxnSpPr>
            <a:cxnSpLocks/>
          </p:cNvCxnSpPr>
          <p:nvPr/>
        </p:nvCxnSpPr>
        <p:spPr>
          <a:xfrm>
            <a:off x="2541137" y="4539892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816398F0-B6A4-AD76-6BCA-55A57F870373}"/>
              </a:ext>
            </a:extLst>
          </p:cNvPr>
          <p:cNvCxnSpPr>
            <a:cxnSpLocks/>
          </p:cNvCxnSpPr>
          <p:nvPr/>
        </p:nvCxnSpPr>
        <p:spPr>
          <a:xfrm>
            <a:off x="3460299" y="4200602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753437D-F0AD-2F81-041F-60F877563CBC}"/>
              </a:ext>
            </a:extLst>
          </p:cNvPr>
          <p:cNvCxnSpPr>
            <a:cxnSpLocks/>
          </p:cNvCxnSpPr>
          <p:nvPr/>
        </p:nvCxnSpPr>
        <p:spPr>
          <a:xfrm>
            <a:off x="3460299" y="4257355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BC7C6004-C258-CF8E-C781-90DF13852073}"/>
              </a:ext>
            </a:extLst>
          </p:cNvPr>
          <p:cNvCxnSpPr>
            <a:cxnSpLocks/>
          </p:cNvCxnSpPr>
          <p:nvPr/>
        </p:nvCxnSpPr>
        <p:spPr>
          <a:xfrm>
            <a:off x="3460299" y="4314108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4748D24-1066-EB28-5302-190BA0E2F446}"/>
              </a:ext>
            </a:extLst>
          </p:cNvPr>
          <p:cNvCxnSpPr>
            <a:cxnSpLocks/>
          </p:cNvCxnSpPr>
          <p:nvPr/>
        </p:nvCxnSpPr>
        <p:spPr>
          <a:xfrm>
            <a:off x="3460299" y="4370861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1BEA69-2B48-3B32-EE6F-7B9946F631E4}"/>
              </a:ext>
            </a:extLst>
          </p:cNvPr>
          <p:cNvCxnSpPr>
            <a:cxnSpLocks/>
          </p:cNvCxnSpPr>
          <p:nvPr/>
        </p:nvCxnSpPr>
        <p:spPr>
          <a:xfrm>
            <a:off x="3460299" y="4427614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963E3652-D803-A7D4-CC2C-0FCE3BF307CE}"/>
              </a:ext>
            </a:extLst>
          </p:cNvPr>
          <p:cNvCxnSpPr>
            <a:cxnSpLocks/>
          </p:cNvCxnSpPr>
          <p:nvPr/>
        </p:nvCxnSpPr>
        <p:spPr>
          <a:xfrm>
            <a:off x="3460299" y="4484367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3BF67D4C-996D-F70E-B8A9-9E87DC9C588D}"/>
              </a:ext>
            </a:extLst>
          </p:cNvPr>
          <p:cNvCxnSpPr>
            <a:cxnSpLocks/>
          </p:cNvCxnSpPr>
          <p:nvPr/>
        </p:nvCxnSpPr>
        <p:spPr>
          <a:xfrm>
            <a:off x="3460299" y="4541121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CF3B743D-6770-A4C8-4DB9-860FEFA59754}"/>
              </a:ext>
            </a:extLst>
          </p:cNvPr>
          <p:cNvCxnSpPr>
            <a:cxnSpLocks/>
          </p:cNvCxnSpPr>
          <p:nvPr/>
        </p:nvCxnSpPr>
        <p:spPr>
          <a:xfrm>
            <a:off x="2991193" y="2858729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9F82D08F-17E7-11CB-546A-12435366A7AA}"/>
              </a:ext>
            </a:extLst>
          </p:cNvPr>
          <p:cNvCxnSpPr>
            <a:cxnSpLocks/>
          </p:cNvCxnSpPr>
          <p:nvPr/>
        </p:nvCxnSpPr>
        <p:spPr>
          <a:xfrm>
            <a:off x="2991193" y="2915482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A001A4C1-42EE-4CE0-7205-CF6A13B2437B}"/>
              </a:ext>
            </a:extLst>
          </p:cNvPr>
          <p:cNvCxnSpPr>
            <a:cxnSpLocks/>
          </p:cNvCxnSpPr>
          <p:nvPr/>
        </p:nvCxnSpPr>
        <p:spPr>
          <a:xfrm>
            <a:off x="2991193" y="2972235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09D73EFF-8EE7-B425-39C1-E61B5A245687}"/>
              </a:ext>
            </a:extLst>
          </p:cNvPr>
          <p:cNvCxnSpPr>
            <a:cxnSpLocks/>
          </p:cNvCxnSpPr>
          <p:nvPr/>
        </p:nvCxnSpPr>
        <p:spPr>
          <a:xfrm>
            <a:off x="2991193" y="3028988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B9BFEF85-F6D8-19E0-B240-D7FB955AA58B}"/>
              </a:ext>
            </a:extLst>
          </p:cNvPr>
          <p:cNvCxnSpPr>
            <a:cxnSpLocks/>
          </p:cNvCxnSpPr>
          <p:nvPr/>
        </p:nvCxnSpPr>
        <p:spPr>
          <a:xfrm>
            <a:off x="2991193" y="3085741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AD1A1795-5E3D-3E18-4563-13C47B70E0DF}"/>
              </a:ext>
            </a:extLst>
          </p:cNvPr>
          <p:cNvCxnSpPr>
            <a:cxnSpLocks/>
          </p:cNvCxnSpPr>
          <p:nvPr/>
        </p:nvCxnSpPr>
        <p:spPr>
          <a:xfrm>
            <a:off x="2991193" y="3142494"/>
            <a:ext cx="3425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7225961A-2BE6-A5A8-6075-724F521E75EB}"/>
              </a:ext>
            </a:extLst>
          </p:cNvPr>
          <p:cNvCxnSpPr>
            <a:cxnSpLocks/>
          </p:cNvCxnSpPr>
          <p:nvPr/>
        </p:nvCxnSpPr>
        <p:spPr>
          <a:xfrm>
            <a:off x="2991193" y="3199248"/>
            <a:ext cx="342555" cy="0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371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19CD1-BCE4-B5DC-9956-1E9704A9F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Overall progress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196C67-01C8-5EEE-CAD8-730F1C9E1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39" y="1811045"/>
            <a:ext cx="5382392" cy="43589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47342C9-38F3-6C66-2EDD-7521251F7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592" y="1677331"/>
            <a:ext cx="4545238" cy="448211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F787FB51-3E95-3A83-F2AF-3CAC720BBD3D}"/>
              </a:ext>
            </a:extLst>
          </p:cNvPr>
          <p:cNvGrpSpPr/>
          <p:nvPr/>
        </p:nvGrpSpPr>
        <p:grpSpPr>
          <a:xfrm>
            <a:off x="10009830" y="1470461"/>
            <a:ext cx="2095963" cy="4895850"/>
            <a:chOff x="7031345" y="586901"/>
            <a:chExt cx="2095963" cy="48958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70A791E-750D-4ED4-8A34-6A47CAAAB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94075"/>
            <a:stretch>
              <a:fillRect/>
            </a:stretch>
          </p:blipFill>
          <p:spPr>
            <a:xfrm>
              <a:off x="7031345" y="586901"/>
              <a:ext cx="496087" cy="489585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E7609B2-DA2A-50A9-6E54-446FE13B4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0891"/>
            <a:stretch>
              <a:fillRect/>
            </a:stretch>
          </p:blipFill>
          <p:spPr>
            <a:xfrm>
              <a:off x="7527432" y="586901"/>
              <a:ext cx="1599876" cy="489585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A2A2617-DA89-8E77-3BD6-964DE03FC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6366" b="89394"/>
            <a:stretch>
              <a:fillRect/>
            </a:stretch>
          </p:blipFill>
          <p:spPr>
            <a:xfrm>
              <a:off x="7031345" y="586901"/>
              <a:ext cx="1978657" cy="5192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3638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E0B52-B2C5-C758-80AF-EEDBFB1F1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Why our project was successful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65539E-6E6A-21A7-95C4-0ED23101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996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Surgical Team model</a:t>
            </a:r>
          </a:p>
          <a:p>
            <a:pPr lvl="1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Chief </a:t>
            </a:r>
            <a:r>
              <a:rPr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Progammer</a:t>
            </a:r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Chaemin</a:t>
            </a:r>
            <a:endParaRPr lang="en-US" altLang="ko-K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/>
            <a:r>
              <a:rPr lang="en" altLang="ko-KR" dirty="0"/>
              <a:t>Designed project directory structure </a:t>
            </a:r>
          </a:p>
          <a:p>
            <a:pPr lvl="2"/>
            <a:r>
              <a:rPr lang="en" altLang="ko-KR" dirty="0"/>
              <a:t>integrated the entire pipeline</a:t>
            </a:r>
            <a:endParaRPr lang="en-US" altLang="ko-K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Minimized Communication Overhead</a:t>
            </a:r>
          </a:p>
          <a:p>
            <a:pPr lvl="1"/>
            <a:r>
              <a:rPr lang="en" altLang="ko-KR" dirty="0"/>
              <a:t>Shared only essential information</a:t>
            </a:r>
          </a:p>
          <a:p>
            <a:pPr lvl="2"/>
            <a:r>
              <a:rPr lang="en" altLang="ko-KR" dirty="0"/>
              <a:t>Common understanding of the project</a:t>
            </a:r>
          </a:p>
          <a:p>
            <a:pPr lvl="2"/>
            <a:r>
              <a:rPr lang="en" altLang="ko-KR" dirty="0"/>
              <a:t>Clear scope and output data structure for each phase</a:t>
            </a:r>
            <a:endParaRPr lang="en-US" altLang="ko-K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Test-Driven Development for core features</a:t>
            </a:r>
          </a:p>
          <a:p>
            <a:pPr lvl="1"/>
            <a:r>
              <a:rPr lang="en" altLang="ko-KR" dirty="0"/>
              <a:t>Before integration, every member ensured correctness </a:t>
            </a:r>
            <a:r>
              <a:rPr lang="en-US" altLang="ko-KR" dirty="0"/>
              <a:t>of</a:t>
            </a:r>
            <a:r>
              <a:rPr lang="en" altLang="ko-KR" dirty="0"/>
              <a:t> their own phase using pre-developed test</a:t>
            </a:r>
            <a:br>
              <a:rPr lang="en" altLang="ko-KR" dirty="0"/>
            </a:br>
            <a:r>
              <a:rPr lang="en" altLang="ko-KR" dirty="0"/>
              <a:t>-&gt; Almost zero debugging during integration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47B7C19-167D-F347-9019-1EE4235BC84F}"/>
              </a:ext>
            </a:extLst>
          </p:cNvPr>
          <p:cNvSpPr txBox="1">
            <a:spLocks/>
          </p:cNvSpPr>
          <p:nvPr/>
        </p:nvSpPr>
        <p:spPr>
          <a:xfrm>
            <a:off x="5778731" y="19062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sz="2200" dirty="0">
                <a:latin typeface="Segoe UI" panose="020B0502040204020203" pitchFamily="34" charset="0"/>
                <a:cs typeface="Segoe UI" panose="020B0502040204020203" pitchFamily="34" charset="0"/>
              </a:rPr>
              <a:t>Co-pilots</a:t>
            </a:r>
          </a:p>
          <a:p>
            <a:pPr lvl="2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managed Shuffle Phase - </a:t>
            </a:r>
            <a:r>
              <a:rPr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Seojin</a:t>
            </a:r>
            <a:endParaRPr lang="en-US" altLang="ko-K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managed Sort &amp; Partition Phase - </a:t>
            </a:r>
            <a:r>
              <a:rPr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Moohyun</a:t>
            </a:r>
            <a:endParaRPr lang="en-US" altLang="ko-K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04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214EB-4517-3DC1-E121-414417317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How we communicated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5E747-17FF-5E08-EA01-138519C503B0}"/>
              </a:ext>
            </a:extLst>
          </p:cNvPr>
          <p:cNvSpPr txBox="1"/>
          <p:nvPr/>
        </p:nvSpPr>
        <p:spPr>
          <a:xfrm>
            <a:off x="192076" y="6418556"/>
            <a:ext cx="11807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https://morning-drawbridge-ada.notion.site/SD-Project-2a8be201a70880d1a5e1f13ccfaa5049?source=copy_link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80ECC9-AF5E-5131-DBE8-D99C26E71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77" y="2374055"/>
            <a:ext cx="1774273" cy="40112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F31FEF-FAA3-A668-B984-BE5AD15CB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426" y="2314665"/>
            <a:ext cx="3601503" cy="41299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CC50941-3AFF-4EDC-BA5C-4DA05485D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366" y="1507971"/>
            <a:ext cx="4871047" cy="4801986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3EE6957-3EC2-1D42-86D8-6D6B8FC27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372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Notion - </a:t>
            </a:r>
            <a:r>
              <a:rPr kumimoji="1" lang="en-US" altLang="ko-KR" sz="1600" dirty="0"/>
              <a:t>documentation for common understanding </a:t>
            </a:r>
          </a:p>
          <a:p>
            <a:r>
              <a:rPr kumimoji="1" lang="en-US" altLang="ko-KR" sz="1600" dirty="0"/>
              <a:t>Weekly offline meeting – consensus of design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8168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40E12-585A-784C-8B65-7E212B9D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Thank you for listening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3488D4-8C5B-2C4E-A99C-C7432B20F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8042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D14E7-144F-3348-B644-A1A5E424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BackupSlide</a:t>
            </a:r>
            <a:endParaRPr kumimoji="1"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E2E14E6-9A3A-4147-AB8D-1465359E0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11444"/>
            <a:ext cx="10515600" cy="1043376"/>
          </a:xfrm>
          <a:prstGeom prst="rect">
            <a:avLst/>
          </a:prstGeom>
        </p:spPr>
      </p:pic>
      <p:pic>
        <p:nvPicPr>
          <p:cNvPr id="6" name="그림 5" descr="텍스트, 소프트웨어, 멀티미디어 소프트웨어, 스크린샷이(가) 표시된 사진&#10;&#10;자동 생성된 설명">
            <a:extLst>
              <a:ext uri="{FF2B5EF4-FFF2-40B4-BE49-F238E27FC236}">
                <a16:creationId xmlns:a16="http://schemas.microsoft.com/office/drawing/2014/main" id="{EACCC2A8-E544-CA41-BDA0-A6926EC54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975576"/>
            <a:ext cx="10515599" cy="373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31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2566-BB73-8B8A-0A91-8BE7B0DD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EE920-88F5-D832-BACC-EDCFFA1F7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Final architecture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2" descr="Dell PowerEdge 2850 Refurbished Servers">
            <a:extLst>
              <a:ext uri="{FF2B5EF4-FFF2-40B4-BE49-F238E27FC236}">
                <a16:creationId xmlns:a16="http://schemas.microsoft.com/office/drawing/2014/main" id="{2208E21C-01FC-E1E1-1DD4-DA1376997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5963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ell PowerEdge 2850 Refurbished Servers">
            <a:extLst>
              <a:ext uri="{FF2B5EF4-FFF2-40B4-BE49-F238E27FC236}">
                <a16:creationId xmlns:a16="http://schemas.microsoft.com/office/drawing/2014/main" id="{9E4F3F11-666D-3F40-A9B9-ED9FD0E73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Dell PowerEdge 2850 Refurbished Servers">
            <a:extLst>
              <a:ext uri="{FF2B5EF4-FFF2-40B4-BE49-F238E27FC236}">
                <a16:creationId xmlns:a16="http://schemas.microsoft.com/office/drawing/2014/main" id="{B09DE3EF-FEC6-E1CF-7505-28D2CEB57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00037" y="1690688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5E0F55-0A6F-1616-C8D6-7A77D3240B7F}"/>
              </a:ext>
            </a:extLst>
          </p:cNvPr>
          <p:cNvSpPr txBox="1"/>
          <p:nvPr/>
        </p:nvSpPr>
        <p:spPr>
          <a:xfrm>
            <a:off x="1399320" y="1435934"/>
            <a:ext cx="89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Master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8EE38-A520-BB51-F6A6-34B540A5F986}"/>
              </a:ext>
            </a:extLst>
          </p:cNvPr>
          <p:cNvSpPr txBox="1"/>
          <p:nvPr/>
        </p:nvSpPr>
        <p:spPr>
          <a:xfrm>
            <a:off x="5628404" y="1435934"/>
            <a:ext cx="93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Worker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5E2BD1-3012-B52C-8AE2-850137C4E12C}"/>
              </a:ext>
            </a:extLst>
          </p:cNvPr>
          <p:cNvSpPr txBox="1"/>
          <p:nvPr/>
        </p:nvSpPr>
        <p:spPr>
          <a:xfrm>
            <a:off x="9536406" y="1435934"/>
            <a:ext cx="161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Other Worker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95FB209-1624-D390-E5E8-B2BB69F9941C}"/>
              </a:ext>
            </a:extLst>
          </p:cNvPr>
          <p:cNvSpPr/>
          <p:nvPr/>
        </p:nvSpPr>
        <p:spPr>
          <a:xfrm>
            <a:off x="5288871" y="2508755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Registration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39D22C6-25D8-504B-F3F6-2482DD87D0EF}"/>
              </a:ext>
            </a:extLst>
          </p:cNvPr>
          <p:cNvSpPr/>
          <p:nvPr/>
        </p:nvSpPr>
        <p:spPr>
          <a:xfrm>
            <a:off x="5288870" y="302862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Sampling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67FC4BB-24B5-5B59-81FC-671BE8F87AC4}"/>
              </a:ext>
            </a:extLst>
          </p:cNvPr>
          <p:cNvSpPr/>
          <p:nvPr/>
        </p:nvSpPr>
        <p:spPr>
          <a:xfrm>
            <a:off x="5288318" y="3941425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Report </a:t>
            </a:r>
            <a:r>
              <a:rPr lang="en-US" altLang="ko-KR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2F42175-2789-89BF-02EE-AEA652CD98A4}"/>
              </a:ext>
            </a:extLst>
          </p:cNvPr>
          <p:cNvSpPr/>
          <p:nvPr/>
        </p:nvSpPr>
        <p:spPr>
          <a:xfrm>
            <a:off x="5288868" y="4396396"/>
            <a:ext cx="1614257" cy="110242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CEA727-8073-4298-378A-C5C856F175CD}"/>
              </a:ext>
            </a:extLst>
          </p:cNvPr>
          <p:cNvSpPr/>
          <p:nvPr/>
        </p:nvSpPr>
        <p:spPr>
          <a:xfrm>
            <a:off x="5288867" y="562514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F6044C0-EEA4-83FC-F77C-C072F47695DB}"/>
              </a:ext>
            </a:extLst>
          </p:cNvPr>
          <p:cNvSpPr/>
          <p:nvPr/>
        </p:nvSpPr>
        <p:spPr>
          <a:xfrm>
            <a:off x="5288866" y="6122672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Completion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98D5386-A797-BC86-1828-1DFCF580E5C7}"/>
              </a:ext>
            </a:extLst>
          </p:cNvPr>
          <p:cNvCxnSpPr>
            <a:stCxn id="4" idx="2"/>
          </p:cNvCxnSpPr>
          <p:nvPr/>
        </p:nvCxnSpPr>
        <p:spPr>
          <a:xfrm flipH="1">
            <a:off x="1846555" y="2289176"/>
            <a:ext cx="2408" cy="42270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0AF6BE1-2798-E739-E005-09A7F3B94415}"/>
              </a:ext>
            </a:extLst>
          </p:cNvPr>
          <p:cNvCxnSpPr>
            <a:stCxn id="6" idx="2"/>
          </p:cNvCxnSpPr>
          <p:nvPr/>
        </p:nvCxnSpPr>
        <p:spPr>
          <a:xfrm flipH="1">
            <a:off x="10342485" y="2289176"/>
            <a:ext cx="552" cy="37121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B5D2335-AB45-D1C5-EF2D-0FD5F95A03DE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6096000" y="2289176"/>
            <a:ext cx="0" cy="219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40E1F89-C579-32CF-A0CB-28ED8F941F23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6095999" y="2838756"/>
            <a:ext cx="1" cy="189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0627F16-A077-58A7-306C-F43A6F54A956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6095447" y="4271426"/>
            <a:ext cx="550" cy="12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3785DC7-7C64-0E1A-9C31-80A5274D4BC8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6095996" y="5498822"/>
            <a:ext cx="1" cy="126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5BE5E92-7D38-C4D8-483F-45AAC282D07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6095995" y="5955147"/>
            <a:ext cx="1" cy="16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3BE0F5-53C8-2AC0-E919-2245BBDD2C1D}"/>
              </a:ext>
            </a:extLst>
          </p:cNvPr>
          <p:cNvSpPr txBox="1"/>
          <p:nvPr/>
        </p:nvSpPr>
        <p:spPr>
          <a:xfrm>
            <a:off x="1184249" y="2211009"/>
            <a:ext cx="697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D9CB5B-28DE-0C29-F161-753612A6ADED}"/>
              </a:ext>
            </a:extLst>
          </p:cNvPr>
          <p:cNvSpPr txBox="1"/>
          <p:nvPr/>
        </p:nvSpPr>
        <p:spPr>
          <a:xfrm>
            <a:off x="9658223" y="2236153"/>
            <a:ext cx="697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C50B411-505B-3324-18A5-00EAA4BF56CC}"/>
              </a:ext>
            </a:extLst>
          </p:cNvPr>
          <p:cNvCxnSpPr/>
          <p:nvPr/>
        </p:nvCxnSpPr>
        <p:spPr>
          <a:xfrm flipH="1">
            <a:off x="1862584" y="2634328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5C03D07-7CC0-534C-BE0A-594AEC0CAC64}"/>
              </a:ext>
            </a:extLst>
          </p:cNvPr>
          <p:cNvCxnSpPr/>
          <p:nvPr/>
        </p:nvCxnSpPr>
        <p:spPr>
          <a:xfrm>
            <a:off x="1862584" y="2744253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75F4AA5-8A31-8D0D-BE23-3B92C525A309}"/>
              </a:ext>
            </a:extLst>
          </p:cNvPr>
          <p:cNvCxnSpPr/>
          <p:nvPr/>
        </p:nvCxnSpPr>
        <p:spPr>
          <a:xfrm>
            <a:off x="7632311" y="612181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B5C01EB-6828-7F3A-1A10-A5C0A00C055E}"/>
              </a:ext>
            </a:extLst>
          </p:cNvPr>
          <p:cNvCxnSpPr/>
          <p:nvPr/>
        </p:nvCxnSpPr>
        <p:spPr>
          <a:xfrm>
            <a:off x="7632311" y="639034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13638F1-1164-6045-BDBF-A5B48FF93DC5}"/>
              </a:ext>
            </a:extLst>
          </p:cNvPr>
          <p:cNvCxnSpPr/>
          <p:nvPr/>
        </p:nvCxnSpPr>
        <p:spPr>
          <a:xfrm>
            <a:off x="7632311" y="6658879"/>
            <a:ext cx="435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6B26A14-275F-0CA8-5B49-845BAA15D99A}"/>
              </a:ext>
            </a:extLst>
          </p:cNvPr>
          <p:cNvSpPr txBox="1"/>
          <p:nvPr/>
        </p:nvSpPr>
        <p:spPr>
          <a:xfrm>
            <a:off x="8182535" y="5966364"/>
            <a:ext cx="833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Request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DAEA18-A186-E4CF-2212-2592AD2A90FA}"/>
              </a:ext>
            </a:extLst>
          </p:cNvPr>
          <p:cNvSpPr txBox="1"/>
          <p:nvPr/>
        </p:nvSpPr>
        <p:spPr>
          <a:xfrm>
            <a:off x="8182535" y="6237133"/>
            <a:ext cx="10817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Response  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068A64-1349-BA6B-605A-063B5758CFDB}"/>
              </a:ext>
            </a:extLst>
          </p:cNvPr>
          <p:cNvSpPr txBox="1"/>
          <p:nvPr/>
        </p:nvSpPr>
        <p:spPr>
          <a:xfrm>
            <a:off x="8182535" y="6507902"/>
            <a:ext cx="1992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Response (Immediate)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502E5B2-0978-0901-3714-0ABC775A6361}"/>
              </a:ext>
            </a:extLst>
          </p:cNvPr>
          <p:cNvCxnSpPr/>
          <p:nvPr/>
        </p:nvCxnSpPr>
        <p:spPr>
          <a:xfrm flipH="1">
            <a:off x="1862584" y="3150512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45570D5-DF18-DBB6-A5D2-B93EF80E562B}"/>
              </a:ext>
            </a:extLst>
          </p:cNvPr>
          <p:cNvCxnSpPr/>
          <p:nvPr/>
        </p:nvCxnSpPr>
        <p:spPr>
          <a:xfrm>
            <a:off x="1862584" y="3262537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F45FAE2-1968-0BC0-F640-DE825EA99994}"/>
              </a:ext>
            </a:extLst>
          </p:cNvPr>
          <p:cNvCxnSpPr/>
          <p:nvPr/>
        </p:nvCxnSpPr>
        <p:spPr>
          <a:xfrm flipH="1">
            <a:off x="1862584" y="4040730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2AB06AE-6584-6C41-B71D-3FEBA9607553}"/>
              </a:ext>
            </a:extLst>
          </p:cNvPr>
          <p:cNvCxnSpPr/>
          <p:nvPr/>
        </p:nvCxnSpPr>
        <p:spPr>
          <a:xfrm>
            <a:off x="1862584" y="4152755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ED811CF-B1F3-5866-0B73-84FB462A246B}"/>
              </a:ext>
            </a:extLst>
          </p:cNvPr>
          <p:cNvCxnSpPr/>
          <p:nvPr/>
        </p:nvCxnSpPr>
        <p:spPr>
          <a:xfrm flipH="1">
            <a:off x="1862584" y="6254257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8FD7EE36-9BFF-3113-B01F-C2F9836DB2BB}"/>
              </a:ext>
            </a:extLst>
          </p:cNvPr>
          <p:cNvCxnSpPr/>
          <p:nvPr/>
        </p:nvCxnSpPr>
        <p:spPr>
          <a:xfrm>
            <a:off x="1862584" y="6366282"/>
            <a:ext cx="3426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96C789C-A4E6-3F18-C18F-157689A045E4}"/>
              </a:ext>
            </a:extLst>
          </p:cNvPr>
          <p:cNvCxnSpPr>
            <a:cxnSpLocks/>
          </p:cNvCxnSpPr>
          <p:nvPr/>
        </p:nvCxnSpPr>
        <p:spPr>
          <a:xfrm>
            <a:off x="6622213" y="4549814"/>
            <a:ext cx="3713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73103EA-11C1-DA1E-4ADE-347DEDF19D6B}"/>
              </a:ext>
            </a:extLst>
          </p:cNvPr>
          <p:cNvCxnSpPr>
            <a:cxnSpLocks/>
          </p:cNvCxnSpPr>
          <p:nvPr/>
        </p:nvCxnSpPr>
        <p:spPr>
          <a:xfrm flipH="1">
            <a:off x="6628753" y="4636854"/>
            <a:ext cx="3700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CF1F56E-4F5D-55A2-C7A9-A4F35CC0144B}"/>
              </a:ext>
            </a:extLst>
          </p:cNvPr>
          <p:cNvCxnSpPr>
            <a:cxnSpLocks/>
          </p:cNvCxnSpPr>
          <p:nvPr/>
        </p:nvCxnSpPr>
        <p:spPr>
          <a:xfrm>
            <a:off x="6628753" y="4723894"/>
            <a:ext cx="3713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7621A2FB-9642-F002-A96D-66E5B34F75B3}"/>
              </a:ext>
            </a:extLst>
          </p:cNvPr>
          <p:cNvCxnSpPr>
            <a:cxnSpLocks/>
          </p:cNvCxnSpPr>
          <p:nvPr/>
        </p:nvCxnSpPr>
        <p:spPr>
          <a:xfrm flipH="1">
            <a:off x="6628753" y="4810935"/>
            <a:ext cx="3700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FBF9203-54D1-AE0E-0DCB-4B900172E16C}"/>
              </a:ext>
            </a:extLst>
          </p:cNvPr>
          <p:cNvSpPr txBox="1"/>
          <p:nvPr/>
        </p:nvSpPr>
        <p:spPr>
          <a:xfrm>
            <a:off x="1816570" y="6338986"/>
            <a:ext cx="1001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Shutdown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090A18AF-BDAB-A3BB-A59E-F40BFA74E607}"/>
              </a:ext>
            </a:extLst>
          </p:cNvPr>
          <p:cNvCxnSpPr>
            <a:cxnSpLocks/>
          </p:cNvCxnSpPr>
          <p:nvPr/>
        </p:nvCxnSpPr>
        <p:spPr>
          <a:xfrm flipV="1">
            <a:off x="4305670" y="5841507"/>
            <a:ext cx="6036815" cy="7949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A7C27C1-2EBC-CBDC-89D2-8F7B253FC98B}"/>
              </a:ext>
            </a:extLst>
          </p:cNvPr>
          <p:cNvCxnSpPr/>
          <p:nvPr/>
        </p:nvCxnSpPr>
        <p:spPr>
          <a:xfrm flipV="1">
            <a:off x="4305670" y="6366282"/>
            <a:ext cx="0" cy="270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D0B8CEE-CF38-8EC2-8501-B51E7DE3F488}"/>
              </a:ext>
            </a:extLst>
          </p:cNvPr>
          <p:cNvSpPr txBox="1"/>
          <p:nvPr/>
        </p:nvSpPr>
        <p:spPr>
          <a:xfrm>
            <a:off x="10384518" y="5800929"/>
            <a:ext cx="1001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Shutdown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63298B7-ED4C-82F9-71FD-8EE9677D082E}"/>
              </a:ext>
            </a:extLst>
          </p:cNvPr>
          <p:cNvSpPr txBox="1"/>
          <p:nvPr/>
        </p:nvSpPr>
        <p:spPr>
          <a:xfrm>
            <a:off x="2314180" y="2351648"/>
            <a:ext cx="2690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Info (Ip, Port, input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dirs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466EC0-FED0-5603-F8D4-75C1CB60D9E0}"/>
              </a:ext>
            </a:extLst>
          </p:cNvPr>
          <p:cNvSpPr txBox="1"/>
          <p:nvPr/>
        </p:nvSpPr>
        <p:spPr>
          <a:xfrm>
            <a:off x="2114878" y="2693048"/>
            <a:ext cx="2969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Worker Info (Worker Id, Ip, Port)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5AA80E-DCE3-3F96-E54F-10CFA26C6CA2}"/>
              </a:ext>
            </a:extLst>
          </p:cNvPr>
          <p:cNvSpPr txBox="1"/>
          <p:nvPr/>
        </p:nvSpPr>
        <p:spPr>
          <a:xfrm>
            <a:off x="2563673" y="2897845"/>
            <a:ext cx="2236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Id, Sampled Data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5D8BE0F-DB85-4FC3-B92A-1C88E1EA515F}"/>
              </a:ext>
            </a:extLst>
          </p:cNvPr>
          <p:cNvSpPr txBox="1"/>
          <p:nvPr/>
        </p:nvSpPr>
        <p:spPr>
          <a:xfrm>
            <a:off x="3241920" y="3213441"/>
            <a:ext cx="667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Pivots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603945-6F0F-383E-D28D-4B43F02963D0}"/>
              </a:ext>
            </a:extLst>
          </p:cNvPr>
          <p:cNvSpPr txBox="1"/>
          <p:nvPr/>
        </p:nvSpPr>
        <p:spPr>
          <a:xfrm>
            <a:off x="2609923" y="3761328"/>
            <a:ext cx="2034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Id,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B6A2D83-0297-025F-32CB-1B2BF65315CA}"/>
              </a:ext>
            </a:extLst>
          </p:cNvPr>
          <p:cNvSpPr txBox="1"/>
          <p:nvPr/>
        </p:nvSpPr>
        <p:spPr>
          <a:xfrm>
            <a:off x="2875055" y="4115291"/>
            <a:ext cx="1401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EE588BAA-D9C9-29A0-B295-618ABFE953FF}"/>
              </a:ext>
            </a:extLst>
          </p:cNvPr>
          <p:cNvSpPr/>
          <p:nvPr/>
        </p:nvSpPr>
        <p:spPr>
          <a:xfrm>
            <a:off x="5562142" y="4549814"/>
            <a:ext cx="1066611" cy="30776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latin typeface="Segoe UI" panose="020B0502040204020203" pitchFamily="34" charset="0"/>
                <a:cs typeface="Segoe UI" panose="020B0502040204020203" pitchFamily="34" charset="0"/>
              </a:rPr>
              <a:t>Shuffle</a:t>
            </a:r>
          </a:p>
          <a:p>
            <a:pPr algn="ctr"/>
            <a:r>
              <a:rPr lang="en-US" altLang="ko-KR" sz="900" dirty="0">
                <a:latin typeface="Segoe UI" panose="020B0502040204020203" pitchFamily="34" charset="0"/>
                <a:cs typeface="Segoe UI" panose="020B0502040204020203" pitchFamily="34" charset="0"/>
              </a:rPr>
              <a:t>Remaining files</a:t>
            </a:r>
            <a:endParaRPr lang="ko-KR" alt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52ECAC3-BC24-66C0-3E7C-937B5189A2E4}"/>
              </a:ext>
            </a:extLst>
          </p:cNvPr>
          <p:cNvSpPr/>
          <p:nvPr/>
        </p:nvSpPr>
        <p:spPr>
          <a:xfrm>
            <a:off x="5562142" y="5077103"/>
            <a:ext cx="1066611" cy="30776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Request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51F76D9-1C61-28F0-F7E2-C78BDF9958EF}"/>
              </a:ext>
            </a:extLst>
          </p:cNvPr>
          <p:cNvCxnSpPr>
            <a:cxnSpLocks/>
          </p:cNvCxnSpPr>
          <p:nvPr/>
        </p:nvCxnSpPr>
        <p:spPr>
          <a:xfrm flipH="1">
            <a:off x="1846555" y="5146440"/>
            <a:ext cx="3715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826C7225-22FF-F2D2-26DB-1F074207EC94}"/>
              </a:ext>
            </a:extLst>
          </p:cNvPr>
          <p:cNvCxnSpPr>
            <a:cxnSpLocks/>
          </p:cNvCxnSpPr>
          <p:nvPr/>
        </p:nvCxnSpPr>
        <p:spPr>
          <a:xfrm>
            <a:off x="1846555" y="5258465"/>
            <a:ext cx="3715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68097DC8-8AA0-CF18-40BF-35051F1E1CA2}"/>
              </a:ext>
            </a:extLst>
          </p:cNvPr>
          <p:cNvCxnSpPr>
            <a:stCxn id="14" idx="0"/>
            <a:endCxn id="55" idx="0"/>
          </p:cNvCxnSpPr>
          <p:nvPr/>
        </p:nvCxnSpPr>
        <p:spPr>
          <a:xfrm flipH="1">
            <a:off x="6095448" y="4396396"/>
            <a:ext cx="549" cy="153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9937412-E4E1-E4C7-9149-C536BCA43C5F}"/>
              </a:ext>
            </a:extLst>
          </p:cNvPr>
          <p:cNvCxnSpPr>
            <a:stCxn id="55" idx="2"/>
            <a:endCxn id="61" idx="0"/>
          </p:cNvCxnSpPr>
          <p:nvPr/>
        </p:nvCxnSpPr>
        <p:spPr>
          <a:xfrm>
            <a:off x="6095448" y="4857579"/>
            <a:ext cx="0" cy="219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7AB32482-BCEB-DE11-2689-8E5DF87B4DC8}"/>
              </a:ext>
            </a:extLst>
          </p:cNvPr>
          <p:cNvCxnSpPr>
            <a:cxnSpLocks/>
            <a:stCxn id="61" idx="2"/>
          </p:cNvCxnSpPr>
          <p:nvPr/>
        </p:nvCxnSpPr>
        <p:spPr>
          <a:xfrm rot="5400000" flipH="1">
            <a:off x="5297620" y="4587040"/>
            <a:ext cx="951098" cy="644559"/>
          </a:xfrm>
          <a:prstGeom prst="bentConnector3">
            <a:avLst>
              <a:gd name="adj1" fmla="val -400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328A9772-236F-11EA-CDE7-C16D03F45117}"/>
              </a:ext>
            </a:extLst>
          </p:cNvPr>
          <p:cNvCxnSpPr/>
          <p:nvPr/>
        </p:nvCxnSpPr>
        <p:spPr>
          <a:xfrm>
            <a:off x="5450889" y="4433770"/>
            <a:ext cx="6445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B8229469-F02C-4601-AB7C-7462719FDCB9}"/>
              </a:ext>
            </a:extLst>
          </p:cNvPr>
          <p:cNvCxnSpPr>
            <a:cxnSpLocks/>
          </p:cNvCxnSpPr>
          <p:nvPr/>
        </p:nvCxnSpPr>
        <p:spPr>
          <a:xfrm>
            <a:off x="6095447" y="4906058"/>
            <a:ext cx="616071" cy="589664"/>
          </a:xfrm>
          <a:prstGeom prst="bentConnector3">
            <a:avLst>
              <a:gd name="adj1" fmla="val 998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0878361C-E798-46FE-EDCE-CE730C22146E}"/>
              </a:ext>
            </a:extLst>
          </p:cNvPr>
          <p:cNvSpPr txBox="1"/>
          <p:nvPr/>
        </p:nvSpPr>
        <p:spPr>
          <a:xfrm>
            <a:off x="6641052" y="4979789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Segoe UI" panose="020B0502040204020203" pitchFamily="34" charset="0"/>
                <a:cs typeface="Segoe UI" panose="020B0502040204020203" pitchFamily="34" charset="0"/>
              </a:rPr>
              <a:t>Success</a:t>
            </a:r>
            <a:endParaRPr lang="ko-KR" alt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495A67-B4E7-7D47-FB5B-F92FA190CB10}"/>
              </a:ext>
            </a:extLst>
          </p:cNvPr>
          <p:cNvSpPr txBox="1"/>
          <p:nvPr/>
        </p:nvSpPr>
        <p:spPr>
          <a:xfrm>
            <a:off x="5808536" y="4879268"/>
            <a:ext cx="340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Segoe UI" panose="020B0502040204020203" pitchFamily="34" charset="0"/>
                <a:cs typeface="Segoe UI" panose="020B0502040204020203" pitchFamily="34" charset="0"/>
              </a:rPr>
              <a:t>Fail</a:t>
            </a:r>
            <a:endParaRPr lang="ko-KR" alt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24EE839-BDAA-E38E-06A0-2CF596B38A5E}"/>
              </a:ext>
            </a:extLst>
          </p:cNvPr>
          <p:cNvSpPr txBox="1"/>
          <p:nvPr/>
        </p:nvSpPr>
        <p:spPr>
          <a:xfrm>
            <a:off x="2167602" y="5230979"/>
            <a:ext cx="2969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All Worker Info (Worker Id, Ip, Port)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D6FBA04-E3E2-1411-6A03-CB70304087DF}"/>
              </a:ext>
            </a:extLst>
          </p:cNvPr>
          <p:cNvSpPr txBox="1"/>
          <p:nvPr/>
        </p:nvSpPr>
        <p:spPr>
          <a:xfrm>
            <a:off x="9015776" y="6221860"/>
            <a:ext cx="2717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Segoe UI" panose="020B0502040204020203" pitchFamily="34" charset="0"/>
                <a:cs typeface="Segoe UI" panose="020B0502040204020203" pitchFamily="34" charset="0"/>
              </a:rPr>
              <a:t>Initial Response: Master waits for all requests</a:t>
            </a:r>
          </a:p>
          <a:p>
            <a:r>
              <a:rPr lang="en-US" altLang="ko-KR" sz="1000" dirty="0">
                <a:latin typeface="Segoe UI" panose="020B0502040204020203" pitchFamily="34" charset="0"/>
                <a:cs typeface="Segoe UI" panose="020B0502040204020203" pitchFamily="34" charset="0"/>
              </a:rPr>
              <a:t>Subsequent Responses: Immediately</a:t>
            </a:r>
            <a:endParaRPr lang="ko-KR" alt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5ACF5FE-95D8-562F-6961-3ACAA9C1E9B0}"/>
              </a:ext>
            </a:extLst>
          </p:cNvPr>
          <p:cNvSpPr txBox="1"/>
          <p:nvPr/>
        </p:nvSpPr>
        <p:spPr>
          <a:xfrm>
            <a:off x="56661" y="2446976"/>
            <a:ext cx="1746685" cy="57708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Register all workers.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register again,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then reset its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8457E6A-5B5F-6BCF-F95F-CCDEED9D483D}"/>
              </a:ext>
            </a:extLst>
          </p:cNvPr>
          <p:cNvSpPr txBox="1"/>
          <p:nvPr/>
        </p:nvSpPr>
        <p:spPr>
          <a:xfrm>
            <a:off x="56661" y="3046060"/>
            <a:ext cx="1746686" cy="93871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Segoe UI" panose="020B0502040204020203" pitchFamily="34" charset="0"/>
                <a:cs typeface="Segoe UI" panose="020B0502040204020203" pitchFamily="34" charset="0"/>
              </a:rPr>
              <a:t>Collect sample data and select pivots.</a:t>
            </a:r>
          </a:p>
          <a:p>
            <a:r>
              <a:rPr lang="en-US" altLang="ko-KR" sz="1100" dirty="0">
                <a:latin typeface="Segoe UI" panose="020B0502040204020203" pitchFamily="34" charset="0"/>
                <a:cs typeface="Segoe UI" panose="020B0502040204020203" pitchFamily="34" charset="0"/>
              </a:rPr>
              <a:t>If a worker requests again, then just send pre-calculated pivots.</a:t>
            </a:r>
            <a:endParaRPr lang="ko-KR" alt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4058830-683A-097B-CFDF-E8BB8A1B5546}"/>
              </a:ext>
            </a:extLst>
          </p:cNvPr>
          <p:cNvSpPr txBox="1"/>
          <p:nvPr/>
        </p:nvSpPr>
        <p:spPr>
          <a:xfrm>
            <a:off x="56659" y="3999867"/>
            <a:ext cx="1746687" cy="73866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Collect all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request again, then just send all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 without adding its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FileIds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2825791-3EC6-FEDD-7599-BD7CF26147DF}"/>
              </a:ext>
            </a:extLst>
          </p:cNvPr>
          <p:cNvSpPr txBox="1"/>
          <p:nvPr/>
        </p:nvSpPr>
        <p:spPr>
          <a:xfrm>
            <a:off x="56659" y="4991117"/>
            <a:ext cx="1746687" cy="41549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Send current all worker info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F38D0FA-FB48-1CF1-9DE5-8DAF3644DFD4}"/>
              </a:ext>
            </a:extLst>
          </p:cNvPr>
          <p:cNvSpPr txBox="1"/>
          <p:nvPr/>
        </p:nvSpPr>
        <p:spPr>
          <a:xfrm>
            <a:off x="56659" y="5919635"/>
            <a:ext cx="1746687" cy="57708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If a worker disconnects after reporting completion, its report is cancelled.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C87F6D0-92A2-3498-A368-67385093FF35}"/>
              </a:ext>
            </a:extLst>
          </p:cNvPr>
          <p:cNvSpPr txBox="1"/>
          <p:nvPr/>
        </p:nvSpPr>
        <p:spPr>
          <a:xfrm>
            <a:off x="10384518" y="4408780"/>
            <a:ext cx="1746687" cy="577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Stream file data corresponding to the received </a:t>
            </a:r>
            <a:r>
              <a:rPr lang="en-US" altLang="ko-KR" sz="1050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7172B1C-9B5A-4598-DC6C-C73C2AD93087}"/>
              </a:ext>
            </a:extLst>
          </p:cNvPr>
          <p:cNvSpPr txBox="1"/>
          <p:nvPr/>
        </p:nvSpPr>
        <p:spPr>
          <a:xfrm>
            <a:off x="7947659" y="4257112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FileId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ko-K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i,j,k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4D19D7B-F2E9-AE5E-49D8-9B2901ED25B8}"/>
              </a:ext>
            </a:extLst>
          </p:cNvPr>
          <p:cNvSpPr txBox="1"/>
          <p:nvPr/>
        </p:nvSpPr>
        <p:spPr>
          <a:xfrm>
            <a:off x="8182535" y="4761903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data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A29181AD-7107-648C-9501-B2F1C76D3517}"/>
              </a:ext>
            </a:extLst>
          </p:cNvPr>
          <p:cNvSpPr/>
          <p:nvPr/>
        </p:nvSpPr>
        <p:spPr>
          <a:xfrm>
            <a:off x="3045833" y="1724665"/>
            <a:ext cx="1746566" cy="56760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Worker Info Array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Segoe UI" panose="020B0502040204020203" pitchFamily="34" charset="0"/>
                <a:cs typeface="Segoe UI" panose="020B0502040204020203" pitchFamily="34" charset="0"/>
              </a:rPr>
              <a:t>Request Status Tracker per RPC Method   </a:t>
            </a:r>
            <a:endParaRPr lang="ko-KR" alt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E0637B6-E4AE-4EC9-5045-CF96F2F09744}"/>
              </a:ext>
            </a:extLst>
          </p:cNvPr>
          <p:cNvSpPr txBox="1"/>
          <p:nvPr/>
        </p:nvSpPr>
        <p:spPr>
          <a:xfrm>
            <a:off x="3304822" y="1467449"/>
            <a:ext cx="1209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Master State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8014DC-45A7-4E09-1F29-9EC2D09208AF}"/>
              </a:ext>
            </a:extLst>
          </p:cNvPr>
          <p:cNvSpPr txBox="1"/>
          <p:nvPr/>
        </p:nvSpPr>
        <p:spPr>
          <a:xfrm>
            <a:off x="3144825" y="5976473"/>
            <a:ext cx="988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Worker Id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2C6B3FF-27D6-ADCC-F695-D5F2BD7FB1E2}"/>
              </a:ext>
            </a:extLst>
          </p:cNvPr>
          <p:cNvSpPr/>
          <p:nvPr/>
        </p:nvSpPr>
        <p:spPr>
          <a:xfrm>
            <a:off x="5288318" y="349253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Sort &amp; Partition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1CF4ADE-43BE-9D93-0CF2-1899C98CA5A8}"/>
              </a:ext>
            </a:extLst>
          </p:cNvPr>
          <p:cNvCxnSpPr>
            <a:stCxn id="12" idx="2"/>
            <a:endCxn id="3" idx="0"/>
          </p:cNvCxnSpPr>
          <p:nvPr/>
        </p:nvCxnSpPr>
        <p:spPr>
          <a:xfrm flipH="1">
            <a:off x="6095447" y="3358627"/>
            <a:ext cx="552" cy="133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2BA2695-9BDF-971B-D9C8-9E92CF4416FB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6095447" y="3822537"/>
            <a:ext cx="0" cy="118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FFF38B4-4A7E-1330-8520-8F0BB7B14C9A}"/>
              </a:ext>
            </a:extLst>
          </p:cNvPr>
          <p:cNvSpPr txBox="1"/>
          <p:nvPr/>
        </p:nvSpPr>
        <p:spPr>
          <a:xfrm>
            <a:off x="5490729" y="1026576"/>
            <a:ext cx="2237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Design for Fault Tolerance</a:t>
            </a:r>
            <a:endParaRPr lang="ko-KR" altLang="en-US" sz="14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십자형 45">
            <a:extLst>
              <a:ext uri="{FF2B5EF4-FFF2-40B4-BE49-F238E27FC236}">
                <a16:creationId xmlns:a16="http://schemas.microsoft.com/office/drawing/2014/main" id="{070895C9-429C-EC6E-A2D4-E2D811AEFF0E}"/>
              </a:ext>
            </a:extLst>
          </p:cNvPr>
          <p:cNvSpPr/>
          <p:nvPr/>
        </p:nvSpPr>
        <p:spPr>
          <a:xfrm rot="2700000">
            <a:off x="9536660" y="1246067"/>
            <a:ext cx="1585490" cy="1585490"/>
          </a:xfrm>
          <a:prstGeom prst="plus">
            <a:avLst>
              <a:gd name="adj" fmla="val 4403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3C36141-E2AF-F7EF-900E-A1D053EA1017}"/>
              </a:ext>
            </a:extLst>
          </p:cNvPr>
          <p:cNvCxnSpPr>
            <a:cxnSpLocks/>
          </p:cNvCxnSpPr>
          <p:nvPr/>
        </p:nvCxnSpPr>
        <p:spPr>
          <a:xfrm>
            <a:off x="6631091" y="4560299"/>
            <a:ext cx="3713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88D3047-C627-56C8-6734-CB6FDEA8F55D}"/>
              </a:ext>
            </a:extLst>
          </p:cNvPr>
          <p:cNvCxnSpPr>
            <a:cxnSpLocks/>
          </p:cNvCxnSpPr>
          <p:nvPr/>
        </p:nvCxnSpPr>
        <p:spPr>
          <a:xfrm flipH="1">
            <a:off x="6639431" y="4810935"/>
            <a:ext cx="37006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십자형 22">
            <a:extLst>
              <a:ext uri="{FF2B5EF4-FFF2-40B4-BE49-F238E27FC236}">
                <a16:creationId xmlns:a16="http://schemas.microsoft.com/office/drawing/2014/main" id="{3B8B256F-AB46-4B34-DA58-730C4BC71670}"/>
              </a:ext>
            </a:extLst>
          </p:cNvPr>
          <p:cNvSpPr/>
          <p:nvPr/>
        </p:nvSpPr>
        <p:spPr>
          <a:xfrm rot="2700000">
            <a:off x="8359534" y="4721384"/>
            <a:ext cx="186532" cy="186532"/>
          </a:xfrm>
          <a:prstGeom prst="plus">
            <a:avLst>
              <a:gd name="adj" fmla="val 4403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8605B4-0768-3BA1-B38B-522B32C35829}"/>
              </a:ext>
            </a:extLst>
          </p:cNvPr>
          <p:cNvCxnSpPr>
            <a:cxnSpLocks/>
          </p:cNvCxnSpPr>
          <p:nvPr/>
        </p:nvCxnSpPr>
        <p:spPr>
          <a:xfrm flipH="1">
            <a:off x="1846554" y="5146440"/>
            <a:ext cx="37155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73DD8D8-A581-59E2-196D-0637807F2B2B}"/>
              </a:ext>
            </a:extLst>
          </p:cNvPr>
          <p:cNvCxnSpPr>
            <a:cxnSpLocks/>
          </p:cNvCxnSpPr>
          <p:nvPr/>
        </p:nvCxnSpPr>
        <p:spPr>
          <a:xfrm>
            <a:off x="1862584" y="5258465"/>
            <a:ext cx="37155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47861A7-9D53-B3F8-6B99-7511E6258002}"/>
              </a:ext>
            </a:extLst>
          </p:cNvPr>
          <p:cNvSpPr txBox="1"/>
          <p:nvPr/>
        </p:nvSpPr>
        <p:spPr>
          <a:xfrm>
            <a:off x="2151950" y="5508370"/>
            <a:ext cx="2991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… Worker Info (3, 2.2.2.103, </a:t>
            </a:r>
            <a:r>
              <a:rPr lang="en-US" altLang="ko-KR" sz="1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1111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 …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4F0D785-C14A-422A-36C9-151BFAC071E3}"/>
              </a:ext>
            </a:extLst>
          </p:cNvPr>
          <p:cNvCxnSpPr>
            <a:cxnSpLocks/>
          </p:cNvCxnSpPr>
          <p:nvPr/>
        </p:nvCxnSpPr>
        <p:spPr>
          <a:xfrm flipH="1">
            <a:off x="1846555" y="2634328"/>
            <a:ext cx="84959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E96AE59-E096-F8E0-D401-BB5F551EDFFA}"/>
              </a:ext>
            </a:extLst>
          </p:cNvPr>
          <p:cNvSpPr txBox="1"/>
          <p:nvPr/>
        </p:nvSpPr>
        <p:spPr>
          <a:xfrm>
            <a:off x="7399602" y="2300643"/>
            <a:ext cx="20204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Ip: 2.2.2.103, port: 1234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622027A-FBBC-66CF-468E-8F37B8F76471}"/>
              </a:ext>
            </a:extLst>
          </p:cNvPr>
          <p:cNvSpPr txBox="1"/>
          <p:nvPr/>
        </p:nvSpPr>
        <p:spPr>
          <a:xfrm>
            <a:off x="2156508" y="5509118"/>
            <a:ext cx="299165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… Worker Info (3, 2.2.2.103, </a:t>
            </a:r>
            <a:r>
              <a:rPr lang="en-US" altLang="ko-KR" sz="14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</a:t>
            </a:r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) …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BF7DA05F-3D8E-A711-220C-136B445E948E}"/>
              </a:ext>
            </a:extLst>
          </p:cNvPr>
          <p:cNvSpPr/>
          <p:nvPr/>
        </p:nvSpPr>
        <p:spPr>
          <a:xfrm>
            <a:off x="9535356" y="3492536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Segoe UI" panose="020B0502040204020203" pitchFamily="34" charset="0"/>
                <a:cs typeface="Segoe UI" panose="020B0502040204020203" pitchFamily="34" charset="0"/>
              </a:rPr>
              <a:t>Sort &amp; Partition</a:t>
            </a:r>
            <a:endParaRPr lang="ko-KR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784A807-C190-C54A-8CEB-06D84E2D9172}"/>
              </a:ext>
            </a:extLst>
          </p:cNvPr>
          <p:cNvSpPr/>
          <p:nvPr/>
        </p:nvSpPr>
        <p:spPr>
          <a:xfrm>
            <a:off x="9522276" y="2499971"/>
            <a:ext cx="1614257" cy="3300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egoe UI" panose="020B0502040204020203" pitchFamily="34" charset="0"/>
                <a:cs typeface="Segoe UI" panose="020B0502040204020203" pitchFamily="34" charset="0"/>
              </a:rPr>
              <a:t>Registration</a:t>
            </a:r>
            <a:endParaRPr lang="ko-K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68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1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" dur="1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2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" dur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8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1" dur="1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4" dur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2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7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3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3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6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9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12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8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1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4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6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3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6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2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99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02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05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08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3" presetClass="emph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3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" presetClass="emph" presetSubtype="2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29" dur="1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32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1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4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7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8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67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70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73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76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1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3" dur="1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5" dur="1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  <p:bldP spid="111" grpId="1"/>
      <p:bldP spid="111" grpId="2"/>
      <p:bldP spid="111" grpId="3"/>
      <p:bldP spid="111" grpId="4"/>
      <p:bldP spid="111" grpId="5"/>
      <p:bldP spid="25" grpId="0"/>
      <p:bldP spid="46" grpId="0" animBg="1"/>
      <p:bldP spid="46" grpId="1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80" grpId="0"/>
      <p:bldP spid="80" grpId="1"/>
      <p:bldP spid="91" grpId="2"/>
      <p:bldP spid="91" grpId="3"/>
      <p:bldP spid="92" grpId="0" animBg="1"/>
      <p:bldP spid="92" grpId="1" animBg="1"/>
      <p:bldP spid="92" grpId="2" animBg="1"/>
      <p:bldP spid="92" grpId="3" animBg="1"/>
      <p:bldP spid="93" grpId="0" animBg="1"/>
      <p:bldP spid="93" grpId="1" animBg="1"/>
      <p:bldP spid="94" grpId="0" animBg="1"/>
      <p:bldP spid="94" grpId="1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1263</Words>
  <Application>Microsoft Office PowerPoint</Application>
  <PresentationFormat>와이드스크린</PresentationFormat>
  <Paragraphs>282</Paragraphs>
  <Slides>13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Segoe UI</vt:lpstr>
      <vt:lpstr>Office 테마</vt:lpstr>
      <vt:lpstr>Project presentation</vt:lpstr>
      <vt:lpstr>Command lines  for running</vt:lpstr>
      <vt:lpstr>Experimental results</vt:lpstr>
      <vt:lpstr>FileId – how worker knows own needed File</vt:lpstr>
      <vt:lpstr>Final architecture</vt:lpstr>
      <vt:lpstr>Final architecture</vt:lpstr>
      <vt:lpstr>Leverage multi-core</vt:lpstr>
      <vt:lpstr>Overall progress</vt:lpstr>
      <vt:lpstr>Why our project was successful</vt:lpstr>
      <vt:lpstr>How we communicated</vt:lpstr>
      <vt:lpstr>Thank you for listening</vt:lpstr>
      <vt:lpstr>BackupSlide</vt:lpstr>
      <vt:lpstr>Final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홍채민(컴퓨터공학과)</dc:creator>
  <cp:lastModifiedBy>채민 홍</cp:lastModifiedBy>
  <cp:revision>166</cp:revision>
  <dcterms:created xsi:type="dcterms:W3CDTF">2025-11-12T05:14:08Z</dcterms:created>
  <dcterms:modified xsi:type="dcterms:W3CDTF">2025-12-09T00:41:37Z</dcterms:modified>
</cp:coreProperties>
</file>